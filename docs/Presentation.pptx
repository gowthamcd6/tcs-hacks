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posed Solution" id="{03b84386-8078-fc95-1348-82d73b8be6ce}">
          <p14:sldIdLst>
            <p14:sldId id="256"/>
          </p14:sldIdLst>
        </p14:section>
        <p14:section name="Technical Approach" id="{ca71e6e1-9d65-6f67-08e5-d7fb1c25149b}">
          <p14:sldIdLst>
            <p14:sldId id="257"/>
          </p14:sldIdLst>
        </p14:section>
        <p14:section name="Feasibility and Viability" id="{b405e42b-9336-973c-20e6-665521357f01}">
          <p14:sldIdLst>
            <p14:sldId id="258"/>
          </p14:sldIdLst>
        </p14:section>
        <p14:section name="Impact and Benefits" id="{790b8034-eafb-e8c4-e9f6-258aea021404}">
          <p14:sldIdLst>
            <p14:sldId id="259"/>
          </p14:sldIdLst>
        </p14:section>
        <p14:section name="Research and References" id="{c2dac970-bbee-7c3e-c9fd-d1a260b4290c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B1F3A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0B1F3A"/>
                </a:solidFill>
                <a:latin typeface="+mn-lt"/>
              </a:rPr>
              <a:t>Candidate cause nodes (demo case)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Candidate causes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10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Before tests</c:v>
                  </c:pt>
                  <c:pt idx="1">
                    <c:v>After tests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</c:v>
                </c:pt>
                <c:pt idx="1">
                  <c:v>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0B10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B102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one graph, two engines. Every cause is a path of evidence, never a guess. The LLM only explains. Data in the demo is sample data. Sarvam and Twilio are planned or in progress - confirm status before presenting. Fill PS ID, team name and team ID in the footer.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 traversal and rule-based tests decide the cause; the LLM only parses text and explains. Sarvam (speech, translate, TTS) is a planned language layer. Confirm Twilio status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honest: demo data is sample data and Sarvam is planned. Numbers on this slide describe the demo case (2 engines, 3 suspects rejected, 1 proven path), not measured business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Benefits are expected outcomes pending a real-data 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real repo and deployment links. Verify reference titles and years before submitting. Chart shows the demo case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iz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182880"/>
            <a:ext cx="1005840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7395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TCS Technology Day 2026  |  CauseGraph  |  PS ID: [add ID]  |  Theme: Smart Automation (AI for Business)  |  Category: Software  |  Team: [add team name], ID [add team ID]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01   PROPOSED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AI Root-Cause Engine for Payment &amp; Product Failures</a:t>
            </a:r>
            <a:endParaRPr lang="en-US" sz="2800" dirty="0"/>
          </a:p>
        </p:txBody>
      </p:sp>
      <p:sp>
        <p:nvSpPr>
          <p:cNvPr id="4" name="Solution card"/>
          <p:cNvSpPr/>
          <p:nvPr/>
        </p:nvSpPr>
        <p:spPr>
          <a:xfrm>
            <a:off x="457200" y="1325880"/>
            <a:ext cx="4160520" cy="4846320"/>
          </a:xfrm>
          <a:prstGeom prst="roundRect">
            <a:avLst>
              <a:gd name="adj" fmla="val 1758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813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WHY CAUSEGRAPH</a:t>
            </a:r>
            <a:endParaRPr lang="en-US" sz="1200" dirty="0"/>
          </a:p>
        </p:txBody>
      </p:sp>
      <p:sp>
        <p:nvSpPr>
          <p:cNvPr id="6" name="Solution points"/>
          <p:cNvSpPr txBox="1"/>
          <p:nvPr/>
        </p:nvSpPr>
        <p:spPr>
          <a:xfrm>
            <a:off x="731520" y="1828800"/>
            <a:ext cx="36118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Problem: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failures hide in reviews, tickets, returns and payment logs.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Platform: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AI web app that finds why payments and products fail.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System: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Payment Engine + Product Engine on one knowledge graph, with rule-based guardrails.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Evidence-based: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every cause is a graph path from review to order to batch to supplier.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Rejects suspects: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5 tests grey out firmware, festival sale and courier causes.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Output: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root cause with an honest confidence level, the broken payment step, and a hold or refund action.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Language (planned):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Tamil / Hindi / English via Sarvam AI; Twilio alerts. The LLM only explains.</a:t>
            </a:r>
            <a:endParaRPr lang="en-US" sz="1400" dirty="0"/>
          </a:p>
        </p:txBody>
      </p:sp>
      <p:sp>
        <p:nvSpPr>
          <p:cNvPr id="7" name="Flow panel"/>
          <p:cNvSpPr/>
          <p:nvPr/>
        </p:nvSpPr>
        <p:spPr>
          <a:xfrm>
            <a:off x="4846320" y="1325880"/>
            <a:ext cx="6885432" cy="2606040"/>
          </a:xfrm>
          <a:prstGeom prst="roundRect">
            <a:avLst>
              <a:gd name="adj" fmla="val 2807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Label"/>
          <p:cNvSpPr txBox="1"/>
          <p:nvPr/>
        </p:nvSpPr>
        <p:spPr>
          <a:xfrm>
            <a:off x="5029200" y="14447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HOW IT WORKS</a:t>
            </a:r>
            <a:endParaRPr lang="en-US" sz="1100" dirty="0"/>
          </a:p>
        </p:txBody>
      </p:sp>
      <p:sp>
        <p:nvSpPr>
          <p:cNvPr id="9" name="Input"/>
          <p:cNvSpPr/>
          <p:nvPr/>
        </p:nvSpPr>
        <p:spPr>
          <a:xfrm>
            <a:off x="5029200" y="1783080"/>
            <a:ext cx="201168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5102352" y="1874520"/>
            <a:ext cx="402336" cy="402336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11" name="Image 0" descr="CommentDot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8913" y="1971081"/>
            <a:ext cx="209215" cy="20921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577840" y="1783080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Reviews, tickets, returns</a:t>
            </a:r>
            <a:endParaRPr lang="en-US" sz="1100" dirty="0"/>
          </a:p>
        </p:txBody>
      </p:sp>
      <p:sp>
        <p:nvSpPr>
          <p:cNvPr id="13" name="Input"/>
          <p:cNvSpPr/>
          <p:nvPr/>
        </p:nvSpPr>
        <p:spPr>
          <a:xfrm>
            <a:off x="5029200" y="2459736"/>
            <a:ext cx="201168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4" name="Icon circle"/>
          <p:cNvSpPr/>
          <p:nvPr/>
        </p:nvSpPr>
        <p:spPr>
          <a:xfrm>
            <a:off x="5102352" y="2551176"/>
            <a:ext cx="402336" cy="402336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15" name="Image 1" descr="Boxe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8913" y="2647737"/>
            <a:ext cx="209215" cy="20921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577840" y="2459736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Orders, batches, suppliers</a:t>
            </a:r>
            <a:endParaRPr lang="en-US" sz="1100" dirty="0"/>
          </a:p>
        </p:txBody>
      </p:sp>
      <p:sp>
        <p:nvSpPr>
          <p:cNvPr id="17" name="Input"/>
          <p:cNvSpPr/>
          <p:nvPr/>
        </p:nvSpPr>
        <p:spPr>
          <a:xfrm>
            <a:off x="5029200" y="3136392"/>
            <a:ext cx="201168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8" name="Icon circle"/>
          <p:cNvSpPr/>
          <p:nvPr/>
        </p:nvSpPr>
        <p:spPr>
          <a:xfrm>
            <a:off x="5102352" y="3227832"/>
            <a:ext cx="402336" cy="402336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19" name="Image 2" descr="CreditCard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8913" y="3324393"/>
            <a:ext cx="209215" cy="20921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577840" y="3136392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Payment events &amp; callbacks</a:t>
            </a:r>
            <a:endParaRPr lang="en-US" sz="1100" dirty="0"/>
          </a:p>
        </p:txBody>
      </p:sp>
      <p:sp>
        <p:nvSpPr>
          <p:cNvPr id="21" name="Arrow"/>
          <p:cNvSpPr/>
          <p:nvPr/>
        </p:nvSpPr>
        <p:spPr>
          <a:xfrm>
            <a:off x="7114032" y="2743200"/>
            <a:ext cx="237744" cy="201168"/>
          </a:xfrm>
          <a:prstGeom prst="rightArrow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22" name="AI engine"/>
          <p:cNvSpPr/>
          <p:nvPr/>
        </p:nvSpPr>
        <p:spPr>
          <a:xfrm>
            <a:off x="7406640" y="1783080"/>
            <a:ext cx="1828800" cy="1920240"/>
          </a:xfrm>
          <a:prstGeom prst="roundRect">
            <a:avLst>
              <a:gd name="adj" fmla="val 4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7406640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AI ENGINE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7543800" y="2176272"/>
            <a:ext cx="1554480" cy="41148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7543800" y="217627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Graph builder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7543800" y="2679192"/>
            <a:ext cx="1554480" cy="41148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7543800" y="267919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5 suspect tests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7543800" y="3182112"/>
            <a:ext cx="1554480" cy="41148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7543800" y="318211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Payment checker</a:t>
            </a:r>
            <a:endParaRPr lang="en-US" sz="1100" dirty="0"/>
          </a:p>
        </p:txBody>
      </p:sp>
      <p:sp>
        <p:nvSpPr>
          <p:cNvPr id="30" name="Arrow"/>
          <p:cNvSpPr/>
          <p:nvPr/>
        </p:nvSpPr>
        <p:spPr>
          <a:xfrm>
            <a:off x="9308592" y="2743200"/>
            <a:ext cx="237744" cy="201168"/>
          </a:xfrm>
          <a:prstGeom prst="rightArrow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31" name="Output"/>
          <p:cNvSpPr/>
          <p:nvPr/>
        </p:nvSpPr>
        <p:spPr>
          <a:xfrm>
            <a:off x="9601200" y="1783080"/>
            <a:ext cx="201168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32" name="Icon circle"/>
          <p:cNvSpPr/>
          <p:nvPr/>
        </p:nvSpPr>
        <p:spPr>
          <a:xfrm>
            <a:off x="9674352" y="1874520"/>
            <a:ext cx="402336" cy="402336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pic>
        <p:nvPicPr>
          <p:cNvPr id="33" name="Image 3" descr="Bullsey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0913" y="1971081"/>
            <a:ext cx="209215" cy="209215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10149840" y="1783080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Root cause + confidence</a:t>
            </a:r>
            <a:endParaRPr lang="en-US" sz="1100" dirty="0"/>
          </a:p>
        </p:txBody>
      </p:sp>
      <p:sp>
        <p:nvSpPr>
          <p:cNvPr id="35" name="Output"/>
          <p:cNvSpPr/>
          <p:nvPr/>
        </p:nvSpPr>
        <p:spPr>
          <a:xfrm>
            <a:off x="9601200" y="2459736"/>
            <a:ext cx="201168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36" name="Icon circle"/>
          <p:cNvSpPr/>
          <p:nvPr/>
        </p:nvSpPr>
        <p:spPr>
          <a:xfrm>
            <a:off x="9674352" y="2551176"/>
            <a:ext cx="402336" cy="402336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37" name="Image 4" descr="Unlink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0913" y="2647737"/>
            <a:ext cx="209215" cy="209215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0149840" y="2459736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Broken step found</a:t>
            </a:r>
            <a:endParaRPr lang="en-US" sz="1100" dirty="0"/>
          </a:p>
        </p:txBody>
      </p:sp>
      <p:sp>
        <p:nvSpPr>
          <p:cNvPr id="39" name="Output"/>
          <p:cNvSpPr/>
          <p:nvPr/>
        </p:nvSpPr>
        <p:spPr>
          <a:xfrm>
            <a:off x="9601200" y="3136392"/>
            <a:ext cx="201168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0" name="Icon circle"/>
          <p:cNvSpPr/>
          <p:nvPr/>
        </p:nvSpPr>
        <p:spPr>
          <a:xfrm>
            <a:off x="9674352" y="3227832"/>
            <a:ext cx="402336" cy="402336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41" name="Image 5" descr="Bell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0913" y="3324393"/>
            <a:ext cx="209215" cy="209215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10149840" y="3136392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Refund / hold alert</a:t>
            </a:r>
            <a:endParaRPr lang="en-US" sz="1100" dirty="0"/>
          </a:p>
        </p:txBody>
      </p:sp>
      <p:sp>
        <p:nvSpPr>
          <p:cNvPr id="43" name="Label"/>
          <p:cNvSpPr txBox="1"/>
          <p:nvPr/>
        </p:nvSpPr>
        <p:spPr>
          <a:xfrm>
            <a:off x="4846320" y="4096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INNOVATION HIGHLIGHTS</a:t>
            </a:r>
            <a:endParaRPr lang="en-US" sz="1100" dirty="0"/>
          </a:p>
        </p:txBody>
      </p:sp>
      <p:sp>
        <p:nvSpPr>
          <p:cNvPr id="44" name="Highlight card"/>
          <p:cNvSpPr/>
          <p:nvPr/>
        </p:nvSpPr>
        <p:spPr>
          <a:xfrm>
            <a:off x="4846320" y="4389120"/>
            <a:ext cx="2185416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5" name="Icon circle"/>
          <p:cNvSpPr/>
          <p:nvPr/>
        </p:nvSpPr>
        <p:spPr>
          <a:xfrm>
            <a:off x="5010912" y="4526280"/>
            <a:ext cx="457200" cy="457200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46" name="Image 6" descr="ProjectDiagram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0" y="4636008"/>
            <a:ext cx="237744" cy="237744"/>
          </a:xfrm>
          <a:prstGeom prst="rect">
            <a:avLst/>
          </a:prstGeom>
        </p:spPr>
      </p:pic>
      <p:sp>
        <p:nvSpPr>
          <p:cNvPr id="47" name="Text 38"/>
          <p:cNvSpPr txBox="1"/>
          <p:nvPr/>
        </p:nvSpPr>
        <p:spPr>
          <a:xfrm>
            <a:off x="5559552" y="4526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Evidence path</a:t>
            </a:r>
            <a:endParaRPr lang="en-US" sz="1300" dirty="0"/>
          </a:p>
        </p:txBody>
      </p:sp>
      <p:sp>
        <p:nvSpPr>
          <p:cNvPr id="48" name="Text 39"/>
          <p:cNvSpPr txBox="1"/>
          <p:nvPr/>
        </p:nvSpPr>
        <p:spPr>
          <a:xfrm>
            <a:off x="5010912" y="5102352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Every answer shows the path review &gt; order &gt; batch &gt; supplier that proves it.</a:t>
            </a:r>
            <a:endParaRPr lang="en-US" sz="1200" dirty="0"/>
          </a:p>
        </p:txBody>
      </p:sp>
      <p:sp>
        <p:nvSpPr>
          <p:cNvPr id="49" name="Highlight card"/>
          <p:cNvSpPr/>
          <p:nvPr/>
        </p:nvSpPr>
        <p:spPr>
          <a:xfrm>
            <a:off x="7196328" y="4389120"/>
            <a:ext cx="2185416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0" name="Icon circle"/>
          <p:cNvSpPr/>
          <p:nvPr/>
        </p:nvSpPr>
        <p:spPr>
          <a:xfrm>
            <a:off x="7360920" y="4526280"/>
            <a:ext cx="457200" cy="45720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51" name="Image 7" descr="Filter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70648" y="4636008"/>
            <a:ext cx="237744" cy="237744"/>
          </a:xfrm>
          <a:prstGeom prst="rect">
            <a:avLst/>
          </a:prstGeom>
        </p:spPr>
      </p:pic>
      <p:sp>
        <p:nvSpPr>
          <p:cNvPr id="52" name="Text 42"/>
          <p:cNvSpPr txBox="1"/>
          <p:nvPr/>
        </p:nvSpPr>
        <p:spPr>
          <a:xfrm>
            <a:off x="7909560" y="4526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Suspect rejection</a:t>
            </a:r>
            <a:endParaRPr lang="en-US" sz="1300" dirty="0"/>
          </a:p>
        </p:txBody>
      </p:sp>
      <p:sp>
        <p:nvSpPr>
          <p:cNvPr id="53" name="Text 43"/>
          <p:cNvSpPr txBox="1"/>
          <p:nvPr/>
        </p:nvSpPr>
        <p:spPr>
          <a:xfrm>
            <a:off x="7360920" y="5102352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Greys out firmware, sale and courier causes after 5 tests, before a cause is named.</a:t>
            </a:r>
            <a:endParaRPr lang="en-US" sz="1200" dirty="0"/>
          </a:p>
        </p:txBody>
      </p:sp>
      <p:sp>
        <p:nvSpPr>
          <p:cNvPr id="54" name="Highlight card"/>
          <p:cNvSpPr/>
          <p:nvPr/>
        </p:nvSpPr>
        <p:spPr>
          <a:xfrm>
            <a:off x="9546336" y="4389120"/>
            <a:ext cx="2185416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5" name="Icon circle"/>
          <p:cNvSpPr/>
          <p:nvPr/>
        </p:nvSpPr>
        <p:spPr>
          <a:xfrm>
            <a:off x="9710928" y="452628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56" name="Image 8" descr="UndoAlt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20656" y="4636008"/>
            <a:ext cx="237744" cy="237744"/>
          </a:xfrm>
          <a:prstGeom prst="rect">
            <a:avLst/>
          </a:prstGeom>
        </p:spPr>
      </p:pic>
      <p:sp>
        <p:nvSpPr>
          <p:cNvPr id="57" name="Text 46"/>
          <p:cNvSpPr txBox="1"/>
          <p:nvPr/>
        </p:nvSpPr>
        <p:spPr>
          <a:xfrm>
            <a:off x="10259568" y="4526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Payment self-heal</a:t>
            </a:r>
            <a:endParaRPr lang="en-US" sz="1300" dirty="0"/>
          </a:p>
        </p:txBody>
      </p:sp>
      <p:sp>
        <p:nvSpPr>
          <p:cNvPr id="58" name="Text 47"/>
          <p:cNvSpPr txBox="1"/>
          <p:nvPr/>
        </p:nvSpPr>
        <p:spPr>
          <a:xfrm>
            <a:off x="9710928" y="5102352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Detects a broken callback, then refunds or fixes the order for the customer.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02   TECHNICAL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Technical Approach</a:t>
            </a:r>
            <a:endParaRPr lang="en-US" sz="2800" dirty="0"/>
          </a:p>
        </p:txBody>
      </p:sp>
      <p:sp>
        <p:nvSpPr>
          <p:cNvPr id="4" name="Label"/>
          <p:cNvSpPr txBox="1"/>
          <p:nvPr/>
        </p:nvSpPr>
        <p:spPr>
          <a:xfrm>
            <a:off x="457200" y="12618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WORKFLOW</a:t>
            </a:r>
            <a:endParaRPr lang="en-US" sz="1100" dirty="0"/>
          </a:p>
        </p:txBody>
      </p:sp>
      <p:sp>
        <p:nvSpPr>
          <p:cNvPr id="5" name="Workflow row"/>
          <p:cNvSpPr/>
          <p:nvPr/>
        </p:nvSpPr>
        <p:spPr>
          <a:xfrm>
            <a:off x="457200" y="1554480"/>
            <a:ext cx="6949440" cy="850392"/>
          </a:xfrm>
          <a:prstGeom prst="roundRect">
            <a:avLst>
              <a:gd name="adj" fmla="val 8602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783080"/>
            <a:ext cx="402336" cy="402336"/>
          </a:xfrm>
          <a:prstGeom prst="ellipse">
            <a:avLst/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60934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Data &amp; inputs (sample data)</a:t>
            </a:r>
            <a:endParaRPr lang="en-US" sz="1250" dirty="0"/>
          </a:p>
        </p:txBody>
      </p:sp>
      <p:sp>
        <p:nvSpPr>
          <p:cNvPr id="9" name="Chip"/>
          <p:cNvSpPr/>
          <p:nvPr/>
        </p:nvSpPr>
        <p:spPr>
          <a:xfrm>
            <a:off x="1143000" y="1947672"/>
            <a:ext cx="1737360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43000" y="1947672"/>
            <a:ext cx="17373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Reviews &amp; tickets</a:t>
            </a:r>
            <a:endParaRPr lang="en-US" sz="1100" dirty="0"/>
          </a:p>
        </p:txBody>
      </p:sp>
      <p:sp>
        <p:nvSpPr>
          <p:cNvPr id="11" name="Arrow"/>
          <p:cNvSpPr/>
          <p:nvPr/>
        </p:nvSpPr>
        <p:spPr>
          <a:xfrm>
            <a:off x="2907792" y="2020824"/>
            <a:ext cx="237744" cy="201168"/>
          </a:xfrm>
          <a:prstGeom prst="rightArrow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2" name="Chip"/>
          <p:cNvSpPr/>
          <p:nvPr/>
        </p:nvSpPr>
        <p:spPr>
          <a:xfrm>
            <a:off x="3154680" y="1947672"/>
            <a:ext cx="1737360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154680" y="1947672"/>
            <a:ext cx="17373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Orders &amp; returns</a:t>
            </a:r>
            <a:endParaRPr lang="en-US" sz="1100" dirty="0"/>
          </a:p>
        </p:txBody>
      </p:sp>
      <p:sp>
        <p:nvSpPr>
          <p:cNvPr id="14" name="Arrow"/>
          <p:cNvSpPr/>
          <p:nvPr/>
        </p:nvSpPr>
        <p:spPr>
          <a:xfrm>
            <a:off x="4919472" y="2020824"/>
            <a:ext cx="237744" cy="201168"/>
          </a:xfrm>
          <a:prstGeom prst="rightArrow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5" name="Chip"/>
          <p:cNvSpPr/>
          <p:nvPr/>
        </p:nvSpPr>
        <p:spPr>
          <a:xfrm>
            <a:off x="5166360" y="1947672"/>
            <a:ext cx="1737360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66360" y="1947672"/>
            <a:ext cx="17373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Payment events</a:t>
            </a:r>
            <a:endParaRPr lang="en-US" sz="1100" dirty="0"/>
          </a:p>
        </p:txBody>
      </p:sp>
      <p:sp>
        <p:nvSpPr>
          <p:cNvPr id="17" name="Workflow row"/>
          <p:cNvSpPr/>
          <p:nvPr/>
        </p:nvSpPr>
        <p:spPr>
          <a:xfrm>
            <a:off x="457200" y="2496312"/>
            <a:ext cx="6949440" cy="850392"/>
          </a:xfrm>
          <a:prstGeom prst="roundRect">
            <a:avLst>
              <a:gd name="adj" fmla="val 8602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" y="2724912"/>
            <a:ext cx="402336" cy="402336"/>
          </a:xfrm>
          <a:prstGeom prst="ellipse">
            <a:avLst/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66928" y="2724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2551176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Knowledge graph (4 edge types)</a:t>
            </a:r>
            <a:endParaRPr lang="en-US" sz="1250" dirty="0"/>
          </a:p>
        </p:txBody>
      </p:sp>
      <p:sp>
        <p:nvSpPr>
          <p:cNvPr id="21" name="Chip"/>
          <p:cNvSpPr/>
          <p:nvPr/>
        </p:nvSpPr>
        <p:spPr>
          <a:xfrm>
            <a:off x="1143000" y="2889504"/>
            <a:ext cx="1737360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143000" y="2889504"/>
            <a:ext cx="17373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Extract entities</a:t>
            </a:r>
            <a:endParaRPr lang="en-US" sz="1100" dirty="0"/>
          </a:p>
        </p:txBody>
      </p:sp>
      <p:sp>
        <p:nvSpPr>
          <p:cNvPr id="23" name="Arrow"/>
          <p:cNvSpPr/>
          <p:nvPr/>
        </p:nvSpPr>
        <p:spPr>
          <a:xfrm>
            <a:off x="2907792" y="2962656"/>
            <a:ext cx="237744" cy="201168"/>
          </a:xfrm>
          <a:prstGeom prst="rightArrow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24" name="Chip"/>
          <p:cNvSpPr/>
          <p:nvPr/>
        </p:nvSpPr>
        <p:spPr>
          <a:xfrm>
            <a:off x="3154680" y="2889504"/>
            <a:ext cx="1737360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154680" y="2889504"/>
            <a:ext cx="17373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Link nodes &amp; edges</a:t>
            </a:r>
            <a:endParaRPr lang="en-US" sz="1100" dirty="0"/>
          </a:p>
        </p:txBody>
      </p:sp>
      <p:sp>
        <p:nvSpPr>
          <p:cNvPr id="26" name="Arrow"/>
          <p:cNvSpPr/>
          <p:nvPr/>
        </p:nvSpPr>
        <p:spPr>
          <a:xfrm>
            <a:off x="4919472" y="2962656"/>
            <a:ext cx="237744" cy="201168"/>
          </a:xfrm>
          <a:prstGeom prst="rightArrow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27" name="Chip"/>
          <p:cNvSpPr/>
          <p:nvPr/>
        </p:nvSpPr>
        <p:spPr>
          <a:xfrm>
            <a:off x="5166360" y="2889504"/>
            <a:ext cx="1737360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166360" y="2889504"/>
            <a:ext cx="17373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networkx graph</a:t>
            </a:r>
            <a:endParaRPr lang="en-US" sz="1100" dirty="0"/>
          </a:p>
        </p:txBody>
      </p:sp>
      <p:sp>
        <p:nvSpPr>
          <p:cNvPr id="29" name="Workflow row"/>
          <p:cNvSpPr/>
          <p:nvPr/>
        </p:nvSpPr>
        <p:spPr>
          <a:xfrm>
            <a:off x="457200" y="3438144"/>
            <a:ext cx="6949440" cy="850392"/>
          </a:xfrm>
          <a:prstGeom prst="roundRect">
            <a:avLst>
              <a:gd name="adj" fmla="val 8602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66928" y="3666744"/>
            <a:ext cx="402336" cy="402336"/>
          </a:xfrm>
          <a:prstGeom prst="ellipse">
            <a:avLst/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66928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143000" y="3493008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Root-cause logic (5 tests, rules not ML)</a:t>
            </a:r>
            <a:endParaRPr lang="en-US" sz="1250" dirty="0"/>
          </a:p>
        </p:txBody>
      </p:sp>
      <p:sp>
        <p:nvSpPr>
          <p:cNvPr id="33" name="Chip"/>
          <p:cNvSpPr/>
          <p:nvPr/>
        </p:nvSpPr>
        <p:spPr>
          <a:xfrm>
            <a:off x="1143000" y="3831336"/>
            <a:ext cx="1737360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143000" y="3831336"/>
            <a:ext cx="17373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Test each suspect</a:t>
            </a:r>
            <a:endParaRPr lang="en-US" sz="1100" dirty="0"/>
          </a:p>
        </p:txBody>
      </p:sp>
      <p:sp>
        <p:nvSpPr>
          <p:cNvPr id="35" name="Arrow"/>
          <p:cNvSpPr/>
          <p:nvPr/>
        </p:nvSpPr>
        <p:spPr>
          <a:xfrm>
            <a:off x="2907792" y="3904488"/>
            <a:ext cx="237744" cy="201168"/>
          </a:xfrm>
          <a:prstGeom prst="rightArrow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36" name="Chip"/>
          <p:cNvSpPr/>
          <p:nvPr/>
        </p:nvSpPr>
        <p:spPr>
          <a:xfrm>
            <a:off x="3154680" y="3831336"/>
            <a:ext cx="1737360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154680" y="3831336"/>
            <a:ext cx="17373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Reject weak causes</a:t>
            </a:r>
            <a:endParaRPr lang="en-US" sz="1100" dirty="0"/>
          </a:p>
        </p:txBody>
      </p:sp>
      <p:sp>
        <p:nvSpPr>
          <p:cNvPr id="38" name="Arrow"/>
          <p:cNvSpPr/>
          <p:nvPr/>
        </p:nvSpPr>
        <p:spPr>
          <a:xfrm>
            <a:off x="4919472" y="3904488"/>
            <a:ext cx="237744" cy="201168"/>
          </a:xfrm>
          <a:prstGeom prst="rightArrow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39" name="Chip"/>
          <p:cNvSpPr/>
          <p:nvPr/>
        </p:nvSpPr>
        <p:spPr>
          <a:xfrm>
            <a:off x="5166360" y="3831336"/>
            <a:ext cx="1737360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166360" y="3831336"/>
            <a:ext cx="17373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Score confidence</a:t>
            </a:r>
            <a:endParaRPr lang="en-US" sz="1100" dirty="0"/>
          </a:p>
        </p:txBody>
      </p:sp>
      <p:sp>
        <p:nvSpPr>
          <p:cNvPr id="41" name="Workflow row"/>
          <p:cNvSpPr/>
          <p:nvPr/>
        </p:nvSpPr>
        <p:spPr>
          <a:xfrm>
            <a:off x="457200" y="4379976"/>
            <a:ext cx="6949440" cy="850392"/>
          </a:xfrm>
          <a:prstGeom prst="roundRect">
            <a:avLst>
              <a:gd name="adj" fmla="val 8602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66928" y="4608576"/>
            <a:ext cx="402336" cy="402336"/>
          </a:xfrm>
          <a:prstGeom prst="ellipse">
            <a:avLst/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66928" y="46085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1143000" y="443484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Services</a:t>
            </a:r>
            <a:endParaRPr lang="en-US" sz="1250" dirty="0"/>
          </a:p>
        </p:txBody>
      </p:sp>
      <p:sp>
        <p:nvSpPr>
          <p:cNvPr id="45" name="Chip"/>
          <p:cNvSpPr/>
          <p:nvPr/>
        </p:nvSpPr>
        <p:spPr>
          <a:xfrm>
            <a:off x="1143000" y="4773168"/>
            <a:ext cx="1737360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143000" y="4773168"/>
            <a:ext cx="17373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Streamlit app</a:t>
            </a:r>
            <a:endParaRPr lang="en-US" sz="1100" dirty="0"/>
          </a:p>
        </p:txBody>
      </p:sp>
      <p:sp>
        <p:nvSpPr>
          <p:cNvPr id="47" name="Arrow"/>
          <p:cNvSpPr/>
          <p:nvPr/>
        </p:nvSpPr>
        <p:spPr>
          <a:xfrm>
            <a:off x="2907792" y="4846320"/>
            <a:ext cx="237744" cy="201168"/>
          </a:xfrm>
          <a:prstGeom prst="rightArrow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48" name="Chip"/>
          <p:cNvSpPr/>
          <p:nvPr/>
        </p:nvSpPr>
        <p:spPr>
          <a:xfrm>
            <a:off x="3154680" y="4773168"/>
            <a:ext cx="1737360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3154680" y="4773168"/>
            <a:ext cx="17373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Python rules + graph</a:t>
            </a:r>
            <a:endParaRPr lang="en-US" sz="1100" dirty="0"/>
          </a:p>
        </p:txBody>
      </p:sp>
      <p:sp>
        <p:nvSpPr>
          <p:cNvPr id="50" name="Arrow"/>
          <p:cNvSpPr/>
          <p:nvPr/>
        </p:nvSpPr>
        <p:spPr>
          <a:xfrm>
            <a:off x="4919472" y="4846320"/>
            <a:ext cx="237744" cy="201168"/>
          </a:xfrm>
          <a:prstGeom prst="rightArrow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51" name="Chip"/>
          <p:cNvSpPr/>
          <p:nvPr/>
        </p:nvSpPr>
        <p:spPr>
          <a:xfrm>
            <a:off x="5166360" y="4773168"/>
            <a:ext cx="1737360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166360" y="4773168"/>
            <a:ext cx="17373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Twilio alerts</a:t>
            </a:r>
            <a:endParaRPr lang="en-US" sz="1100" dirty="0"/>
          </a:p>
        </p:txBody>
      </p:sp>
      <p:sp>
        <p:nvSpPr>
          <p:cNvPr id="53" name="Workflow row"/>
          <p:cNvSpPr/>
          <p:nvPr/>
        </p:nvSpPr>
        <p:spPr>
          <a:xfrm>
            <a:off x="457200" y="5321808"/>
            <a:ext cx="6949440" cy="850392"/>
          </a:xfrm>
          <a:prstGeom prst="roundRect">
            <a:avLst>
              <a:gd name="adj" fmla="val 8602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66928" y="5550408"/>
            <a:ext cx="402336" cy="402336"/>
          </a:xfrm>
          <a:prstGeom prst="ellipse">
            <a:avLst/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66928" y="5550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1143000" y="5376672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Screens</a:t>
            </a:r>
            <a:endParaRPr lang="en-US" sz="1250" dirty="0"/>
          </a:p>
        </p:txBody>
      </p:sp>
      <p:sp>
        <p:nvSpPr>
          <p:cNvPr id="57" name="Chip"/>
          <p:cNvSpPr/>
          <p:nvPr/>
        </p:nvSpPr>
        <p:spPr>
          <a:xfrm>
            <a:off x="1143000" y="5715000"/>
            <a:ext cx="1737360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1143000" y="5715000"/>
            <a:ext cx="17373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Graph view</a:t>
            </a:r>
            <a:endParaRPr lang="en-US" sz="1100" dirty="0"/>
          </a:p>
        </p:txBody>
      </p:sp>
      <p:sp>
        <p:nvSpPr>
          <p:cNvPr id="59" name="Arrow"/>
          <p:cNvSpPr/>
          <p:nvPr/>
        </p:nvSpPr>
        <p:spPr>
          <a:xfrm>
            <a:off x="2907792" y="5788152"/>
            <a:ext cx="237744" cy="201168"/>
          </a:xfrm>
          <a:prstGeom prst="rightArrow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60" name="Chip"/>
          <p:cNvSpPr/>
          <p:nvPr/>
        </p:nvSpPr>
        <p:spPr>
          <a:xfrm>
            <a:off x="3154680" y="5715000"/>
            <a:ext cx="1737360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3154680" y="5715000"/>
            <a:ext cx="17373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Payment monitor</a:t>
            </a:r>
            <a:endParaRPr lang="en-US" sz="1100" dirty="0"/>
          </a:p>
        </p:txBody>
      </p:sp>
      <p:sp>
        <p:nvSpPr>
          <p:cNvPr id="62" name="Arrow"/>
          <p:cNvSpPr/>
          <p:nvPr/>
        </p:nvSpPr>
        <p:spPr>
          <a:xfrm>
            <a:off x="4919472" y="5788152"/>
            <a:ext cx="237744" cy="201168"/>
          </a:xfrm>
          <a:prstGeom prst="rightArrow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63" name="Chip"/>
          <p:cNvSpPr/>
          <p:nvPr/>
        </p:nvSpPr>
        <p:spPr>
          <a:xfrm>
            <a:off x="5166360" y="5715000"/>
            <a:ext cx="1737360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5166360" y="5715000"/>
            <a:ext cx="17373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Customer alert</a:t>
            </a:r>
            <a:endParaRPr lang="en-US" sz="1100" dirty="0"/>
          </a:p>
        </p:txBody>
      </p:sp>
      <p:sp>
        <p:nvSpPr>
          <p:cNvPr id="65" name="Label"/>
          <p:cNvSpPr txBox="1"/>
          <p:nvPr/>
        </p:nvSpPr>
        <p:spPr>
          <a:xfrm>
            <a:off x="7589520" y="12618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OUTPUT</a:t>
            </a:r>
            <a:endParaRPr lang="en-US" sz="1100" dirty="0"/>
          </a:p>
        </p:txBody>
      </p:sp>
      <p:sp>
        <p:nvSpPr>
          <p:cNvPr id="66" name="Output card"/>
          <p:cNvSpPr/>
          <p:nvPr/>
        </p:nvSpPr>
        <p:spPr>
          <a:xfrm>
            <a:off x="7589520" y="1554480"/>
            <a:ext cx="2011680" cy="1490472"/>
          </a:xfrm>
          <a:prstGeom prst="roundRect">
            <a:avLst>
              <a:gd name="adj" fmla="val 4908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7" name="Icon circle"/>
          <p:cNvSpPr/>
          <p:nvPr/>
        </p:nvSpPr>
        <p:spPr>
          <a:xfrm>
            <a:off x="7680960" y="1645920"/>
            <a:ext cx="365760" cy="365760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pic>
        <p:nvPicPr>
          <p:cNvPr id="68" name="Image 0" descr="ProjectDiagram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8742" y="1733702"/>
            <a:ext cx="190195" cy="190195"/>
          </a:xfrm>
          <a:prstGeom prst="rect">
            <a:avLst/>
          </a:prstGeom>
        </p:spPr>
      </p:pic>
      <p:sp>
        <p:nvSpPr>
          <p:cNvPr id="69" name="Text 66"/>
          <p:cNvSpPr txBox="1"/>
          <p:nvPr/>
        </p:nvSpPr>
        <p:spPr>
          <a:xfrm>
            <a:off x="8119872" y="16459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Graph View</a:t>
            </a:r>
            <a:endParaRPr lang="en-US" sz="1200" dirty="0"/>
          </a:p>
        </p:txBody>
      </p:sp>
      <p:sp>
        <p:nvSpPr>
          <p:cNvPr id="70" name="Text 67"/>
          <p:cNvSpPr txBox="1"/>
          <p:nvPr/>
        </p:nvSpPr>
        <p:spPr>
          <a:xfrm>
            <a:off x="7699248" y="2103120"/>
            <a:ext cx="1828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red path = cause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Review &gt; Order &gt; Batch &gt; Supplier</a:t>
            </a:r>
            <a:endParaRPr lang="en-US" sz="1050" dirty="0"/>
          </a:p>
        </p:txBody>
      </p:sp>
      <p:sp>
        <p:nvSpPr>
          <p:cNvPr id="71" name="Output card"/>
          <p:cNvSpPr/>
          <p:nvPr/>
        </p:nvSpPr>
        <p:spPr>
          <a:xfrm>
            <a:off x="7589520" y="3154680"/>
            <a:ext cx="2011680" cy="1490472"/>
          </a:xfrm>
          <a:prstGeom prst="roundRect">
            <a:avLst>
              <a:gd name="adj" fmla="val 4908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2" name="Icon circle"/>
          <p:cNvSpPr/>
          <p:nvPr/>
        </p:nvSpPr>
        <p:spPr>
          <a:xfrm>
            <a:off x="7680960" y="3246120"/>
            <a:ext cx="365760" cy="36576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73" name="Image 1" descr="CreditCard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8742" y="3333902"/>
            <a:ext cx="190195" cy="190195"/>
          </a:xfrm>
          <a:prstGeom prst="rect">
            <a:avLst/>
          </a:prstGeom>
        </p:spPr>
      </p:pic>
      <p:sp>
        <p:nvSpPr>
          <p:cNvPr id="74" name="Text 70"/>
          <p:cNvSpPr txBox="1"/>
          <p:nvPr/>
        </p:nvSpPr>
        <p:spPr>
          <a:xfrm>
            <a:off x="8119872" y="32461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Payment Engine</a:t>
            </a:r>
            <a:endParaRPr lang="en-US" sz="1200" dirty="0"/>
          </a:p>
        </p:txBody>
      </p:sp>
      <p:sp>
        <p:nvSpPr>
          <p:cNvPr id="75" name="Text 71"/>
          <p:cNvSpPr txBox="1"/>
          <p:nvPr/>
        </p:nvSpPr>
        <p:spPr>
          <a:xfrm>
            <a:off x="7699248" y="3703320"/>
            <a:ext cx="1828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Callback check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Order match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Auto refund</a:t>
            </a:r>
            <a:endParaRPr lang="en-US" sz="1050" dirty="0"/>
          </a:p>
        </p:txBody>
      </p:sp>
      <p:sp>
        <p:nvSpPr>
          <p:cNvPr id="76" name="Output card"/>
          <p:cNvSpPr/>
          <p:nvPr/>
        </p:nvSpPr>
        <p:spPr>
          <a:xfrm>
            <a:off x="7589520" y="4754880"/>
            <a:ext cx="2011680" cy="1490472"/>
          </a:xfrm>
          <a:prstGeom prst="roundRect">
            <a:avLst>
              <a:gd name="adj" fmla="val 4908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7" name="Icon circle"/>
          <p:cNvSpPr/>
          <p:nvPr/>
        </p:nvSpPr>
        <p:spPr>
          <a:xfrm>
            <a:off x="7680960" y="4846320"/>
            <a:ext cx="365760" cy="3657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78" name="Image 2" descr="Bell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8742" y="4934102"/>
            <a:ext cx="190195" cy="190195"/>
          </a:xfrm>
          <a:prstGeom prst="rect">
            <a:avLst/>
          </a:prstGeom>
        </p:spPr>
      </p:pic>
      <p:sp>
        <p:nvSpPr>
          <p:cNvPr id="79" name="Text 74"/>
          <p:cNvSpPr txBox="1"/>
          <p:nvPr/>
        </p:nvSpPr>
        <p:spPr>
          <a:xfrm>
            <a:off x="8119872" y="48463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Customer Alert</a:t>
            </a:r>
            <a:endParaRPr lang="en-US" sz="1200" dirty="0"/>
          </a:p>
        </p:txBody>
      </p:sp>
      <p:sp>
        <p:nvSpPr>
          <p:cNvPr id="80" name="Text 75"/>
          <p:cNvSpPr txBox="1"/>
          <p:nvPr/>
        </p:nvSpPr>
        <p:spPr>
          <a:xfrm>
            <a:off x="7699248" y="5303520"/>
            <a:ext cx="1828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Paid | No order | Refund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Told early, in own language (Sarvam + Twilio, planned)</a:t>
            </a:r>
            <a:endParaRPr lang="en-US" sz="1050" dirty="0"/>
          </a:p>
        </p:txBody>
      </p:sp>
      <p:sp>
        <p:nvSpPr>
          <p:cNvPr id="81" name="Label"/>
          <p:cNvSpPr txBox="1"/>
          <p:nvPr/>
        </p:nvSpPr>
        <p:spPr>
          <a:xfrm>
            <a:off x="9784080" y="12618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TECH STACK</a:t>
            </a:r>
            <a:endParaRPr lang="en-US" sz="1100" dirty="0"/>
          </a:p>
        </p:txBody>
      </p:sp>
      <p:sp>
        <p:nvSpPr>
          <p:cNvPr id="82" name="Stack card"/>
          <p:cNvSpPr/>
          <p:nvPr/>
        </p:nvSpPr>
        <p:spPr>
          <a:xfrm>
            <a:off x="9784080" y="1554480"/>
            <a:ext cx="1947672" cy="4709160"/>
          </a:xfrm>
          <a:prstGeom prst="roundRect">
            <a:avLst>
              <a:gd name="adj" fmla="val 3756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3" name="Text 78"/>
          <p:cNvSpPr txBox="1"/>
          <p:nvPr/>
        </p:nvSpPr>
        <p:spPr>
          <a:xfrm>
            <a:off x="9893808" y="166420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FRONTEND</a:t>
            </a:r>
            <a:endParaRPr lang="en-US" sz="1000" dirty="0"/>
          </a:p>
        </p:txBody>
      </p:sp>
      <p:sp>
        <p:nvSpPr>
          <p:cNvPr id="84" name="Chip"/>
          <p:cNvSpPr/>
          <p:nvPr/>
        </p:nvSpPr>
        <p:spPr>
          <a:xfrm>
            <a:off x="9893808" y="1901952"/>
            <a:ext cx="841248" cy="27432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85" name="Text 80"/>
          <p:cNvSpPr txBox="1"/>
          <p:nvPr/>
        </p:nvSpPr>
        <p:spPr>
          <a:xfrm>
            <a:off x="9893808" y="1901952"/>
            <a:ext cx="84124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Streamlit</a:t>
            </a:r>
            <a:endParaRPr lang="en-US" sz="1000" dirty="0"/>
          </a:p>
        </p:txBody>
      </p:sp>
      <p:sp>
        <p:nvSpPr>
          <p:cNvPr id="86" name="Chip"/>
          <p:cNvSpPr/>
          <p:nvPr/>
        </p:nvSpPr>
        <p:spPr>
          <a:xfrm>
            <a:off x="10780776" y="1901952"/>
            <a:ext cx="841248" cy="27432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87" name="Text 82"/>
          <p:cNvSpPr txBox="1"/>
          <p:nvPr/>
        </p:nvSpPr>
        <p:spPr>
          <a:xfrm>
            <a:off x="10780776" y="1901952"/>
            <a:ext cx="84124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Python</a:t>
            </a:r>
            <a:endParaRPr lang="en-US" sz="1000" dirty="0"/>
          </a:p>
        </p:txBody>
      </p:sp>
      <p:sp>
        <p:nvSpPr>
          <p:cNvPr id="88" name="Chip"/>
          <p:cNvSpPr/>
          <p:nvPr/>
        </p:nvSpPr>
        <p:spPr>
          <a:xfrm>
            <a:off x="9893808" y="2221992"/>
            <a:ext cx="1728216" cy="27432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89" name="Text 84"/>
          <p:cNvSpPr txBox="1"/>
          <p:nvPr/>
        </p:nvSpPr>
        <p:spPr>
          <a:xfrm>
            <a:off x="9893808" y="2221992"/>
            <a:ext cx="172821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Graph viz</a:t>
            </a:r>
            <a:endParaRPr lang="en-US" sz="1000" dirty="0"/>
          </a:p>
        </p:txBody>
      </p:sp>
      <p:sp>
        <p:nvSpPr>
          <p:cNvPr id="90" name="Text 85"/>
          <p:cNvSpPr txBox="1"/>
          <p:nvPr/>
        </p:nvSpPr>
        <p:spPr>
          <a:xfrm>
            <a:off x="9893808" y="263347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GRAPH &amp; LOGIC</a:t>
            </a:r>
            <a:endParaRPr lang="en-US" sz="1000" dirty="0"/>
          </a:p>
        </p:txBody>
      </p:sp>
      <p:sp>
        <p:nvSpPr>
          <p:cNvPr id="91" name="Chip"/>
          <p:cNvSpPr/>
          <p:nvPr/>
        </p:nvSpPr>
        <p:spPr>
          <a:xfrm>
            <a:off x="9893808" y="2871216"/>
            <a:ext cx="841248" cy="27432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92" name="Text 87"/>
          <p:cNvSpPr txBox="1"/>
          <p:nvPr/>
        </p:nvSpPr>
        <p:spPr>
          <a:xfrm>
            <a:off x="9893808" y="2871216"/>
            <a:ext cx="84124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networkx</a:t>
            </a:r>
            <a:endParaRPr lang="en-US" sz="1000" dirty="0"/>
          </a:p>
        </p:txBody>
      </p:sp>
      <p:sp>
        <p:nvSpPr>
          <p:cNvPr id="93" name="Chip"/>
          <p:cNvSpPr/>
          <p:nvPr/>
        </p:nvSpPr>
        <p:spPr>
          <a:xfrm>
            <a:off x="10780776" y="2871216"/>
            <a:ext cx="841248" cy="27432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94" name="Text 89"/>
          <p:cNvSpPr txBox="1"/>
          <p:nvPr/>
        </p:nvSpPr>
        <p:spPr>
          <a:xfrm>
            <a:off x="10780776" y="2871216"/>
            <a:ext cx="84124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Python</a:t>
            </a:r>
            <a:endParaRPr lang="en-US" sz="1000" dirty="0"/>
          </a:p>
        </p:txBody>
      </p:sp>
      <p:sp>
        <p:nvSpPr>
          <p:cNvPr id="95" name="Chip"/>
          <p:cNvSpPr/>
          <p:nvPr/>
        </p:nvSpPr>
        <p:spPr>
          <a:xfrm>
            <a:off x="9893808" y="3191256"/>
            <a:ext cx="841248" cy="27432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96" name="Text 91"/>
          <p:cNvSpPr txBox="1"/>
          <p:nvPr/>
        </p:nvSpPr>
        <p:spPr>
          <a:xfrm>
            <a:off x="9893808" y="3191256"/>
            <a:ext cx="84124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Rule tests</a:t>
            </a:r>
            <a:endParaRPr lang="en-US" sz="1000" dirty="0"/>
          </a:p>
        </p:txBody>
      </p:sp>
      <p:sp>
        <p:nvSpPr>
          <p:cNvPr id="97" name="Chip"/>
          <p:cNvSpPr/>
          <p:nvPr/>
        </p:nvSpPr>
        <p:spPr>
          <a:xfrm>
            <a:off x="10780776" y="3191256"/>
            <a:ext cx="841248" cy="27432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98" name="Text 93"/>
          <p:cNvSpPr txBox="1"/>
          <p:nvPr/>
        </p:nvSpPr>
        <p:spPr>
          <a:xfrm>
            <a:off x="10780776" y="3191256"/>
            <a:ext cx="84124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Scoring</a:t>
            </a:r>
            <a:endParaRPr lang="en-US" sz="1000" dirty="0"/>
          </a:p>
        </p:txBody>
      </p:sp>
      <p:sp>
        <p:nvSpPr>
          <p:cNvPr id="99" name="Text 94"/>
          <p:cNvSpPr txBox="1"/>
          <p:nvPr/>
        </p:nvSpPr>
        <p:spPr>
          <a:xfrm>
            <a:off x="9893808" y="360273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ALERTS</a:t>
            </a:r>
            <a:endParaRPr lang="en-US" sz="1000" dirty="0"/>
          </a:p>
        </p:txBody>
      </p:sp>
      <p:sp>
        <p:nvSpPr>
          <p:cNvPr id="100" name="Chip"/>
          <p:cNvSpPr/>
          <p:nvPr/>
        </p:nvSpPr>
        <p:spPr>
          <a:xfrm>
            <a:off x="9893808" y="3840480"/>
            <a:ext cx="1728216" cy="27432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01" name="Text 96"/>
          <p:cNvSpPr txBox="1"/>
          <p:nvPr/>
        </p:nvSpPr>
        <p:spPr>
          <a:xfrm>
            <a:off x="9893808" y="3840480"/>
            <a:ext cx="172821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Twilio (SMS / call)</a:t>
            </a:r>
            <a:endParaRPr lang="en-US" sz="1000" dirty="0"/>
          </a:p>
        </p:txBody>
      </p:sp>
      <p:sp>
        <p:nvSpPr>
          <p:cNvPr id="102" name="Text 97"/>
          <p:cNvSpPr txBox="1"/>
          <p:nvPr/>
        </p:nvSpPr>
        <p:spPr>
          <a:xfrm>
            <a:off x="9893808" y="42519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AI / LANGUAGE</a:t>
            </a:r>
            <a:endParaRPr lang="en-US" sz="1000" dirty="0"/>
          </a:p>
        </p:txBody>
      </p:sp>
      <p:sp>
        <p:nvSpPr>
          <p:cNvPr id="103" name="Chip"/>
          <p:cNvSpPr/>
          <p:nvPr/>
        </p:nvSpPr>
        <p:spPr>
          <a:xfrm>
            <a:off x="9893808" y="4489704"/>
            <a:ext cx="1728216" cy="27432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104" name="Text 99"/>
          <p:cNvSpPr txBox="1"/>
          <p:nvPr/>
        </p:nvSpPr>
        <p:spPr>
          <a:xfrm>
            <a:off x="9893808" y="4489704"/>
            <a:ext cx="172821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Text parsing</a:t>
            </a:r>
            <a:endParaRPr lang="en-US" sz="1000" dirty="0"/>
          </a:p>
        </p:txBody>
      </p:sp>
      <p:sp>
        <p:nvSpPr>
          <p:cNvPr id="105" name="Chip"/>
          <p:cNvSpPr/>
          <p:nvPr/>
        </p:nvSpPr>
        <p:spPr>
          <a:xfrm>
            <a:off x="9893808" y="4809744"/>
            <a:ext cx="841248" cy="27432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106" name="Text 101"/>
          <p:cNvSpPr txBox="1"/>
          <p:nvPr/>
        </p:nvSpPr>
        <p:spPr>
          <a:xfrm>
            <a:off x="9893808" y="4809744"/>
            <a:ext cx="84124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LLM explain</a:t>
            </a:r>
            <a:endParaRPr lang="en-US" sz="1000" dirty="0"/>
          </a:p>
        </p:txBody>
      </p:sp>
      <p:sp>
        <p:nvSpPr>
          <p:cNvPr id="107" name="Chip"/>
          <p:cNvSpPr/>
          <p:nvPr/>
        </p:nvSpPr>
        <p:spPr>
          <a:xfrm>
            <a:off x="10780776" y="4809744"/>
            <a:ext cx="841248" cy="27432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108" name="Text 103"/>
          <p:cNvSpPr txBox="1"/>
          <p:nvPr/>
        </p:nvSpPr>
        <p:spPr>
          <a:xfrm>
            <a:off x="10780776" y="4809744"/>
            <a:ext cx="84124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Rule guardrails</a:t>
            </a:r>
            <a:endParaRPr lang="en-US" sz="1000" dirty="0"/>
          </a:p>
        </p:txBody>
      </p:sp>
      <p:sp>
        <p:nvSpPr>
          <p:cNvPr id="109" name="Text 104"/>
          <p:cNvSpPr txBox="1"/>
          <p:nvPr/>
        </p:nvSpPr>
        <p:spPr>
          <a:xfrm>
            <a:off x="9893808" y="522122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LANGUAGE (PLANNED)</a:t>
            </a:r>
            <a:endParaRPr lang="en-US" sz="1000" dirty="0"/>
          </a:p>
        </p:txBody>
      </p:sp>
      <p:sp>
        <p:nvSpPr>
          <p:cNvPr id="110" name="Chip"/>
          <p:cNvSpPr/>
          <p:nvPr/>
        </p:nvSpPr>
        <p:spPr>
          <a:xfrm>
            <a:off x="9893808" y="5458968"/>
            <a:ext cx="1728216" cy="27432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11" name="Text 106"/>
          <p:cNvSpPr txBox="1"/>
          <p:nvPr/>
        </p:nvSpPr>
        <p:spPr>
          <a:xfrm>
            <a:off x="9893808" y="5458968"/>
            <a:ext cx="172821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Sarvam AI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03   FEASIBILITY AND VIABILITY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Feasibility and Viability</a:t>
            </a:r>
            <a:endParaRPr lang="en-US" sz="2800" dirty="0"/>
          </a:p>
        </p:txBody>
      </p:sp>
      <p:sp>
        <p:nvSpPr>
          <p:cNvPr id="4" name="KPI tile"/>
          <p:cNvSpPr/>
          <p:nvPr/>
        </p:nvSpPr>
        <p:spPr>
          <a:xfrm>
            <a:off x="457200" y="1325880"/>
            <a:ext cx="365760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2588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2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32588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Engines, one graph</a:t>
            </a:r>
            <a:endParaRPr lang="en-US" sz="1500" dirty="0"/>
          </a:p>
        </p:txBody>
      </p:sp>
      <p:sp>
        <p:nvSpPr>
          <p:cNvPr id="7" name="KPI tile"/>
          <p:cNvSpPr/>
          <p:nvPr/>
        </p:nvSpPr>
        <p:spPr>
          <a:xfrm>
            <a:off x="4270248" y="1325880"/>
            <a:ext cx="365760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98848" y="132588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3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5367528" y="132588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Suspects rejected</a:t>
            </a:r>
            <a:endParaRPr lang="en-US" sz="1500" dirty="0"/>
          </a:p>
        </p:txBody>
      </p:sp>
      <p:sp>
        <p:nvSpPr>
          <p:cNvPr id="10" name="KPI tile"/>
          <p:cNvSpPr/>
          <p:nvPr/>
        </p:nvSpPr>
        <p:spPr>
          <a:xfrm>
            <a:off x="8083296" y="1325880"/>
            <a:ext cx="365760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11896" y="132588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1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9180576" y="132588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Proven cause path</a:t>
            </a:r>
            <a:endParaRPr lang="en-US" sz="1500" dirty="0"/>
          </a:p>
        </p:txBody>
      </p:sp>
      <p:sp>
        <p:nvSpPr>
          <p:cNvPr id="13" name="Feasibility card"/>
          <p:cNvSpPr/>
          <p:nvPr/>
        </p:nvSpPr>
        <p:spPr>
          <a:xfrm>
            <a:off x="457200" y="2423160"/>
            <a:ext cx="576072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" y="2551176"/>
            <a:ext cx="182880" cy="18288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6112" y="249631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TECHNICAL FEASIBILITY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21792" y="2816352"/>
            <a:ext cx="5440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tx2"/>
                </a:solidFill>
              </a:rPr>
              <a:t>Proven methods —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graph traversal and rule-based tests, no black box.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tx2"/>
                </a:solidFill>
              </a:rPr>
              <a:t>Light stack —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Streamlit, Python, networkx; no GPU needed.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tx2"/>
                </a:solidFill>
              </a:rPr>
              <a:t>Prototype —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graph and payment flow shown end to end in a demo.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tx2"/>
                </a:solidFill>
              </a:rPr>
              <a:t>Explainable —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every verdict shows its evidence path.</a:t>
            </a:r>
            <a:endParaRPr lang="en-US" sz="1100" dirty="0"/>
          </a:p>
        </p:txBody>
      </p:sp>
      <p:sp>
        <p:nvSpPr>
          <p:cNvPr id="17" name="Feasibility card"/>
          <p:cNvSpPr/>
          <p:nvPr/>
        </p:nvSpPr>
        <p:spPr>
          <a:xfrm>
            <a:off x="457200" y="3703320"/>
            <a:ext cx="576072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" y="3831336"/>
            <a:ext cx="182880" cy="1828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96112" y="377647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OPERATIONAL FEASIBILITY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21792" y="4096512"/>
            <a:ext cx="5440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tx2"/>
                </a:solidFill>
              </a:rPr>
              <a:t>Fits the workflow —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support and ops see one graph, not five tools.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tx2"/>
                </a:solidFill>
              </a:rPr>
              <a:t>Pilot-first —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hold a batch, verify, then decide on a recall.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tx2"/>
                </a:solidFill>
              </a:rPr>
              <a:t>Customer view —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alerts in local language via Twilio.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tx2"/>
                </a:solidFill>
              </a:rPr>
              <a:t>Human approval —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no hold or recall without owner sign-off.</a:t>
            </a:r>
            <a:endParaRPr lang="en-US" sz="1100" dirty="0"/>
          </a:p>
        </p:txBody>
      </p:sp>
      <p:sp>
        <p:nvSpPr>
          <p:cNvPr id="21" name="Feasibility card"/>
          <p:cNvSpPr/>
          <p:nvPr/>
        </p:nvSpPr>
        <p:spPr>
          <a:xfrm>
            <a:off x="457200" y="4983480"/>
            <a:ext cx="576072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" y="5111496"/>
            <a:ext cx="182880" cy="18288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96112" y="505663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ECONOMIC FEASIBILITY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21792" y="5376672"/>
            <a:ext cx="5440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tx2"/>
                </a:solidFill>
              </a:rPr>
              <a:t>Low cost —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open-source stack, no new hardware.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tx2"/>
                </a:solidFill>
              </a:rPr>
              <a:t>Early catch —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hold defective batches before more units ship.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tx2"/>
                </a:solidFill>
              </a:rPr>
              <a:t>Value —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fewer refunds, returns and wasted investigation time.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tx2"/>
                </a:solidFill>
              </a:rPr>
              <a:t>Scalable —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same engine works for any online or retail seller.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423160"/>
          <a:ext cx="5330952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272491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data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live company data yet.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Real-data pilot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 reviews, orders and payments.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1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Noisy reviews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Typos and mixed languages.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 parsing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Sarvam AI for Tamil, Hindi, English.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1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cause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pattern may not be the cause.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Suspect 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alternatives before naming a cause.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1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Overconfident advice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 is not always high.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confidence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approves any hold or recall.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1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invents facts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Chatbot may hallucinate.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decides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explains; evidence comes from the graph.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04   IMPACT AND BENEFITS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Impact and Benefits</a:t>
            </a:r>
            <a:endParaRPr lang="en-US" sz="2800" dirty="0"/>
          </a:p>
        </p:txBody>
      </p:sp>
      <p:sp>
        <p:nvSpPr>
          <p:cNvPr id="4" name="Label"/>
          <p:cNvSpPr txBox="1"/>
          <p:nvPr/>
        </p:nvSpPr>
        <p:spPr>
          <a:xfrm>
            <a:off x="457200" y="12801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IMPACT</a:t>
            </a:r>
            <a:endParaRPr lang="en-US" sz="1100" dirty="0"/>
          </a:p>
        </p:txBody>
      </p:sp>
      <p:sp>
        <p:nvSpPr>
          <p:cNvPr id="5" name="Impact row"/>
          <p:cNvSpPr/>
          <p:nvPr/>
        </p:nvSpPr>
        <p:spPr>
          <a:xfrm>
            <a:off x="457200" y="1572768"/>
            <a:ext cx="5212080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566928" y="1664208"/>
            <a:ext cx="475488" cy="475488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7" name="Image 0" descr="User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045" y="1778325"/>
            <a:ext cx="247254" cy="24725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88720" y="1572768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Customer impact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Paid customers get an order or a refund.</a:t>
            </a:r>
            <a:endParaRPr lang="en-US" sz="1300" dirty="0"/>
          </a:p>
        </p:txBody>
      </p:sp>
      <p:sp>
        <p:nvSpPr>
          <p:cNvPr id="9" name="Impact row"/>
          <p:cNvSpPr/>
          <p:nvPr/>
        </p:nvSpPr>
        <p:spPr>
          <a:xfrm>
            <a:off x="457200" y="2304288"/>
            <a:ext cx="5212080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Icon circle"/>
          <p:cNvSpPr/>
          <p:nvPr/>
        </p:nvSpPr>
        <p:spPr>
          <a:xfrm>
            <a:off x="566928" y="2395728"/>
            <a:ext cx="475488" cy="47548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1" name="Image 1" descr="Stor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45" y="2509845"/>
            <a:ext cx="247254" cy="24725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88720" y="2304288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Business impact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Defective batch found before more units ship.</a:t>
            </a:r>
            <a:endParaRPr lang="en-US" sz="1300" dirty="0"/>
          </a:p>
        </p:txBody>
      </p:sp>
      <p:sp>
        <p:nvSpPr>
          <p:cNvPr id="13" name="Impact row"/>
          <p:cNvSpPr/>
          <p:nvPr/>
        </p:nvSpPr>
        <p:spPr>
          <a:xfrm>
            <a:off x="457200" y="3035808"/>
            <a:ext cx="5212080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Icon circle"/>
          <p:cNvSpPr/>
          <p:nvPr/>
        </p:nvSpPr>
        <p:spPr>
          <a:xfrm>
            <a:off x="566928" y="3127248"/>
            <a:ext cx="475488" cy="475488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15" name="Image 2" descr="Cog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045" y="3241365"/>
            <a:ext cx="247254" cy="24725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88720" y="3035808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Operational impact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One evidence path replaces weeks of guessing.</a:t>
            </a:r>
            <a:endParaRPr lang="en-US" sz="1300" dirty="0"/>
          </a:p>
        </p:txBody>
      </p:sp>
      <p:sp>
        <p:nvSpPr>
          <p:cNvPr id="17" name="Impact row"/>
          <p:cNvSpPr/>
          <p:nvPr/>
        </p:nvSpPr>
        <p:spPr>
          <a:xfrm>
            <a:off x="457200" y="3767328"/>
            <a:ext cx="5212080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Icon circle"/>
          <p:cNvSpPr/>
          <p:nvPr/>
        </p:nvSpPr>
        <p:spPr>
          <a:xfrm>
            <a:off x="566928" y="3858768"/>
            <a:ext cx="475488" cy="475488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19" name="Image 3" descr="ChartLin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045" y="3972885"/>
            <a:ext cx="247254" cy="24725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188720" y="3767328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Economic impact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Lower returns, refunds and recall cost.</a:t>
            </a:r>
            <a:endParaRPr lang="en-US" sz="1300" dirty="0"/>
          </a:p>
        </p:txBody>
      </p:sp>
      <p:sp>
        <p:nvSpPr>
          <p:cNvPr id="21" name="Impact row"/>
          <p:cNvSpPr/>
          <p:nvPr/>
        </p:nvSpPr>
        <p:spPr>
          <a:xfrm>
            <a:off x="457200" y="4498848"/>
            <a:ext cx="5212080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Icon circle"/>
          <p:cNvSpPr/>
          <p:nvPr/>
        </p:nvSpPr>
        <p:spPr>
          <a:xfrm>
            <a:off x="566928" y="4590288"/>
            <a:ext cx="475488" cy="475488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pic>
        <p:nvPicPr>
          <p:cNvPr id="23" name="Image 4" descr="Handshak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045" y="4704405"/>
            <a:ext cx="247254" cy="24725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188720" y="4498848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Trust impact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Customers see problems fixed, not ignored.</a:t>
            </a:r>
            <a:endParaRPr lang="en-US" sz="1300" dirty="0"/>
          </a:p>
        </p:txBody>
      </p:sp>
      <p:sp>
        <p:nvSpPr>
          <p:cNvPr id="25" name="Label"/>
          <p:cNvSpPr txBox="1"/>
          <p:nvPr/>
        </p:nvSpPr>
        <p:spPr>
          <a:xfrm>
            <a:off x="5943600" y="12801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BENEFITS</a:t>
            </a:r>
            <a:endParaRPr lang="en-US" sz="1100" dirty="0"/>
          </a:p>
        </p:txBody>
      </p:sp>
      <p:sp>
        <p:nvSpPr>
          <p:cNvPr id="26" name="Benefit card"/>
          <p:cNvSpPr/>
          <p:nvPr/>
        </p:nvSpPr>
        <p:spPr>
          <a:xfrm>
            <a:off x="5943600" y="1572768"/>
            <a:ext cx="2852928" cy="1152144"/>
          </a:xfrm>
          <a:prstGeom prst="roundRect">
            <a:avLst>
              <a:gd name="adj" fmla="val 6349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Icon circle"/>
          <p:cNvSpPr/>
          <p:nvPr/>
        </p:nvSpPr>
        <p:spPr>
          <a:xfrm>
            <a:off x="6080760" y="1700784"/>
            <a:ext cx="420624" cy="420624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28" name="Image 5" descr="Cloud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1710" y="1801734"/>
            <a:ext cx="218724" cy="218724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6601968" y="170078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Scalable deployment</a:t>
            </a:r>
            <a:endParaRPr lang="en-US" sz="1250" dirty="0"/>
          </a:p>
        </p:txBody>
      </p:sp>
      <p:sp>
        <p:nvSpPr>
          <p:cNvPr id="30" name="Text 22"/>
          <p:cNvSpPr txBox="1"/>
          <p:nvPr/>
        </p:nvSpPr>
        <p:spPr>
          <a:xfrm>
            <a:off x="6080760" y="219456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Same engine for any online or retail seller.</a:t>
            </a:r>
            <a:endParaRPr lang="en-US" sz="1150" dirty="0"/>
          </a:p>
        </p:txBody>
      </p:sp>
      <p:sp>
        <p:nvSpPr>
          <p:cNvPr id="31" name="Benefit card"/>
          <p:cNvSpPr/>
          <p:nvPr/>
        </p:nvSpPr>
        <p:spPr>
          <a:xfrm>
            <a:off x="8869680" y="1572768"/>
            <a:ext cx="2852928" cy="1152144"/>
          </a:xfrm>
          <a:prstGeom prst="roundRect">
            <a:avLst>
              <a:gd name="adj" fmla="val 6349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Icon circle"/>
          <p:cNvSpPr/>
          <p:nvPr/>
        </p:nvSpPr>
        <p:spPr>
          <a:xfrm>
            <a:off x="9006840" y="1700784"/>
            <a:ext cx="420624" cy="420624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33" name="Image 6" descr="Coins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07790" y="1801734"/>
            <a:ext cx="218724" cy="218724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9528048" y="170078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Lower cost</a:t>
            </a:r>
            <a:endParaRPr lang="en-US" sz="1250" dirty="0"/>
          </a:p>
        </p:txBody>
      </p:sp>
      <p:sp>
        <p:nvSpPr>
          <p:cNvPr id="35" name="Text 26"/>
          <p:cNvSpPr txBox="1"/>
          <p:nvPr/>
        </p:nvSpPr>
        <p:spPr>
          <a:xfrm>
            <a:off x="9006840" y="219456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Open-source stack, no new hardware.</a:t>
            </a:r>
            <a:endParaRPr lang="en-US" sz="1150" dirty="0"/>
          </a:p>
        </p:txBody>
      </p:sp>
      <p:sp>
        <p:nvSpPr>
          <p:cNvPr id="36" name="Benefit card"/>
          <p:cNvSpPr/>
          <p:nvPr/>
        </p:nvSpPr>
        <p:spPr>
          <a:xfrm>
            <a:off x="5943600" y="2816352"/>
            <a:ext cx="2852928" cy="1152144"/>
          </a:xfrm>
          <a:prstGeom prst="roundRect">
            <a:avLst>
              <a:gd name="adj" fmla="val 6349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Icon circle"/>
          <p:cNvSpPr/>
          <p:nvPr/>
        </p:nvSpPr>
        <p:spPr>
          <a:xfrm>
            <a:off x="6080760" y="2944368"/>
            <a:ext cx="420624" cy="420624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38" name="Image 7" descr="Bolt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1710" y="3045318"/>
            <a:ext cx="218724" cy="218724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6601968" y="294436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Faster decisions</a:t>
            </a:r>
            <a:endParaRPr lang="en-US" sz="1250" dirty="0"/>
          </a:p>
        </p:txBody>
      </p:sp>
      <p:sp>
        <p:nvSpPr>
          <p:cNvPr id="40" name="Text 30"/>
          <p:cNvSpPr txBox="1"/>
          <p:nvPr/>
        </p:nvSpPr>
        <p:spPr>
          <a:xfrm>
            <a:off x="6080760" y="3438144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Root cause in minutes, not weeks.</a:t>
            </a:r>
            <a:endParaRPr lang="en-US" sz="1150" dirty="0"/>
          </a:p>
        </p:txBody>
      </p:sp>
      <p:sp>
        <p:nvSpPr>
          <p:cNvPr id="41" name="Benefit card"/>
          <p:cNvSpPr/>
          <p:nvPr/>
        </p:nvSpPr>
        <p:spPr>
          <a:xfrm>
            <a:off x="8869680" y="2816352"/>
            <a:ext cx="2852928" cy="1152144"/>
          </a:xfrm>
          <a:prstGeom prst="roundRect">
            <a:avLst>
              <a:gd name="adj" fmla="val 6349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2" name="Icon circle"/>
          <p:cNvSpPr/>
          <p:nvPr/>
        </p:nvSpPr>
        <p:spPr>
          <a:xfrm>
            <a:off x="9006840" y="2944368"/>
            <a:ext cx="420624" cy="420624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pic>
        <p:nvPicPr>
          <p:cNvPr id="43" name="Image 8" descr="Tasks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07790" y="3045318"/>
            <a:ext cx="218724" cy="218724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9528048" y="294436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Priority actions</a:t>
            </a:r>
            <a:endParaRPr lang="en-US" sz="1250" dirty="0"/>
          </a:p>
        </p:txBody>
      </p:sp>
      <p:sp>
        <p:nvSpPr>
          <p:cNvPr id="45" name="Text 34"/>
          <p:cNvSpPr txBox="1"/>
          <p:nvPr/>
        </p:nvSpPr>
        <p:spPr>
          <a:xfrm>
            <a:off x="9006840" y="3438144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Hold, refund or fix shows what to do first.</a:t>
            </a:r>
            <a:endParaRPr lang="en-US" sz="1150" dirty="0"/>
          </a:p>
        </p:txBody>
      </p:sp>
      <p:sp>
        <p:nvSpPr>
          <p:cNvPr id="46" name="Benefit card"/>
          <p:cNvSpPr/>
          <p:nvPr/>
        </p:nvSpPr>
        <p:spPr>
          <a:xfrm>
            <a:off x="5943600" y="4059936"/>
            <a:ext cx="2852928" cy="1152144"/>
          </a:xfrm>
          <a:prstGeom prst="roundRect">
            <a:avLst>
              <a:gd name="adj" fmla="val 6349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7" name="Icon circle"/>
          <p:cNvSpPr/>
          <p:nvPr/>
        </p:nvSpPr>
        <p:spPr>
          <a:xfrm>
            <a:off x="6080760" y="4187952"/>
            <a:ext cx="420624" cy="420624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48" name="Image 9" descr="ThLarge ic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81710" y="4288902"/>
            <a:ext cx="218724" cy="218724"/>
          </a:xfrm>
          <a:prstGeom prst="rect">
            <a:avLst/>
          </a:prstGeom>
        </p:spPr>
      </p:pic>
      <p:sp>
        <p:nvSpPr>
          <p:cNvPr id="49" name="Text 37"/>
          <p:cNvSpPr txBox="1"/>
          <p:nvPr/>
        </p:nvSpPr>
        <p:spPr>
          <a:xfrm>
            <a:off x="6601968" y="418795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Unified view</a:t>
            </a:r>
            <a:endParaRPr lang="en-US" sz="1250" dirty="0"/>
          </a:p>
        </p:txBody>
      </p:sp>
      <p:sp>
        <p:nvSpPr>
          <p:cNvPr id="50" name="Text 38"/>
          <p:cNvSpPr txBox="1"/>
          <p:nvPr/>
        </p:nvSpPr>
        <p:spPr>
          <a:xfrm>
            <a:off x="6080760" y="468172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Reviews, orders, batches and payments together.</a:t>
            </a:r>
            <a:endParaRPr lang="en-US" sz="1150" dirty="0"/>
          </a:p>
        </p:txBody>
      </p:sp>
      <p:sp>
        <p:nvSpPr>
          <p:cNvPr id="51" name="Benefit card"/>
          <p:cNvSpPr/>
          <p:nvPr/>
        </p:nvSpPr>
        <p:spPr>
          <a:xfrm>
            <a:off x="8869680" y="4059936"/>
            <a:ext cx="2852928" cy="1152144"/>
          </a:xfrm>
          <a:prstGeom prst="roundRect">
            <a:avLst>
              <a:gd name="adj" fmla="val 6349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2" name="Icon circle"/>
          <p:cNvSpPr/>
          <p:nvPr/>
        </p:nvSpPr>
        <p:spPr>
          <a:xfrm>
            <a:off x="9006840" y="4187952"/>
            <a:ext cx="420624" cy="420624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53" name="Image 10" descr="Language ico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07790" y="4288902"/>
            <a:ext cx="218724" cy="218724"/>
          </a:xfrm>
          <a:prstGeom prst="rect">
            <a:avLst/>
          </a:prstGeom>
        </p:spPr>
      </p:pic>
      <p:sp>
        <p:nvSpPr>
          <p:cNvPr id="54" name="Text 41"/>
          <p:cNvSpPr txBox="1"/>
          <p:nvPr/>
        </p:nvSpPr>
        <p:spPr>
          <a:xfrm>
            <a:off x="9528048" y="418795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Local languages</a:t>
            </a:r>
            <a:endParaRPr lang="en-US" sz="1250" dirty="0"/>
          </a:p>
        </p:txBody>
      </p:sp>
      <p:sp>
        <p:nvSpPr>
          <p:cNvPr id="55" name="Text 42"/>
          <p:cNvSpPr txBox="1"/>
          <p:nvPr/>
        </p:nvSpPr>
        <p:spPr>
          <a:xfrm>
            <a:off x="9006840" y="468172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Tamil, Hindi, English via Sarvam AI (planned).</a:t>
            </a:r>
            <a:endParaRPr lang="en-US" sz="1150" dirty="0"/>
          </a:p>
        </p:txBody>
      </p:sp>
      <p:sp>
        <p:nvSpPr>
          <p:cNvPr id="56" name="Future scope"/>
          <p:cNvSpPr/>
          <p:nvPr/>
        </p:nvSpPr>
        <p:spPr>
          <a:xfrm>
            <a:off x="457200" y="5349240"/>
            <a:ext cx="11274552" cy="96012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57" name="Text 44"/>
          <p:cNvSpPr txBox="1"/>
          <p:nvPr/>
        </p:nvSpPr>
        <p:spPr>
          <a:xfrm>
            <a:off x="685800" y="534924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FUTURE SCOPE</a:t>
            </a:r>
            <a:endParaRPr lang="en-US" sz="1400" dirty="0"/>
          </a:p>
        </p:txBody>
      </p:sp>
      <p:sp>
        <p:nvSpPr>
          <p:cNvPr id="58" name="Text 45"/>
          <p:cNvSpPr txBox="1"/>
          <p:nvPr/>
        </p:nvSpPr>
        <p:spPr>
          <a:xfrm>
            <a:off x="2148840" y="53492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Real-data pilot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Connect live reviews, orders and payment logs.</a:t>
            </a:r>
            <a:endParaRPr lang="en-US" sz="1200" dirty="0"/>
          </a:p>
        </p:txBody>
      </p:sp>
      <p:sp>
        <p:nvSpPr>
          <p:cNvPr id="59" name="Text 46"/>
          <p:cNvSpPr txBox="1"/>
          <p:nvPr/>
        </p:nvSpPr>
        <p:spPr>
          <a:xfrm>
            <a:off x="4544568" y="53492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Voice &amp; local languages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Tamil and Hindi text and speech with Sarvam AI.</a:t>
            </a:r>
            <a:endParaRPr lang="en-US" sz="1200" dirty="0"/>
          </a:p>
        </p:txBody>
      </p:sp>
      <p:sp>
        <p:nvSpPr>
          <p:cNvPr id="60" name="Text 47"/>
          <p:cNvSpPr txBox="1"/>
          <p:nvPr/>
        </p:nvSpPr>
        <p:spPr>
          <a:xfrm>
            <a:off x="6940296" y="53492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Multi-seller rollout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Many sellers and outlets on one platform.</a:t>
            </a:r>
            <a:endParaRPr lang="en-US" sz="1200" dirty="0"/>
          </a:p>
        </p:txBody>
      </p:sp>
      <p:sp>
        <p:nvSpPr>
          <p:cNvPr id="61" name="Text 48"/>
          <p:cNvSpPr txBox="1"/>
          <p:nvPr/>
        </p:nvSpPr>
        <p:spPr>
          <a:xfrm>
            <a:off x="9336024" y="53492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Live alerts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Notify the owner when a new batch shows a defect pattern.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05   RESEARCH AND REFERENCES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Research and References</a:t>
            </a:r>
            <a:endParaRPr lang="en-US" sz="2800" dirty="0"/>
          </a:p>
        </p:txBody>
      </p:sp>
      <p:sp>
        <p:nvSpPr>
          <p:cNvPr id="4" name="Findings card"/>
          <p:cNvSpPr/>
          <p:nvPr/>
        </p:nvSpPr>
        <p:spPr>
          <a:xfrm>
            <a:off x="457200" y="1325880"/>
            <a:ext cx="3931920" cy="2514600"/>
          </a:xfrm>
          <a:prstGeom prst="roundRect">
            <a:avLst>
              <a:gd name="adj" fmla="val 2909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Label"/>
          <p:cNvSpPr txBox="1"/>
          <p:nvPr/>
        </p:nvSpPr>
        <p:spPr>
          <a:xfrm>
            <a:off x="640080" y="14356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RESEARCH FINDINGS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19072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chemeClr val="tx2"/>
                </a:solidFill>
              </a:rPr>
              <a:t>Gap: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complaint tools and payment tools sit apart; none links reviews to batches and suppliers.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chemeClr val="tx2"/>
                </a:solidFill>
              </a:rPr>
              <a:t>Test-based proof: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every cause is checked against alternatives before it is named.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chemeClr val="tx2"/>
                </a:solidFill>
              </a:rPr>
              <a:t>Trust: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customers are told early; failed payments are refunded, not ignored.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chemeClr val="tx2"/>
                </a:solidFill>
              </a:rPr>
              <a:t>Method: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build the graph, test each suspect, keep the path that survives.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chemeClr val="tx2"/>
                </a:solidFill>
              </a:rPr>
              <a:t>Why a graph: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links across sources are the evidence; flat tables cannot show them.</a:t>
            </a:r>
            <a:endParaRPr lang="en-US" sz="1050" dirty="0"/>
          </a:p>
        </p:txBody>
      </p:sp>
      <p:sp>
        <p:nvSpPr>
          <p:cNvPr id="7" name="Chart card"/>
          <p:cNvSpPr/>
          <p:nvPr/>
        </p:nvSpPr>
        <p:spPr>
          <a:xfrm>
            <a:off x="4572000" y="1325880"/>
            <a:ext cx="3108960" cy="2514600"/>
          </a:xfrm>
          <a:prstGeom prst="roundRect">
            <a:avLst>
              <a:gd name="adj" fmla="val 2909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8" name="Chart 0" descr=""/>
          <p:cNvGraphicFramePr/>
          <p:nvPr/>
        </p:nvGraphicFramePr>
        <p:xfrm>
          <a:off x="4663440" y="1371600"/>
          <a:ext cx="292608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1325880"/>
          <a:ext cx="386791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245059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 causes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before tests, 2 after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Suspects rejected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(firmware, sale, courier)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B-207, high confidence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flow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of 5 steps OK, callback broken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 / sample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ferences card"/>
          <p:cNvSpPr/>
          <p:nvPr/>
        </p:nvSpPr>
        <p:spPr>
          <a:xfrm>
            <a:off x="457200" y="4023360"/>
            <a:ext cx="5577840" cy="228600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Label"/>
          <p:cNvSpPr txBox="1"/>
          <p:nvPr/>
        </p:nvSpPr>
        <p:spPr>
          <a:xfrm>
            <a:off x="640080" y="413308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KEY REFERENCES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4407408"/>
            <a:ext cx="5212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Hogan et al. (2021) - Knowledge Graphs, ACM Computing Surveys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Hagberg, Schult &amp; Swart (2008) - NetworkX, SciPy Conference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Pearl (2009) - Causality, Cambridge University Press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Ohno (1988) - Toyota Production System (root-cause, 5 Whys)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Sarvam AI - API documentation (docs.sarvam.ai)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Twilio - API documentation (twilio.com/docs)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Streamlit - documentation (docs.streamlit.io)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590702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GIT REPO: </a:t>
            </a:r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[add link]        </a:t>
            </a:r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DEPLOYMENT: </a:t>
            </a:r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[add link]</a:t>
            </a:r>
            <a:endParaRPr lang="en-US" sz="1050" dirty="0"/>
          </a:p>
        </p:txBody>
      </p:sp>
      <p:sp>
        <p:nvSpPr>
          <p:cNvPr id="14" name="Demo card"/>
          <p:cNvSpPr/>
          <p:nvPr/>
        </p:nvSpPr>
        <p:spPr>
          <a:xfrm>
            <a:off x="6217920" y="4023360"/>
            <a:ext cx="5513832" cy="2286000"/>
          </a:xfrm>
          <a:prstGeom prst="roundRect">
            <a:avLst>
              <a:gd name="adj" fmla="val 32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400800" y="41330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DEMO CASE &amp; LIMITS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6400800" y="4425696"/>
            <a:ext cx="5166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accent2"/>
                </a:solidFill>
              </a:rPr>
              <a:t>Demo case: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a defective earbud batch (B-207) traced from reviews to supplier; 3 suspects rejected.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accent2"/>
                </a:solidFill>
              </a:rPr>
              <a:t>Honest limits: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demo uses sample data; live company data, Sarvam and Twilio hookups are next steps.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accent2"/>
                </a:solidFill>
              </a:rPr>
              <a:t>Human in the loop: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the owner approves every hold, refund or recall.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accent2"/>
                </a:solidFill>
              </a:rPr>
              <a:t>Evidence rule: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no cause is named without a path from review to supplier.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accent2"/>
                </a:solidFill>
              </a:rPr>
              <a:t>Next experiment: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a short pilot on real orders and reviews to measure time to root cause.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useGraph Business">
  <a:themeElements>
    <a:clrScheme name="CauseGraph Business">
      <a:dk1>
        <a:srgbClr val="0B1020"/>
      </a:dk1>
      <a:lt1>
        <a:srgbClr val="FFFFFF"/>
      </a:lt1>
      <a:dk2>
        <a:srgbClr val="0B1F3A"/>
      </a:dk2>
      <a:lt2>
        <a:srgbClr val="F3F6FA"/>
      </a:lt2>
      <a:accent1>
        <a:srgbClr val="0F766E"/>
      </a:accent1>
      <a:accent2>
        <a:srgbClr val="F59E0B"/>
      </a:accent2>
      <a:accent3>
        <a:srgbClr val="DC2626"/>
      </a:accent3>
      <a:accent4>
        <a:srgbClr val="2563EB"/>
      </a:accent4>
      <a:accent5>
        <a:srgbClr val="7C3AED"/>
      </a:accent5>
      <a:accent6>
        <a:srgbClr val="64748B"/>
      </a:accent6>
      <a:hlink>
        <a:srgbClr val="2563EB"/>
      </a:hlink>
      <a:folHlink>
        <a:srgbClr val="7C3AED"/>
      </a:folHlink>
    </a:clrScheme>
    <a:fontScheme name="CauseGraph Busines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CauseGraph - Business Pitch</dc:title>
  <dc:subject>PptxGenJS Presentation</dc:subject>
  <dc:creator>CauseGraph team</dc:creator>
  <cp:lastModifiedBy>CauseGraph team</cp:lastModifiedBy>
  <cp:revision>1</cp:revision>
  <dcterms:created xsi:type="dcterms:W3CDTF">2026-10-31T08:19:49Z</dcterms:created>
  <dcterms:modified xsi:type="dcterms:W3CDTF">2026-10-31T08:19:49Z</dcterms:modified>
</cp:coreProperties>
</file>