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61b8bd-dcf7-a7b9-090b-db6511ebc454}">
          <p14:sldIdLst>
            <p14:sldId id="256"/>
          </p14:sldIdLst>
        </p14:section>
        <p14:section name="Problem and solution" id="{6bfe748e-ec9f-3924-b42d-8926069bde73}">
          <p14:sldIdLst>
            <p14:sldId id="257"/>
            <p14:sldId id="258"/>
          </p14:sldIdLst>
        </p14:section>
        <p14:section name="Core" id="{73bbb3c8-6ea6-57b4-7a1b-6400f59c2b0a}">
          <p14:sldIdLst>
            <p14:sldId id="259"/>
            <p14:sldId id="260"/>
          </p14:sldIdLst>
        </p14:section>
        <p14:section name="Process and proof" id="{49e9f23e-eb5b-58eb-7298-84a84e2f7cb1}">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RecoverIQ is a customer experience recovery platform, not another sentiment dashboard. The graph on the right previews the core idea: customer signals are linked to operational data, and an investigation layer sits on top. Everything shown is a prototype with synthetic data, and recovery actions are simulated. Be ready to explain: signal -&gt; graph -&gt; evidence -&gt; approved action -&gt; KPI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incidents show up first as scattered complaints. Each complaint alone looks like a one-off. The evidence that explains them lives in transaction, order, release and gateway data that support teams never see together. Existing sentiment dashboards tell you customers are unhappy; they do not tell you why, who deserves a refund, or whether the fix worked. These five complaints are illustrative demo examples, not real customer testimonials.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stages form a loop, not a pipeline: after an action the platform keeps watching new signals. MiniLM (all-MiniLM-L6-v2, pretrained, 384-dimensional embeddings) plus Logistic Regression classifies feedback; HDBSCAN finds clusters without a preset count. Root Cause Court: the LLM may propose hypotheses and explain evidence, but five evidence tests set each verdict. If evidence is missing the verdict is Untested, never Rejected. We do not claim a confirmed root cause in the illustrative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differentiator. 17 node types in three groups: customer signals, operational context, and the investigation and recovery layer. Edges carry meaning: Customer submitted Feedback; Feedback references Transaction; Transaction processed through Gateway; Feedback belongs to Complaint Cluster; Cluster contributes to Incident; Incident associated with Release; Hypothesis supported by Evidence; Approval authorises Recovery Action; Recovery Action measured by KPI Result. Graph is built and traversed in Python with NetworkX (not a graph database; no Neo4j), persisted in MySQL and drawn with React Flow. The screenshot is a reference explorer UI; a graph link is association, never proof of causality.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React talks only to Node.js. Node.js calls the Python intelligence service and owns every database write. Python gets controlled read access to build the graph and run analytics. The graph is NetworkX in Python (not a graph database), persisted in MySQL and rendered with React Flow. MySQL 8.4 is used locally; TiDB is the target and still needs validation. The LLM (Groq, OpenAI-compatible API, provisional Qwen model) helps with language, hypotheses and evidence interpretation only. Recovery is deterministic eligibility, human approval, simulated action and KPI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B2B is the buyer: enterprise CX, payments and operations teams who connect their data, see incidents with evidence, approve recovery and watch KPIs. B2C is the end customer: they complain, their transaction and order state is checked, and they only get a refund when eligible. Not every complaint should become a refund: the six payment states (captured with no order, pending, reversed, successful order, reversal overdue, failed before capture) are checked by deterministic rules first. Both journeys share the same graph and the same evidence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recorded synthetic prototype results, not production accuracy. 7/7 scorecard checks passed; incident precision and recall 1.0; hypothesis verdict accuracy 1.0; synthetic detection delay 54 hours; refund recommendation precision 1.0 and recall 0.8; no ineligible refunds. The ML experiment is modest (macro-F1 0.45 vs 0.40 TF-IDF) and its 183 labels were LLM-generated, not human-verified. We make no ROI, revenue or customer-count claims. Close with the business message: faster, evidence-backed, human-approved recovery whose results are verified with KPIs.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1672"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chemeClr val="tx2"/>
                </a:solidFill>
              </a:rPr>
              <a:t>RecoverIQ  |  From Customer Signals to Verified Recovery</a:t>
            </a:r>
            <a:endParaRPr lang="en-US" sz="10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RecoverIQ logo mark">    </p:cNvPr>
          <p:cNvPicPr>
            <a:picLocks noChangeAspect="1"/>
          </p:cNvPicPr>
          <p:nvPr/>
        </p:nvPicPr>
        <p:blipFill>
          <a:blip r:embed="rId1"/>
          <a:stretch>
            <a:fillRect/>
          </a:stretch>
        </p:blipFill>
        <p:spPr>
          <a:xfrm>
            <a:off x="731520" y="868680"/>
            <a:ext cx="1188720" cy="1188720"/>
          </a:xfrm>
          <a:prstGeom prst="rect">
            <a:avLst/>
          </a:prstGeom>
        </p:spPr>
      </p:pic>
      <p:sp>
        <p:nvSpPr>
          <p:cNvPr id="3" name="Text 0"/>
          <p:cNvSpPr txBox="1"/>
          <p:nvPr/>
        </p:nvSpPr>
        <p:spPr>
          <a:xfrm>
            <a:off x="731520" y="2286000"/>
            <a:ext cx="5852160" cy="868680"/>
          </a:xfrm>
          <a:prstGeom prst="rect">
            <a:avLst/>
          </a:prstGeom>
          <a:noFill/>
          <a:ln/>
        </p:spPr>
        <p:txBody>
          <a:bodyPr wrap="square" lIns="0" tIns="0" rIns="0" bIns="0" rtlCol="0" anchor="t"/>
          <a:lstStyle/>
          <a:p>
            <a:pPr algn="l" indent="0" marL="0">
              <a:buNone/>
            </a:pPr>
            <a:r>
              <a:rPr lang="en-US" sz="5600" b="1" dirty="0">
                <a:solidFill>
                  <a:schemeClr val="tx1"/>
                </a:solidFill>
              </a:rPr>
              <a:t>RecoverIQ</a:t>
            </a:r>
            <a:endParaRPr lang="en-US" sz="5600" dirty="0"/>
          </a:p>
        </p:txBody>
      </p:sp>
      <p:sp>
        <p:nvSpPr>
          <p:cNvPr id="4" name="Text 1"/>
          <p:cNvSpPr txBox="1"/>
          <p:nvPr/>
        </p:nvSpPr>
        <p:spPr>
          <a:xfrm>
            <a:off x="731520" y="3200400"/>
            <a:ext cx="5943600" cy="411480"/>
          </a:xfrm>
          <a:prstGeom prst="rect">
            <a:avLst/>
          </a:prstGeom>
          <a:noFill/>
          <a:ln/>
        </p:spPr>
        <p:txBody>
          <a:bodyPr wrap="square" lIns="0" tIns="0" rIns="0" bIns="0" rtlCol="0" anchor="t"/>
          <a:lstStyle/>
          <a:p>
            <a:pPr algn="l" indent="0" marL="0">
              <a:buNone/>
            </a:pPr>
            <a:r>
              <a:rPr lang="en-US" sz="2400" b="1" dirty="0">
                <a:solidFill>
                  <a:schemeClr val="accent1"/>
                </a:solidFill>
              </a:rPr>
              <a:t>From Customer Signals to Verified Recovery</a:t>
            </a:r>
            <a:endParaRPr lang="en-US" sz="2400" dirty="0"/>
          </a:p>
        </p:txBody>
      </p:sp>
      <p:sp>
        <p:nvSpPr>
          <p:cNvPr id="5" name="Text 2"/>
          <p:cNvSpPr txBox="1"/>
          <p:nvPr/>
        </p:nvSpPr>
        <p:spPr>
          <a:xfrm>
            <a:off x="731520" y="3840480"/>
            <a:ext cx="5577840" cy="1097280"/>
          </a:xfrm>
          <a:prstGeom prst="rect">
            <a:avLst/>
          </a:prstGeom>
          <a:noFill/>
          <a:ln/>
        </p:spPr>
        <p:txBody>
          <a:bodyPr wrap="square" lIns="0" tIns="0" rIns="0" bIns="0" rtlCol="0" anchor="t"/>
          <a:lstStyle/>
          <a:p>
            <a:pPr algn="l" indent="0" marL="0">
              <a:buNone/>
            </a:pPr>
            <a:r>
              <a:rPr lang="en-US" sz="1600" dirty="0">
                <a:solidFill>
                  <a:schemeClr val="tx2"/>
                </a:solidFill>
              </a:rPr>
              <a:t>An AI-assisted, Knowledge Graph-powered platform that links complaints to operational evidence, finds the likely cause, and verifies the recovery with KPIs.</a:t>
            </a:r>
            <a:endParaRPr lang="en-US" sz="1600" dirty="0"/>
          </a:p>
        </p:txBody>
      </p:sp>
      <p:sp>
        <p:nvSpPr>
          <p:cNvPr id="6" name="Text 3"/>
          <p:cNvSpPr/>
          <p:nvPr/>
        </p:nvSpPr>
        <p:spPr>
          <a:xfrm>
            <a:off x="731520" y="5120640"/>
            <a:ext cx="2103120" cy="347472"/>
          </a:xfrm>
          <a:prstGeom prst="roundRect">
            <a:avLst>
              <a:gd name="adj" fmla="val 21053"/>
            </a:avLst>
          </a:prstGeom>
          <a:solidFill>
            <a:srgbClr val="DDF3F0"/>
          </a:solidFill>
          <a:ln w="12700">
            <a:solidFill>
              <a:srgbClr val="0D9488"/>
            </a:solidFill>
          </a:ln>
        </p:spPr>
        <p:txBody>
          <a:bodyPr wrap="square" lIns="508" tIns="508" rIns="508" bIns="508" rtlCol="0" anchor="ctr"/>
          <a:lstStyle/>
          <a:p>
            <a:pPr algn="ctr" indent="0" marL="0">
              <a:buNone/>
            </a:pPr>
            <a:r>
              <a:rPr lang="en-US" sz="1200" b="1" dirty="0">
                <a:solidFill>
                  <a:schemeClr val="tx1"/>
                </a:solidFill>
              </a:rPr>
              <a:t>Autonomous CX recovery</a:t>
            </a:r>
            <a:endParaRPr lang="en-US" sz="1200" dirty="0"/>
          </a:p>
        </p:txBody>
      </p:sp>
      <p:sp>
        <p:nvSpPr>
          <p:cNvPr id="7" name="Text 4"/>
          <p:cNvSpPr/>
          <p:nvPr/>
        </p:nvSpPr>
        <p:spPr>
          <a:xfrm>
            <a:off x="2971800" y="5120640"/>
            <a:ext cx="1828800" cy="347472"/>
          </a:xfrm>
          <a:prstGeom prst="roundRect">
            <a:avLst>
              <a:gd name="adj" fmla="val 21053"/>
            </a:avLst>
          </a:prstGeom>
          <a:solidFill>
            <a:srgbClr val="ECE9FA"/>
          </a:solidFill>
          <a:ln w="12700">
            <a:solidFill>
              <a:srgbClr val="7C6BD6"/>
            </a:solidFill>
          </a:ln>
        </p:spPr>
        <p:txBody>
          <a:bodyPr wrap="square" lIns="508" tIns="508" rIns="508" bIns="508" rtlCol="0" anchor="ctr"/>
          <a:lstStyle/>
          <a:p>
            <a:pPr algn="ctr" indent="0" marL="0">
              <a:buNone/>
            </a:pPr>
            <a:r>
              <a:rPr lang="en-US" sz="1200" b="1" dirty="0">
                <a:solidFill>
                  <a:schemeClr val="tx1"/>
                </a:solidFill>
              </a:rPr>
              <a:t>Hackathon prototype</a:t>
            </a:r>
            <a:endParaRPr lang="en-US" sz="1200" dirty="0"/>
          </a:p>
        </p:txBody>
      </p:sp>
      <p:sp>
        <p:nvSpPr>
          <p:cNvPr id="8" name="Text 5"/>
          <p:cNvSpPr txBox="1"/>
          <p:nvPr/>
        </p:nvSpPr>
        <p:spPr>
          <a:xfrm>
            <a:off x="731520" y="6172200"/>
            <a:ext cx="5852160" cy="274320"/>
          </a:xfrm>
          <a:prstGeom prst="rect">
            <a:avLst/>
          </a:prstGeom>
          <a:noFill/>
          <a:ln/>
        </p:spPr>
        <p:txBody>
          <a:bodyPr wrap="square" lIns="0" tIns="0" rIns="0" bIns="0" rtlCol="0" anchor="t"/>
          <a:lstStyle/>
          <a:p>
            <a:pPr algn="l" indent="0" marL="0">
              <a:buNone/>
            </a:pPr>
            <a:r>
              <a:rPr lang="en-US" sz="1100" i="1" dirty="0">
                <a:solidFill>
                  <a:schemeClr val="tx2"/>
                </a:solidFill>
              </a:rPr>
              <a:t>Illustrative scenarios and synthetic prototype data. Recovery actions are simulated.</a:t>
            </a:r>
            <a:endParaRPr lang="en-US" sz="1100" dirty="0"/>
          </a:p>
        </p:txBody>
      </p:sp>
      <p:sp>
        <p:nvSpPr>
          <p:cNvPr id="9" name="Shape 6"/>
          <p:cNvSpPr/>
          <p:nvPr/>
        </p:nvSpPr>
        <p:spPr>
          <a:xfrm>
            <a:off x="6766560" y="822960"/>
            <a:ext cx="4873752" cy="5029200"/>
          </a:xfrm>
          <a:prstGeom prst="roundRect">
            <a:avLst>
              <a:gd name="adj" fmla="val 2814"/>
            </a:avLst>
          </a:prstGeom>
          <a:solidFill>
            <a:schemeClr val="bg2"/>
          </a:solidFill>
          <a:ln w="6350">
            <a:solidFill>
              <a:schemeClr val="bg2"/>
            </a:solidFill>
            <a:prstDash val="solid"/>
          </a:ln>
        </p:spPr>
      </p:sp>
      <p:sp>
        <p:nvSpPr>
          <p:cNvPr id="10" name="Shape 7"/>
          <p:cNvSpPr/>
          <p:nvPr/>
        </p:nvSpPr>
        <p:spPr>
          <a:xfrm flipV="1">
            <a:off x="7772400" y="1280160"/>
            <a:ext cx="1645920" cy="640080"/>
          </a:xfrm>
          <a:prstGeom prst="line">
            <a:avLst/>
          </a:prstGeom>
          <a:noFill/>
          <a:ln w="15875">
            <a:solidFill>
              <a:srgbClr val="94A3B8"/>
            </a:solidFill>
            <a:prstDash val="solid"/>
          </a:ln>
        </p:spPr>
      </p:sp>
      <p:sp>
        <p:nvSpPr>
          <p:cNvPr id="11" name="Shape 8"/>
          <p:cNvSpPr/>
          <p:nvPr/>
        </p:nvSpPr>
        <p:spPr>
          <a:xfrm>
            <a:off x="7772400" y="1920240"/>
            <a:ext cx="914400" cy="1097280"/>
          </a:xfrm>
          <a:prstGeom prst="line">
            <a:avLst/>
          </a:prstGeom>
          <a:noFill/>
          <a:ln w="15875">
            <a:solidFill>
              <a:srgbClr val="94A3B8"/>
            </a:solidFill>
            <a:prstDash val="solid"/>
          </a:ln>
        </p:spPr>
      </p:sp>
      <p:sp>
        <p:nvSpPr>
          <p:cNvPr id="12" name="Shape 9"/>
          <p:cNvSpPr/>
          <p:nvPr/>
        </p:nvSpPr>
        <p:spPr>
          <a:xfrm>
            <a:off x="9418320" y="1280160"/>
            <a:ext cx="1280160" cy="1005840"/>
          </a:xfrm>
          <a:prstGeom prst="line">
            <a:avLst/>
          </a:prstGeom>
          <a:noFill/>
          <a:ln w="15875">
            <a:solidFill>
              <a:srgbClr val="94A3B8"/>
            </a:solidFill>
            <a:prstDash val="solid"/>
          </a:ln>
        </p:spPr>
      </p:sp>
      <p:sp>
        <p:nvSpPr>
          <p:cNvPr id="13" name="Shape 10"/>
          <p:cNvSpPr/>
          <p:nvPr/>
        </p:nvSpPr>
        <p:spPr>
          <a:xfrm flipH="1">
            <a:off x="8686800" y="1280160"/>
            <a:ext cx="731520" cy="1737360"/>
          </a:xfrm>
          <a:prstGeom prst="line">
            <a:avLst/>
          </a:prstGeom>
          <a:noFill/>
          <a:ln w="15875">
            <a:solidFill>
              <a:srgbClr val="94A3B8"/>
            </a:solidFill>
            <a:prstDash val="solid"/>
          </a:ln>
        </p:spPr>
      </p:sp>
      <p:sp>
        <p:nvSpPr>
          <p:cNvPr id="14" name="Shape 11"/>
          <p:cNvSpPr/>
          <p:nvPr/>
        </p:nvSpPr>
        <p:spPr>
          <a:xfrm flipH="1">
            <a:off x="10424160" y="2286000"/>
            <a:ext cx="274320" cy="1280160"/>
          </a:xfrm>
          <a:prstGeom prst="line">
            <a:avLst/>
          </a:prstGeom>
          <a:noFill/>
          <a:ln w="15875">
            <a:solidFill>
              <a:srgbClr val="94A3B8"/>
            </a:solidFill>
            <a:prstDash val="solid"/>
          </a:ln>
        </p:spPr>
      </p:sp>
      <p:sp>
        <p:nvSpPr>
          <p:cNvPr id="15" name="Shape 12"/>
          <p:cNvSpPr/>
          <p:nvPr/>
        </p:nvSpPr>
        <p:spPr>
          <a:xfrm>
            <a:off x="8686800" y="3017520"/>
            <a:ext cx="1737360" cy="548640"/>
          </a:xfrm>
          <a:prstGeom prst="line">
            <a:avLst/>
          </a:prstGeom>
          <a:noFill/>
          <a:ln w="15875">
            <a:solidFill>
              <a:srgbClr val="94A3B8"/>
            </a:solidFill>
            <a:prstDash val="solid"/>
          </a:ln>
        </p:spPr>
      </p:sp>
      <p:sp>
        <p:nvSpPr>
          <p:cNvPr id="16" name="Shape 13"/>
          <p:cNvSpPr/>
          <p:nvPr/>
        </p:nvSpPr>
        <p:spPr>
          <a:xfrm flipH="1">
            <a:off x="8961120" y="3566160"/>
            <a:ext cx="1463040" cy="1554480"/>
          </a:xfrm>
          <a:prstGeom prst="line">
            <a:avLst/>
          </a:prstGeom>
          <a:noFill/>
          <a:ln w="15875">
            <a:solidFill>
              <a:srgbClr val="94A3B8"/>
            </a:solidFill>
            <a:prstDash val="solid"/>
          </a:ln>
        </p:spPr>
      </p:sp>
      <p:sp>
        <p:nvSpPr>
          <p:cNvPr id="17" name="Shape 14"/>
          <p:cNvSpPr/>
          <p:nvPr/>
        </p:nvSpPr>
        <p:spPr>
          <a:xfrm>
            <a:off x="10424160" y="3566160"/>
            <a:ext cx="137160" cy="1280160"/>
          </a:xfrm>
          <a:prstGeom prst="line">
            <a:avLst/>
          </a:prstGeom>
          <a:noFill/>
          <a:ln w="15875">
            <a:solidFill>
              <a:srgbClr val="94A3B8"/>
            </a:solidFill>
            <a:prstDash val="solid"/>
          </a:ln>
        </p:spPr>
      </p:sp>
      <p:sp>
        <p:nvSpPr>
          <p:cNvPr id="18" name="Shape 15"/>
          <p:cNvSpPr/>
          <p:nvPr/>
        </p:nvSpPr>
        <p:spPr>
          <a:xfrm>
            <a:off x="7680960" y="4114800"/>
            <a:ext cx="2880360" cy="731520"/>
          </a:xfrm>
          <a:prstGeom prst="line">
            <a:avLst/>
          </a:prstGeom>
          <a:noFill/>
          <a:ln w="15875">
            <a:solidFill>
              <a:srgbClr val="94A3B8"/>
            </a:solidFill>
            <a:prstDash val="solid"/>
          </a:ln>
        </p:spPr>
      </p:sp>
      <p:sp>
        <p:nvSpPr>
          <p:cNvPr id="19" name="Shape 16"/>
          <p:cNvSpPr/>
          <p:nvPr/>
        </p:nvSpPr>
        <p:spPr>
          <a:xfrm flipV="1">
            <a:off x="7680960" y="3017520"/>
            <a:ext cx="1005840" cy="1097280"/>
          </a:xfrm>
          <a:prstGeom prst="line">
            <a:avLst/>
          </a:prstGeom>
          <a:noFill/>
          <a:ln w="15875">
            <a:solidFill>
              <a:srgbClr val="94A3B8"/>
            </a:solidFill>
            <a:prstDash val="solid"/>
          </a:ln>
        </p:spPr>
      </p:sp>
      <p:sp>
        <p:nvSpPr>
          <p:cNvPr id="20" name="Text 17"/>
          <p:cNvSpPr/>
          <p:nvPr/>
        </p:nvSpPr>
        <p:spPr>
          <a:xfrm>
            <a:off x="7132320" y="1709928"/>
            <a:ext cx="1280160" cy="420624"/>
          </a:xfrm>
          <a:prstGeom prst="roundRect">
            <a:avLst>
              <a:gd name="adj" fmla="val 50000"/>
            </a:avLst>
          </a:prstGeom>
          <a:solidFill>
            <a:srgbClr val="DDF3F0"/>
          </a:solidFill>
          <a:ln w="19050">
            <a:solidFill>
              <a:srgbClr val="0D9488"/>
            </a:solidFill>
          </a:ln>
        </p:spPr>
        <p:txBody>
          <a:bodyPr wrap="square" lIns="508" tIns="508" rIns="508" bIns="508" rtlCol="0" anchor="ctr"/>
          <a:lstStyle/>
          <a:p>
            <a:pPr algn="ctr" indent="0" marL="0">
              <a:buNone/>
            </a:pPr>
            <a:r>
              <a:rPr lang="en-US" sz="1200" b="1" dirty="0">
                <a:solidFill>
                  <a:schemeClr val="tx1"/>
                </a:solidFill>
              </a:rPr>
              <a:t>Customer</a:t>
            </a:r>
            <a:endParaRPr lang="en-US" sz="1200" dirty="0"/>
          </a:p>
        </p:txBody>
      </p:sp>
      <p:sp>
        <p:nvSpPr>
          <p:cNvPr id="21" name="Text 18"/>
          <p:cNvSpPr/>
          <p:nvPr/>
        </p:nvSpPr>
        <p:spPr>
          <a:xfrm>
            <a:off x="8823960" y="1069848"/>
            <a:ext cx="1188720" cy="420624"/>
          </a:xfrm>
          <a:prstGeom prst="roundRect">
            <a:avLst>
              <a:gd name="adj" fmla="val 50000"/>
            </a:avLst>
          </a:prstGeom>
          <a:solidFill>
            <a:srgbClr val="DDF3F0"/>
          </a:solidFill>
          <a:ln w="19050">
            <a:solidFill>
              <a:srgbClr val="0D9488"/>
            </a:solidFill>
          </a:ln>
        </p:spPr>
        <p:txBody>
          <a:bodyPr wrap="square" lIns="508" tIns="508" rIns="508" bIns="508" rtlCol="0" anchor="ctr"/>
          <a:lstStyle/>
          <a:p>
            <a:pPr algn="ctr" indent="0" marL="0">
              <a:buNone/>
            </a:pPr>
            <a:r>
              <a:rPr lang="en-US" sz="1200" b="1" dirty="0">
                <a:solidFill>
                  <a:schemeClr val="tx1"/>
                </a:solidFill>
              </a:rPr>
              <a:t>Feedback</a:t>
            </a:r>
            <a:endParaRPr lang="en-US" sz="1200" dirty="0"/>
          </a:p>
        </p:txBody>
      </p:sp>
      <p:sp>
        <p:nvSpPr>
          <p:cNvPr id="22" name="Text 19"/>
          <p:cNvSpPr/>
          <p:nvPr/>
        </p:nvSpPr>
        <p:spPr>
          <a:xfrm>
            <a:off x="9921240" y="2075688"/>
            <a:ext cx="1554480" cy="420624"/>
          </a:xfrm>
          <a:prstGeom prst="roundRect">
            <a:avLst>
              <a:gd name="adj" fmla="val 50000"/>
            </a:avLst>
          </a:prstGeom>
          <a:solidFill>
            <a:srgbClr val="ECE9FA"/>
          </a:solidFill>
          <a:ln w="19050">
            <a:solidFill>
              <a:srgbClr val="7C6BD6"/>
            </a:solidFill>
          </a:ln>
        </p:spPr>
        <p:txBody>
          <a:bodyPr wrap="square" lIns="508" tIns="508" rIns="508" bIns="508" rtlCol="0" anchor="ctr"/>
          <a:lstStyle/>
          <a:p>
            <a:pPr algn="ctr" indent="0" marL="0">
              <a:buNone/>
            </a:pPr>
            <a:r>
              <a:rPr lang="en-US" sz="1200" b="1" dirty="0">
                <a:solidFill>
                  <a:schemeClr val="tx1"/>
                </a:solidFill>
              </a:rPr>
              <a:t>Complaint Cluster</a:t>
            </a:r>
            <a:endParaRPr lang="en-US" sz="1200" dirty="0"/>
          </a:p>
        </p:txBody>
      </p:sp>
      <p:sp>
        <p:nvSpPr>
          <p:cNvPr id="23" name="Text 20"/>
          <p:cNvSpPr/>
          <p:nvPr/>
        </p:nvSpPr>
        <p:spPr>
          <a:xfrm>
            <a:off x="8001000" y="2807208"/>
            <a:ext cx="1371600" cy="420624"/>
          </a:xfrm>
          <a:prstGeom prst="roundRect">
            <a:avLst>
              <a:gd name="adj" fmla="val 50000"/>
            </a:avLst>
          </a:prstGeom>
          <a:solidFill>
            <a:srgbClr val="E3EBFA"/>
          </a:solidFill>
          <a:ln w="19050">
            <a:solidFill>
              <a:srgbClr val="3B6FD8"/>
            </a:solidFill>
          </a:ln>
        </p:spPr>
        <p:txBody>
          <a:bodyPr wrap="square" lIns="508" tIns="508" rIns="508" bIns="508" rtlCol="0" anchor="ctr"/>
          <a:lstStyle/>
          <a:p>
            <a:pPr algn="ctr" indent="0" marL="0">
              <a:buNone/>
            </a:pPr>
            <a:r>
              <a:rPr lang="en-US" sz="1200" b="1" dirty="0">
                <a:solidFill>
                  <a:schemeClr val="tx1"/>
                </a:solidFill>
              </a:rPr>
              <a:t>Transaction</a:t>
            </a:r>
            <a:endParaRPr lang="en-US" sz="1200" dirty="0"/>
          </a:p>
        </p:txBody>
      </p:sp>
      <p:sp>
        <p:nvSpPr>
          <p:cNvPr id="24" name="Text 21"/>
          <p:cNvSpPr/>
          <p:nvPr/>
        </p:nvSpPr>
        <p:spPr>
          <a:xfrm>
            <a:off x="7086600" y="3904488"/>
            <a:ext cx="1188720" cy="420624"/>
          </a:xfrm>
          <a:prstGeom prst="roundRect">
            <a:avLst>
              <a:gd name="adj" fmla="val 50000"/>
            </a:avLst>
          </a:prstGeom>
          <a:solidFill>
            <a:srgbClr val="E3EBFA"/>
          </a:solidFill>
          <a:ln w="19050">
            <a:solidFill>
              <a:srgbClr val="3B6FD8"/>
            </a:solidFill>
          </a:ln>
        </p:spPr>
        <p:txBody>
          <a:bodyPr wrap="square" lIns="508" tIns="508" rIns="508" bIns="508" rtlCol="0" anchor="ctr"/>
          <a:lstStyle/>
          <a:p>
            <a:pPr algn="ctr" indent="0" marL="0">
              <a:buNone/>
            </a:pPr>
            <a:r>
              <a:rPr lang="en-US" sz="1200" b="1" dirty="0">
                <a:solidFill>
                  <a:schemeClr val="tx1"/>
                </a:solidFill>
              </a:rPr>
              <a:t>Evidence</a:t>
            </a:r>
            <a:endParaRPr lang="en-US" sz="1200" dirty="0"/>
          </a:p>
        </p:txBody>
      </p:sp>
      <p:sp>
        <p:nvSpPr>
          <p:cNvPr id="25" name="Text 22"/>
          <p:cNvSpPr/>
          <p:nvPr/>
        </p:nvSpPr>
        <p:spPr>
          <a:xfrm>
            <a:off x="9829800" y="3355848"/>
            <a:ext cx="1188720" cy="420624"/>
          </a:xfrm>
          <a:prstGeom prst="roundRect">
            <a:avLst>
              <a:gd name="adj" fmla="val 50000"/>
            </a:avLst>
          </a:prstGeom>
          <a:solidFill>
            <a:srgbClr val="ECE9FA"/>
          </a:solidFill>
          <a:ln w="19050">
            <a:solidFill>
              <a:srgbClr val="7C6BD6"/>
            </a:solidFill>
          </a:ln>
        </p:spPr>
        <p:txBody>
          <a:bodyPr wrap="square" lIns="508" tIns="508" rIns="508" bIns="508" rtlCol="0" anchor="ctr"/>
          <a:lstStyle/>
          <a:p>
            <a:pPr algn="ctr" indent="0" marL="0">
              <a:buNone/>
            </a:pPr>
            <a:r>
              <a:rPr lang="en-US" sz="1200" b="1" dirty="0">
                <a:solidFill>
                  <a:schemeClr val="tx1"/>
                </a:solidFill>
              </a:rPr>
              <a:t>Incident</a:t>
            </a:r>
            <a:endParaRPr lang="en-US" sz="1200" dirty="0"/>
          </a:p>
        </p:txBody>
      </p:sp>
      <p:sp>
        <p:nvSpPr>
          <p:cNvPr id="26" name="Text 23"/>
          <p:cNvSpPr/>
          <p:nvPr/>
        </p:nvSpPr>
        <p:spPr>
          <a:xfrm>
            <a:off x="8366760" y="4910328"/>
            <a:ext cx="1188720" cy="420624"/>
          </a:xfrm>
          <a:prstGeom prst="roundRect">
            <a:avLst>
              <a:gd name="adj" fmla="val 50000"/>
            </a:avLst>
          </a:prstGeom>
          <a:solidFill>
            <a:srgbClr val="E3EBFA"/>
          </a:solidFill>
          <a:ln w="19050">
            <a:solidFill>
              <a:srgbClr val="3B6FD8"/>
            </a:solidFill>
          </a:ln>
        </p:spPr>
        <p:txBody>
          <a:bodyPr wrap="square" lIns="508" tIns="508" rIns="508" bIns="508" rtlCol="0" anchor="ctr"/>
          <a:lstStyle/>
          <a:p>
            <a:pPr algn="ctr" indent="0" marL="0">
              <a:buNone/>
            </a:pPr>
            <a:r>
              <a:rPr lang="en-US" sz="1200" b="1" dirty="0">
                <a:solidFill>
                  <a:schemeClr val="tx1"/>
                </a:solidFill>
              </a:rPr>
              <a:t>Release</a:t>
            </a:r>
            <a:endParaRPr lang="en-US" sz="1200" dirty="0"/>
          </a:p>
        </p:txBody>
      </p:sp>
      <p:sp>
        <p:nvSpPr>
          <p:cNvPr id="27" name="Text 24"/>
          <p:cNvSpPr/>
          <p:nvPr/>
        </p:nvSpPr>
        <p:spPr>
          <a:xfrm>
            <a:off x="9875520" y="4636008"/>
            <a:ext cx="1371600" cy="420624"/>
          </a:xfrm>
          <a:prstGeom prst="roundRect">
            <a:avLst>
              <a:gd name="adj" fmla="val 50000"/>
            </a:avLst>
          </a:prstGeom>
          <a:solidFill>
            <a:srgbClr val="ECE9FA"/>
          </a:solidFill>
          <a:ln w="19050">
            <a:solidFill>
              <a:srgbClr val="7C6BD6"/>
            </a:solidFill>
          </a:ln>
        </p:spPr>
        <p:txBody>
          <a:bodyPr wrap="square" lIns="508" tIns="508" rIns="508" bIns="508" rtlCol="0" anchor="ctr"/>
          <a:lstStyle/>
          <a:p>
            <a:pPr algn="ctr" indent="0" marL="0">
              <a:buNone/>
            </a:pPr>
            <a:r>
              <a:rPr lang="en-US" sz="1200" b="1" dirty="0">
                <a:solidFill>
                  <a:schemeClr val="tx1"/>
                </a:solidFill>
              </a:rPr>
              <a:t>Hypothesis</a:t>
            </a:r>
            <a:endParaRPr lang="en-US" sz="1200" dirty="0"/>
          </a:p>
        </p:txBody>
      </p:sp>
      <p:sp>
        <p:nvSpPr>
          <p:cNvPr id="28" name="Text 25"/>
          <p:cNvSpPr/>
          <p:nvPr/>
        </p:nvSpPr>
        <p:spPr>
          <a:xfrm>
            <a:off x="6766560" y="5989320"/>
            <a:ext cx="1554480" cy="274320"/>
          </a:xfrm>
          <a:prstGeom prst="roundRect">
            <a:avLst>
              <a:gd name="adj" fmla="val 26667"/>
            </a:avLst>
          </a:prstGeom>
          <a:solidFill>
            <a:srgbClr val="DDF3F0"/>
          </a:solidFill>
          <a:ln w="12700">
            <a:solidFill>
              <a:srgbClr val="0D9488"/>
            </a:solidFill>
          </a:ln>
        </p:spPr>
        <p:txBody>
          <a:bodyPr wrap="square" lIns="508" tIns="508" rIns="508" bIns="508" rtlCol="0" anchor="ctr"/>
          <a:lstStyle/>
          <a:p>
            <a:pPr algn="ctr" indent="0" marL="0">
              <a:buNone/>
            </a:pPr>
            <a:r>
              <a:rPr lang="en-US" sz="1000" dirty="0">
                <a:solidFill>
                  <a:schemeClr val="tx1"/>
                </a:solidFill>
              </a:rPr>
              <a:t>Customer signals</a:t>
            </a:r>
            <a:endParaRPr lang="en-US" sz="1000" dirty="0"/>
          </a:p>
        </p:txBody>
      </p:sp>
      <p:sp>
        <p:nvSpPr>
          <p:cNvPr id="29" name="Text 26"/>
          <p:cNvSpPr/>
          <p:nvPr/>
        </p:nvSpPr>
        <p:spPr>
          <a:xfrm>
            <a:off x="8458200" y="5989320"/>
            <a:ext cx="1554480"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000" dirty="0">
                <a:solidFill>
                  <a:schemeClr val="tx1"/>
                </a:solidFill>
              </a:rPr>
              <a:t>Operational data</a:t>
            </a:r>
            <a:endParaRPr lang="en-US" sz="1000" dirty="0"/>
          </a:p>
        </p:txBody>
      </p:sp>
      <p:sp>
        <p:nvSpPr>
          <p:cNvPr id="30" name="Text 27"/>
          <p:cNvSpPr/>
          <p:nvPr/>
        </p:nvSpPr>
        <p:spPr>
          <a:xfrm>
            <a:off x="10149840" y="5989320"/>
            <a:ext cx="1490472"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000" dirty="0">
                <a:solidFill>
                  <a:schemeClr val="tx1"/>
                </a:solidFill>
              </a:rPr>
              <a:t>Investigation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PROBLEM</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Complaints arrive in pieces; the cause sits elsewhere</a:t>
            </a:r>
            <a:endParaRPr lang="en-US" sz="3000" dirty="0"/>
          </a:p>
        </p:txBody>
      </p:sp>
      <p:sp>
        <p:nvSpPr>
          <p:cNvPr id="4" name="Text 2"/>
          <p:cNvSpPr txBox="1"/>
          <p:nvPr/>
        </p:nvSpPr>
        <p:spPr>
          <a:xfrm>
            <a:off x="548640" y="1481328"/>
            <a:ext cx="5943600" cy="228600"/>
          </a:xfrm>
          <a:prstGeom prst="rect">
            <a:avLst/>
          </a:prstGeom>
          <a:noFill/>
          <a:ln/>
        </p:spPr>
        <p:txBody>
          <a:bodyPr wrap="square" lIns="0" tIns="0" rIns="0" bIns="0" rtlCol="0" anchor="t"/>
          <a:lstStyle/>
          <a:p>
            <a:pPr algn="l" indent="0" marL="0">
              <a:buNone/>
            </a:pPr>
            <a:r>
              <a:rPr lang="en-US" sz="1000" b="1" spc="100" kern="0" dirty="0">
                <a:solidFill>
                  <a:schemeClr val="tx2"/>
                </a:solidFill>
              </a:rPr>
              <a:t>ILLUSTRATIVE DEMO EXAMPLES, NOT REAL TESTIMONIALS</a:t>
            </a:r>
            <a:endParaRPr lang="en-US" sz="1000" dirty="0"/>
          </a:p>
        </p:txBody>
      </p:sp>
      <p:sp>
        <p:nvSpPr>
          <p:cNvPr id="5" name="Shape 3"/>
          <p:cNvSpPr/>
          <p:nvPr/>
        </p:nvSpPr>
        <p:spPr>
          <a:xfrm>
            <a:off x="548640" y="1783080"/>
            <a:ext cx="5852160" cy="713232"/>
          </a:xfrm>
          <a:prstGeom prst="roundRect">
            <a:avLst>
              <a:gd name="adj" fmla="val 10256"/>
            </a:avLst>
          </a:prstGeom>
          <a:solidFill>
            <a:schemeClr val="bg2"/>
          </a:solidFill>
          <a:ln w="6350">
            <a:solidFill>
              <a:schemeClr val="bg2"/>
            </a:solidFill>
            <a:prstDash val="solid"/>
          </a:ln>
        </p:spPr>
      </p:sp>
      <p:sp>
        <p:nvSpPr>
          <p:cNvPr id="6" name="Text 4"/>
          <p:cNvSpPr/>
          <p:nvPr/>
        </p:nvSpPr>
        <p:spPr>
          <a:xfrm>
            <a:off x="713232" y="1956816"/>
            <a:ext cx="365760" cy="365760"/>
          </a:xfrm>
          <a:prstGeom prst="ellipse">
            <a:avLst/>
          </a:prstGeom>
          <a:solidFill>
            <a:srgbClr val="475569"/>
          </a:solidFill>
          <a:ln w="6350">
            <a:solidFill>
              <a:srgbClr val="475569"/>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7" name="Text 5"/>
          <p:cNvSpPr txBox="1"/>
          <p:nvPr/>
        </p:nvSpPr>
        <p:spPr>
          <a:xfrm>
            <a:off x="1261872" y="1783080"/>
            <a:ext cx="4983480" cy="713232"/>
          </a:xfrm>
          <a:prstGeom prst="rect">
            <a:avLst/>
          </a:prstGeom>
          <a:noFill/>
          <a:ln/>
        </p:spPr>
        <p:txBody>
          <a:bodyPr wrap="square" lIns="0" tIns="0" rIns="0" bIns="0" rtlCol="0" anchor="ctr"/>
          <a:lstStyle/>
          <a:p>
            <a:pPr algn="l" indent="0" marL="0">
              <a:buNone/>
            </a:pPr>
            <a:r>
              <a:rPr lang="en-US" sz="1300" dirty="0">
                <a:solidFill>
                  <a:schemeClr val="tx1"/>
                </a:solidFill>
              </a:rPr>
              <a:t>I paid ₹450 through UPI. The amount was deducted, but my order was never placed.</a:t>
            </a:r>
            <a:endParaRPr lang="en-US" sz="1300" dirty="0"/>
          </a:p>
        </p:txBody>
      </p:sp>
      <p:sp>
        <p:nvSpPr>
          <p:cNvPr id="8" name="Shape 6"/>
          <p:cNvSpPr/>
          <p:nvPr/>
        </p:nvSpPr>
        <p:spPr>
          <a:xfrm>
            <a:off x="548640" y="2587752"/>
            <a:ext cx="5852160" cy="713232"/>
          </a:xfrm>
          <a:prstGeom prst="roundRect">
            <a:avLst>
              <a:gd name="adj" fmla="val 10256"/>
            </a:avLst>
          </a:prstGeom>
          <a:solidFill>
            <a:schemeClr val="bg2"/>
          </a:solidFill>
          <a:ln w="6350">
            <a:solidFill>
              <a:schemeClr val="bg2"/>
            </a:solidFill>
            <a:prstDash val="solid"/>
          </a:ln>
        </p:spPr>
      </p:sp>
      <p:sp>
        <p:nvSpPr>
          <p:cNvPr id="9" name="Text 7"/>
          <p:cNvSpPr/>
          <p:nvPr/>
        </p:nvSpPr>
        <p:spPr>
          <a:xfrm>
            <a:off x="713232" y="2761488"/>
            <a:ext cx="365760" cy="365760"/>
          </a:xfrm>
          <a:prstGeom prst="ellipse">
            <a:avLst/>
          </a:prstGeom>
          <a:solidFill>
            <a:srgbClr val="475569"/>
          </a:solidFill>
          <a:ln w="6350">
            <a:solidFill>
              <a:srgbClr val="475569"/>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10" name="Text 8"/>
          <p:cNvSpPr txBox="1"/>
          <p:nvPr/>
        </p:nvSpPr>
        <p:spPr>
          <a:xfrm>
            <a:off x="1261872" y="2587752"/>
            <a:ext cx="4983480" cy="713232"/>
          </a:xfrm>
          <a:prstGeom prst="rect">
            <a:avLst/>
          </a:prstGeom>
          <a:noFill/>
          <a:ln/>
        </p:spPr>
        <p:txBody>
          <a:bodyPr wrap="square" lIns="0" tIns="0" rIns="0" bIns="0" rtlCol="0" anchor="ctr"/>
          <a:lstStyle/>
          <a:p>
            <a:pPr algn="l" indent="0" marL="0">
              <a:buNone/>
            </a:pPr>
            <a:r>
              <a:rPr lang="en-US" sz="1300" dirty="0">
                <a:solidFill>
                  <a:schemeClr val="tx1"/>
                </a:solidFill>
              </a:rPr>
              <a:t>Money debited from my bank, but the application shows payment failed.</a:t>
            </a:r>
            <a:endParaRPr lang="en-US" sz="1300" dirty="0"/>
          </a:p>
        </p:txBody>
      </p:sp>
      <p:sp>
        <p:nvSpPr>
          <p:cNvPr id="11" name="Shape 9"/>
          <p:cNvSpPr/>
          <p:nvPr/>
        </p:nvSpPr>
        <p:spPr>
          <a:xfrm>
            <a:off x="548640" y="3392424"/>
            <a:ext cx="5852160" cy="713232"/>
          </a:xfrm>
          <a:prstGeom prst="roundRect">
            <a:avLst>
              <a:gd name="adj" fmla="val 10256"/>
            </a:avLst>
          </a:prstGeom>
          <a:solidFill>
            <a:schemeClr val="bg2"/>
          </a:solidFill>
          <a:ln w="6350">
            <a:solidFill>
              <a:schemeClr val="bg2"/>
            </a:solidFill>
            <a:prstDash val="solid"/>
          </a:ln>
        </p:spPr>
      </p:sp>
      <p:sp>
        <p:nvSpPr>
          <p:cNvPr id="12" name="Text 10"/>
          <p:cNvSpPr/>
          <p:nvPr/>
        </p:nvSpPr>
        <p:spPr>
          <a:xfrm>
            <a:off x="713232" y="3566160"/>
            <a:ext cx="365760" cy="365760"/>
          </a:xfrm>
          <a:prstGeom prst="ellipse">
            <a:avLst/>
          </a:prstGeom>
          <a:solidFill>
            <a:srgbClr val="475569"/>
          </a:solidFill>
          <a:ln w="6350">
            <a:solidFill>
              <a:srgbClr val="475569"/>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13" name="Text 11"/>
          <p:cNvSpPr txBox="1"/>
          <p:nvPr/>
        </p:nvSpPr>
        <p:spPr>
          <a:xfrm>
            <a:off x="1261872" y="3392424"/>
            <a:ext cx="4983480" cy="713232"/>
          </a:xfrm>
          <a:prstGeom prst="rect">
            <a:avLst/>
          </a:prstGeom>
          <a:noFill/>
          <a:ln/>
        </p:spPr>
        <p:txBody>
          <a:bodyPr wrap="square" lIns="0" tIns="0" rIns="0" bIns="0" rtlCol="0" anchor="ctr"/>
          <a:lstStyle/>
          <a:p>
            <a:pPr algn="l" indent="0" marL="0">
              <a:buNone/>
            </a:pPr>
            <a:r>
              <a:rPr lang="en-US" sz="1300" dirty="0">
                <a:solidFill>
                  <a:schemeClr val="tx1"/>
                </a:solidFill>
              </a:rPr>
              <a:t>Three orders failed today. Every time, the amount was deducted.</a:t>
            </a:r>
            <a:endParaRPr lang="en-US" sz="1300" dirty="0"/>
          </a:p>
        </p:txBody>
      </p:sp>
      <p:sp>
        <p:nvSpPr>
          <p:cNvPr id="14" name="Shape 12"/>
          <p:cNvSpPr/>
          <p:nvPr/>
        </p:nvSpPr>
        <p:spPr>
          <a:xfrm>
            <a:off x="548640" y="4197096"/>
            <a:ext cx="5852160" cy="713232"/>
          </a:xfrm>
          <a:prstGeom prst="roundRect">
            <a:avLst>
              <a:gd name="adj" fmla="val 10256"/>
            </a:avLst>
          </a:prstGeom>
          <a:solidFill>
            <a:schemeClr val="bg2"/>
          </a:solidFill>
          <a:ln w="6350">
            <a:solidFill>
              <a:schemeClr val="bg2"/>
            </a:solidFill>
            <a:prstDash val="solid"/>
          </a:ln>
        </p:spPr>
      </p:sp>
      <p:sp>
        <p:nvSpPr>
          <p:cNvPr id="15" name="Text 13"/>
          <p:cNvSpPr/>
          <p:nvPr/>
        </p:nvSpPr>
        <p:spPr>
          <a:xfrm>
            <a:off x="713232" y="4370832"/>
            <a:ext cx="365760" cy="365760"/>
          </a:xfrm>
          <a:prstGeom prst="ellipse">
            <a:avLst/>
          </a:prstGeom>
          <a:solidFill>
            <a:srgbClr val="475569"/>
          </a:solidFill>
          <a:ln w="6350">
            <a:solidFill>
              <a:srgbClr val="475569"/>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16" name="Text 14"/>
          <p:cNvSpPr txBox="1"/>
          <p:nvPr/>
        </p:nvSpPr>
        <p:spPr>
          <a:xfrm>
            <a:off x="1261872" y="4197096"/>
            <a:ext cx="4983480" cy="713232"/>
          </a:xfrm>
          <a:prstGeom prst="rect">
            <a:avLst/>
          </a:prstGeom>
          <a:noFill/>
          <a:ln/>
        </p:spPr>
        <p:txBody>
          <a:bodyPr wrap="square" lIns="0" tIns="0" rIns="0" bIns="0" rtlCol="0" anchor="ctr"/>
          <a:lstStyle/>
          <a:p>
            <a:pPr algn="l" indent="0" marL="0">
              <a:buNone/>
            </a:pPr>
            <a:r>
              <a:rPr lang="en-US" sz="1300" dirty="0">
                <a:solidFill>
                  <a:schemeClr val="tx1"/>
                </a:solidFill>
              </a:rPr>
              <a:t>My payment is pending for more than an hour.</a:t>
            </a:r>
            <a:endParaRPr lang="en-US" sz="1300" dirty="0"/>
          </a:p>
        </p:txBody>
      </p:sp>
      <p:sp>
        <p:nvSpPr>
          <p:cNvPr id="17" name="Shape 15"/>
          <p:cNvSpPr/>
          <p:nvPr/>
        </p:nvSpPr>
        <p:spPr>
          <a:xfrm>
            <a:off x="548640" y="5001768"/>
            <a:ext cx="5852160" cy="713232"/>
          </a:xfrm>
          <a:prstGeom prst="roundRect">
            <a:avLst>
              <a:gd name="adj" fmla="val 10256"/>
            </a:avLst>
          </a:prstGeom>
          <a:solidFill>
            <a:schemeClr val="bg2"/>
          </a:solidFill>
          <a:ln w="6350">
            <a:solidFill>
              <a:schemeClr val="bg2"/>
            </a:solidFill>
            <a:prstDash val="solid"/>
          </a:ln>
        </p:spPr>
      </p:sp>
      <p:sp>
        <p:nvSpPr>
          <p:cNvPr id="18" name="Text 16"/>
          <p:cNvSpPr/>
          <p:nvPr/>
        </p:nvSpPr>
        <p:spPr>
          <a:xfrm>
            <a:off x="713232" y="5175504"/>
            <a:ext cx="365760" cy="365760"/>
          </a:xfrm>
          <a:prstGeom prst="ellipse">
            <a:avLst/>
          </a:prstGeom>
          <a:solidFill>
            <a:srgbClr val="475569"/>
          </a:solidFill>
          <a:ln w="6350">
            <a:solidFill>
              <a:srgbClr val="475569"/>
            </a:solidFill>
          </a:ln>
        </p:spPr>
        <p:txBody>
          <a:bodyPr wrap="square" lIns="0" tIns="0" rIns="0" bIns="0" rtlCol="0" anchor="ctr"/>
          <a:lstStyle/>
          <a:p>
            <a:pPr algn="ctr" indent="0" marL="0">
              <a:buNone/>
            </a:pPr>
            <a:r>
              <a:rPr lang="en-US" sz="1300" b="1" dirty="0">
                <a:solidFill>
                  <a:schemeClr val="bg1"/>
                </a:solidFill>
              </a:rPr>
              <a:t>E</a:t>
            </a:r>
            <a:endParaRPr lang="en-US" sz="1300" dirty="0"/>
          </a:p>
        </p:txBody>
      </p:sp>
      <p:sp>
        <p:nvSpPr>
          <p:cNvPr id="19" name="Text 17"/>
          <p:cNvSpPr txBox="1"/>
          <p:nvPr/>
        </p:nvSpPr>
        <p:spPr>
          <a:xfrm>
            <a:off x="1261872" y="5001768"/>
            <a:ext cx="4983480" cy="713232"/>
          </a:xfrm>
          <a:prstGeom prst="rect">
            <a:avLst/>
          </a:prstGeom>
          <a:noFill/>
          <a:ln/>
        </p:spPr>
        <p:txBody>
          <a:bodyPr wrap="square" lIns="0" tIns="0" rIns="0" bIns="0" rtlCol="0" anchor="ctr"/>
          <a:lstStyle/>
          <a:p>
            <a:pPr algn="l" indent="0" marL="0">
              <a:buNone/>
            </a:pPr>
            <a:r>
              <a:rPr lang="en-US" sz="1300" dirty="0">
                <a:solidFill>
                  <a:schemeClr val="tx1"/>
                </a:solidFill>
              </a:rPr>
              <a:t>The application updated yesterday. Since then, payments are failing.</a:t>
            </a:r>
            <a:endParaRPr lang="en-US" sz="1300" dirty="0"/>
          </a:p>
        </p:txBody>
      </p:sp>
      <p:sp>
        <p:nvSpPr>
          <p:cNvPr id="20" name="Text 18"/>
          <p:cNvSpPr txBox="1"/>
          <p:nvPr/>
        </p:nvSpPr>
        <p:spPr>
          <a:xfrm>
            <a:off x="6858000" y="1481328"/>
            <a:ext cx="4572000" cy="228600"/>
          </a:xfrm>
          <a:prstGeom prst="rect">
            <a:avLst/>
          </a:prstGeom>
          <a:noFill/>
          <a:ln/>
        </p:spPr>
        <p:txBody>
          <a:bodyPr wrap="square" lIns="0" tIns="0" rIns="0" bIns="0" rtlCol="0" anchor="t"/>
          <a:lstStyle/>
          <a:p>
            <a:pPr algn="l" indent="0" marL="0">
              <a:buNone/>
            </a:pPr>
            <a:r>
              <a:rPr lang="en-US" sz="1000" b="1" spc="100" kern="0" dirty="0">
                <a:solidFill>
                  <a:schemeClr val="tx2"/>
                </a:solidFill>
              </a:rPr>
              <a:t>WHERE TODAY'S TOOLS BREAK</a:t>
            </a:r>
            <a:endParaRPr lang="en-US" sz="1000" dirty="0"/>
          </a:p>
        </p:txBody>
      </p:sp>
      <p:sp>
        <p:nvSpPr>
          <p:cNvPr id="21" name="Shape 19"/>
          <p:cNvSpPr/>
          <p:nvPr/>
        </p:nvSpPr>
        <p:spPr>
          <a:xfrm>
            <a:off x="6858000" y="1783080"/>
            <a:ext cx="4782312" cy="914400"/>
          </a:xfrm>
          <a:prstGeom prst="roundRect">
            <a:avLst>
              <a:gd name="adj" fmla="val 8000"/>
            </a:avLst>
          </a:prstGeom>
          <a:solidFill>
            <a:schemeClr val="bg1"/>
          </a:solidFill>
          <a:ln w="12700">
            <a:solidFill>
              <a:srgbClr val="CBD5E1"/>
            </a:solidFill>
            <a:prstDash val="solid"/>
          </a:ln>
        </p:spPr>
      </p:sp>
      <p:sp>
        <p:nvSpPr>
          <p:cNvPr id="22" name="Shape 20"/>
          <p:cNvSpPr/>
          <p:nvPr/>
        </p:nvSpPr>
        <p:spPr>
          <a:xfrm>
            <a:off x="7040880" y="2011680"/>
            <a:ext cx="457200" cy="457200"/>
          </a:xfrm>
          <a:prstGeom prst="ellipse">
            <a:avLst/>
          </a:prstGeom>
          <a:solidFill>
            <a:schemeClr val="bg2"/>
          </a:solidFill>
          <a:ln w="6350">
            <a:solidFill>
              <a:schemeClr val="bg2"/>
            </a:solidFill>
            <a:prstDash val="solid"/>
          </a:ln>
        </p:spPr>
      </p:sp>
      <p:pic>
        <p:nvPicPr>
          <p:cNvPr id="23" name="Image 0" descr="Fragmented signals">    </p:cNvPr>
          <p:cNvPicPr>
            <a:picLocks noChangeAspect="1"/>
          </p:cNvPicPr>
          <p:nvPr/>
        </p:nvPicPr>
        <p:blipFill>
          <a:blip r:embed="rId1"/>
          <a:stretch>
            <a:fillRect/>
          </a:stretch>
        </p:blipFill>
        <p:spPr>
          <a:xfrm>
            <a:off x="7150608" y="2121408"/>
            <a:ext cx="237744" cy="237744"/>
          </a:xfrm>
          <a:prstGeom prst="rect">
            <a:avLst/>
          </a:prstGeom>
        </p:spPr>
      </p:pic>
      <p:sp>
        <p:nvSpPr>
          <p:cNvPr id="24" name="Text 21"/>
          <p:cNvSpPr txBox="1"/>
          <p:nvPr/>
        </p:nvSpPr>
        <p:spPr>
          <a:xfrm>
            <a:off x="7680960" y="1874520"/>
            <a:ext cx="3840480" cy="274320"/>
          </a:xfrm>
          <a:prstGeom prst="rect">
            <a:avLst/>
          </a:prstGeom>
          <a:noFill/>
          <a:ln/>
        </p:spPr>
        <p:txBody>
          <a:bodyPr wrap="square" lIns="0" tIns="0" rIns="0" bIns="0" rtlCol="0" anchor="t"/>
          <a:lstStyle/>
          <a:p>
            <a:pPr algn="l" indent="0" marL="0">
              <a:buNone/>
            </a:pPr>
            <a:r>
              <a:rPr lang="en-US" sz="1500" b="1" dirty="0">
                <a:solidFill>
                  <a:schemeClr val="tx1"/>
                </a:solidFill>
              </a:rPr>
              <a:t>Fragmented signals</a:t>
            </a:r>
            <a:endParaRPr lang="en-US" sz="1500" dirty="0"/>
          </a:p>
        </p:txBody>
      </p:sp>
      <p:sp>
        <p:nvSpPr>
          <p:cNvPr id="25" name="Text 22"/>
          <p:cNvSpPr txBox="1"/>
          <p:nvPr/>
        </p:nvSpPr>
        <p:spPr>
          <a:xfrm>
            <a:off x="7680960" y="2167128"/>
            <a:ext cx="3840480" cy="502920"/>
          </a:xfrm>
          <a:prstGeom prst="rect">
            <a:avLst/>
          </a:prstGeom>
          <a:noFill/>
          <a:ln/>
        </p:spPr>
        <p:txBody>
          <a:bodyPr wrap="square" lIns="0" tIns="0" rIns="0" bIns="0" rtlCol="0" anchor="t"/>
          <a:lstStyle/>
          <a:p>
            <a:pPr algn="l" indent="0" marL="0">
              <a:buNone/>
            </a:pPr>
            <a:r>
              <a:rPr lang="en-US" sz="1200" dirty="0">
                <a:solidFill>
                  <a:schemeClr val="tx2"/>
                </a:solidFill>
              </a:rPr>
              <a:t>Reviews, tickets and forms are read one by one, so related complaints stay unlinked.</a:t>
            </a:r>
            <a:endParaRPr lang="en-US" sz="1200" dirty="0"/>
          </a:p>
        </p:txBody>
      </p:sp>
      <p:sp>
        <p:nvSpPr>
          <p:cNvPr id="26" name="Shape 23"/>
          <p:cNvSpPr/>
          <p:nvPr/>
        </p:nvSpPr>
        <p:spPr>
          <a:xfrm>
            <a:off x="6858000" y="2807208"/>
            <a:ext cx="4782312" cy="914400"/>
          </a:xfrm>
          <a:prstGeom prst="roundRect">
            <a:avLst>
              <a:gd name="adj" fmla="val 8000"/>
            </a:avLst>
          </a:prstGeom>
          <a:solidFill>
            <a:schemeClr val="bg1"/>
          </a:solidFill>
          <a:ln w="12700">
            <a:solidFill>
              <a:srgbClr val="CBD5E1"/>
            </a:solidFill>
            <a:prstDash val="solid"/>
          </a:ln>
        </p:spPr>
      </p:sp>
      <p:sp>
        <p:nvSpPr>
          <p:cNvPr id="27" name="Shape 24"/>
          <p:cNvSpPr/>
          <p:nvPr/>
        </p:nvSpPr>
        <p:spPr>
          <a:xfrm>
            <a:off x="7040880" y="3035808"/>
            <a:ext cx="457200" cy="457200"/>
          </a:xfrm>
          <a:prstGeom prst="ellipse">
            <a:avLst/>
          </a:prstGeom>
          <a:solidFill>
            <a:schemeClr val="bg2"/>
          </a:solidFill>
          <a:ln w="6350">
            <a:solidFill>
              <a:schemeClr val="bg2"/>
            </a:solidFill>
            <a:prstDash val="solid"/>
          </a:ln>
        </p:spPr>
      </p:sp>
      <p:pic>
        <p:nvPicPr>
          <p:cNvPr id="28" name="Image 1" descr="Disconnected evidence">    </p:cNvPr>
          <p:cNvPicPr>
            <a:picLocks noChangeAspect="1"/>
          </p:cNvPicPr>
          <p:nvPr/>
        </p:nvPicPr>
        <p:blipFill>
          <a:blip r:embed="rId2"/>
          <a:stretch>
            <a:fillRect/>
          </a:stretch>
        </p:blipFill>
        <p:spPr>
          <a:xfrm>
            <a:off x="7150608" y="3145536"/>
            <a:ext cx="237744" cy="237744"/>
          </a:xfrm>
          <a:prstGeom prst="rect">
            <a:avLst/>
          </a:prstGeom>
        </p:spPr>
      </p:pic>
      <p:sp>
        <p:nvSpPr>
          <p:cNvPr id="29" name="Text 25"/>
          <p:cNvSpPr txBox="1"/>
          <p:nvPr/>
        </p:nvSpPr>
        <p:spPr>
          <a:xfrm>
            <a:off x="7680960" y="2898648"/>
            <a:ext cx="3840480" cy="274320"/>
          </a:xfrm>
          <a:prstGeom prst="rect">
            <a:avLst/>
          </a:prstGeom>
          <a:noFill/>
          <a:ln/>
        </p:spPr>
        <p:txBody>
          <a:bodyPr wrap="square" lIns="0" tIns="0" rIns="0" bIns="0" rtlCol="0" anchor="t"/>
          <a:lstStyle/>
          <a:p>
            <a:pPr algn="l" indent="0" marL="0">
              <a:buNone/>
            </a:pPr>
            <a:r>
              <a:rPr lang="en-US" sz="1500" b="1" dirty="0">
                <a:solidFill>
                  <a:schemeClr val="tx1"/>
                </a:solidFill>
              </a:rPr>
              <a:t>Disconnected evidence</a:t>
            </a:r>
            <a:endParaRPr lang="en-US" sz="1500" dirty="0"/>
          </a:p>
        </p:txBody>
      </p:sp>
      <p:sp>
        <p:nvSpPr>
          <p:cNvPr id="30" name="Text 26"/>
          <p:cNvSpPr txBox="1"/>
          <p:nvPr/>
        </p:nvSpPr>
        <p:spPr>
          <a:xfrm>
            <a:off x="7680960" y="3191256"/>
            <a:ext cx="3840480" cy="502920"/>
          </a:xfrm>
          <a:prstGeom prst="rect">
            <a:avLst/>
          </a:prstGeom>
          <a:noFill/>
          <a:ln/>
        </p:spPr>
        <p:txBody>
          <a:bodyPr wrap="square" lIns="0" tIns="0" rIns="0" bIns="0" rtlCol="0" anchor="t"/>
          <a:lstStyle/>
          <a:p>
            <a:pPr algn="l" indent="0" marL="0">
              <a:buNone/>
            </a:pPr>
            <a:r>
              <a:rPr lang="en-US" sz="1200" dirty="0">
                <a:solidFill>
                  <a:schemeClr val="tx2"/>
                </a:solidFill>
              </a:rPr>
              <a:t>Transactions, orders, releases and gateway events sit in separate systems.</a:t>
            </a:r>
            <a:endParaRPr lang="en-US" sz="1200" dirty="0"/>
          </a:p>
        </p:txBody>
      </p:sp>
      <p:sp>
        <p:nvSpPr>
          <p:cNvPr id="31" name="Shape 27"/>
          <p:cNvSpPr/>
          <p:nvPr/>
        </p:nvSpPr>
        <p:spPr>
          <a:xfrm>
            <a:off x="6858000" y="3831336"/>
            <a:ext cx="4782312" cy="914400"/>
          </a:xfrm>
          <a:prstGeom prst="roundRect">
            <a:avLst>
              <a:gd name="adj" fmla="val 8000"/>
            </a:avLst>
          </a:prstGeom>
          <a:solidFill>
            <a:schemeClr val="bg1"/>
          </a:solidFill>
          <a:ln w="12700">
            <a:solidFill>
              <a:srgbClr val="CBD5E1"/>
            </a:solidFill>
            <a:prstDash val="solid"/>
          </a:ln>
        </p:spPr>
      </p:sp>
      <p:sp>
        <p:nvSpPr>
          <p:cNvPr id="32" name="Shape 28"/>
          <p:cNvSpPr/>
          <p:nvPr/>
        </p:nvSpPr>
        <p:spPr>
          <a:xfrm>
            <a:off x="7040880" y="4059936"/>
            <a:ext cx="457200" cy="457200"/>
          </a:xfrm>
          <a:prstGeom prst="ellipse">
            <a:avLst/>
          </a:prstGeom>
          <a:solidFill>
            <a:schemeClr val="bg2"/>
          </a:solidFill>
          <a:ln w="6350">
            <a:solidFill>
              <a:schemeClr val="bg2"/>
            </a:solidFill>
            <a:prstDash val="solid"/>
          </a:ln>
        </p:spPr>
      </p:sp>
      <p:pic>
        <p:nvPicPr>
          <p:cNvPr id="33" name="Image 2" descr="Sentiment is not recovery">    </p:cNvPr>
          <p:cNvPicPr>
            <a:picLocks noChangeAspect="1"/>
          </p:cNvPicPr>
          <p:nvPr/>
        </p:nvPicPr>
        <p:blipFill>
          <a:blip r:embed="rId3"/>
          <a:stretch>
            <a:fillRect/>
          </a:stretch>
        </p:blipFill>
        <p:spPr>
          <a:xfrm>
            <a:off x="7150608" y="4169664"/>
            <a:ext cx="237744" cy="237744"/>
          </a:xfrm>
          <a:prstGeom prst="rect">
            <a:avLst/>
          </a:prstGeom>
        </p:spPr>
      </p:pic>
      <p:sp>
        <p:nvSpPr>
          <p:cNvPr id="34" name="Text 29"/>
          <p:cNvSpPr txBox="1"/>
          <p:nvPr/>
        </p:nvSpPr>
        <p:spPr>
          <a:xfrm>
            <a:off x="7680960" y="3922776"/>
            <a:ext cx="3840480" cy="274320"/>
          </a:xfrm>
          <a:prstGeom prst="rect">
            <a:avLst/>
          </a:prstGeom>
          <a:noFill/>
          <a:ln/>
        </p:spPr>
        <p:txBody>
          <a:bodyPr wrap="square" lIns="0" tIns="0" rIns="0" bIns="0" rtlCol="0" anchor="t"/>
          <a:lstStyle/>
          <a:p>
            <a:pPr algn="l" indent="0" marL="0">
              <a:buNone/>
            </a:pPr>
            <a:r>
              <a:rPr lang="en-US" sz="1500" b="1" dirty="0">
                <a:solidFill>
                  <a:schemeClr val="tx1"/>
                </a:solidFill>
              </a:rPr>
              <a:t>Sentiment is not recovery</a:t>
            </a:r>
            <a:endParaRPr lang="en-US" sz="1500" dirty="0"/>
          </a:p>
        </p:txBody>
      </p:sp>
      <p:sp>
        <p:nvSpPr>
          <p:cNvPr id="35" name="Text 30"/>
          <p:cNvSpPr txBox="1"/>
          <p:nvPr/>
        </p:nvSpPr>
        <p:spPr>
          <a:xfrm>
            <a:off x="7680960" y="4215384"/>
            <a:ext cx="3840480" cy="502920"/>
          </a:xfrm>
          <a:prstGeom prst="rect">
            <a:avLst/>
          </a:prstGeom>
          <a:noFill/>
          <a:ln/>
        </p:spPr>
        <p:txBody>
          <a:bodyPr wrap="square" lIns="0" tIns="0" rIns="0" bIns="0" rtlCol="0" anchor="t"/>
          <a:lstStyle/>
          <a:p>
            <a:pPr algn="l" indent="0" marL="0">
              <a:buNone/>
            </a:pPr>
            <a:r>
              <a:rPr lang="en-US" sz="1200" dirty="0">
                <a:solidFill>
                  <a:schemeClr val="tx2"/>
                </a:solidFill>
              </a:rPr>
              <a:t>Dashboards show unhappy customers, not the cause, who is eligible, or whether the fix worked.</a:t>
            </a:r>
            <a:endParaRPr lang="en-US" sz="1200" dirty="0"/>
          </a:p>
        </p:txBody>
      </p:sp>
      <p:sp>
        <p:nvSpPr>
          <p:cNvPr id="36" name="Shape 31"/>
          <p:cNvSpPr/>
          <p:nvPr/>
        </p:nvSpPr>
        <p:spPr>
          <a:xfrm>
            <a:off x="6858000" y="4937760"/>
            <a:ext cx="4782312" cy="777240"/>
          </a:xfrm>
          <a:prstGeom prst="roundRect">
            <a:avLst>
              <a:gd name="adj" fmla="val 9412"/>
            </a:avLst>
          </a:prstGeom>
          <a:solidFill>
            <a:srgbClr val="DDF3F0"/>
          </a:solidFill>
          <a:ln w="15875">
            <a:solidFill>
              <a:srgbClr val="0D9488"/>
            </a:solidFill>
            <a:prstDash val="solid"/>
          </a:ln>
        </p:spPr>
      </p:sp>
      <p:sp>
        <p:nvSpPr>
          <p:cNvPr id="37" name="Text 32"/>
          <p:cNvSpPr txBox="1"/>
          <p:nvPr/>
        </p:nvSpPr>
        <p:spPr>
          <a:xfrm>
            <a:off x="7040880" y="4937760"/>
            <a:ext cx="4434840" cy="777240"/>
          </a:xfrm>
          <a:prstGeom prst="rect">
            <a:avLst/>
          </a:prstGeom>
          <a:noFill/>
          <a:ln/>
        </p:spPr>
        <p:txBody>
          <a:bodyPr wrap="square" lIns="0" tIns="0" rIns="0" bIns="0" rtlCol="0" anchor="ctr"/>
          <a:lstStyle/>
          <a:p>
            <a:pPr algn="l" indent="0" marL="0">
              <a:buNone/>
            </a:pPr>
            <a:r>
              <a:rPr lang="en-US" sz="1500" b="1" dirty="0">
                <a:solidFill>
                  <a:schemeClr val="tx1"/>
                </a:solidFill>
              </a:rPr>
              <a:t>RecoverIQ links the signals, tests the causes, and verifies the recovery.</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SOLUTION</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A closed loop from signal to verified recovery</a:t>
            </a:r>
            <a:endParaRPr lang="en-US" sz="3000" dirty="0"/>
          </a:p>
        </p:txBody>
      </p:sp>
      <p:sp>
        <p:nvSpPr>
          <p:cNvPr id="4" name="Shape 2"/>
          <p:cNvSpPr/>
          <p:nvPr/>
        </p:nvSpPr>
        <p:spPr>
          <a:xfrm>
            <a:off x="548640" y="1508760"/>
            <a:ext cx="1664208" cy="1645920"/>
          </a:xfrm>
          <a:prstGeom prst="roundRect">
            <a:avLst>
              <a:gd name="adj" fmla="val 4444"/>
            </a:avLst>
          </a:prstGeom>
          <a:solidFill>
            <a:schemeClr val="bg1"/>
          </a:solidFill>
          <a:ln w="15875">
            <a:solidFill>
              <a:srgbClr val="0D9488"/>
            </a:solidFill>
            <a:prstDash val="solid"/>
          </a:ln>
        </p:spPr>
      </p:sp>
      <p:sp>
        <p:nvSpPr>
          <p:cNvPr id="5" name="Text 3"/>
          <p:cNvSpPr/>
          <p:nvPr/>
        </p:nvSpPr>
        <p:spPr>
          <a:xfrm>
            <a:off x="676656" y="1636776"/>
            <a:ext cx="310896" cy="310896"/>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4"/>
          <p:cNvSpPr txBox="1"/>
          <p:nvPr/>
        </p:nvSpPr>
        <p:spPr>
          <a:xfrm>
            <a:off x="1060704"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Ingest</a:t>
            </a:r>
            <a:endParaRPr lang="en-US" sz="1400" dirty="0"/>
          </a:p>
        </p:txBody>
      </p:sp>
      <p:sp>
        <p:nvSpPr>
          <p:cNvPr id="7" name="Text 5"/>
          <p:cNvSpPr txBox="1"/>
          <p:nvPr/>
        </p:nvSpPr>
        <p:spPr>
          <a:xfrm>
            <a:off x="676656"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Complaints, tickets and reviews plus transactions and orders.</a:t>
            </a:r>
            <a:endParaRPr lang="en-US" sz="1200" dirty="0"/>
          </a:p>
        </p:txBody>
      </p:sp>
      <p:sp>
        <p:nvSpPr>
          <p:cNvPr id="8" name="Text 6"/>
          <p:cNvSpPr txBox="1"/>
          <p:nvPr/>
        </p:nvSpPr>
        <p:spPr>
          <a:xfrm>
            <a:off x="2212848" y="2011680"/>
            <a:ext cx="201168"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9" name="Shape 7"/>
          <p:cNvSpPr/>
          <p:nvPr/>
        </p:nvSpPr>
        <p:spPr>
          <a:xfrm>
            <a:off x="2414016" y="1508760"/>
            <a:ext cx="1664208" cy="1645920"/>
          </a:xfrm>
          <a:prstGeom prst="roundRect">
            <a:avLst>
              <a:gd name="adj" fmla="val 4444"/>
            </a:avLst>
          </a:prstGeom>
          <a:solidFill>
            <a:schemeClr val="bg1"/>
          </a:solidFill>
          <a:ln w="15875">
            <a:solidFill>
              <a:srgbClr val="0D9488"/>
            </a:solidFill>
            <a:prstDash val="solid"/>
          </a:ln>
        </p:spPr>
      </p:sp>
      <p:sp>
        <p:nvSpPr>
          <p:cNvPr id="10" name="Text 8"/>
          <p:cNvSpPr/>
          <p:nvPr/>
        </p:nvSpPr>
        <p:spPr>
          <a:xfrm>
            <a:off x="2542032" y="1636776"/>
            <a:ext cx="310896" cy="310896"/>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2926080"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Understand</a:t>
            </a:r>
            <a:endParaRPr lang="en-US" sz="1400" dirty="0"/>
          </a:p>
        </p:txBody>
      </p:sp>
      <p:sp>
        <p:nvSpPr>
          <p:cNvPr id="12" name="Text 10"/>
          <p:cNvSpPr txBox="1"/>
          <p:nvPr/>
        </p:nvSpPr>
        <p:spPr>
          <a:xfrm>
            <a:off x="2542032"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MiniLM embeddings, a classifier and HDBSCAN group similar complaints.</a:t>
            </a:r>
            <a:endParaRPr lang="en-US" sz="1200" dirty="0"/>
          </a:p>
        </p:txBody>
      </p:sp>
      <p:sp>
        <p:nvSpPr>
          <p:cNvPr id="13" name="Text 11"/>
          <p:cNvSpPr txBox="1"/>
          <p:nvPr/>
        </p:nvSpPr>
        <p:spPr>
          <a:xfrm>
            <a:off x="4078224" y="2011680"/>
            <a:ext cx="201168"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14" name="Shape 12"/>
          <p:cNvSpPr/>
          <p:nvPr/>
        </p:nvSpPr>
        <p:spPr>
          <a:xfrm>
            <a:off x="4279392" y="1508760"/>
            <a:ext cx="1664208" cy="1645920"/>
          </a:xfrm>
          <a:prstGeom prst="roundRect">
            <a:avLst>
              <a:gd name="adj" fmla="val 4444"/>
            </a:avLst>
          </a:prstGeom>
          <a:solidFill>
            <a:schemeClr val="bg1"/>
          </a:solidFill>
          <a:ln w="15875">
            <a:solidFill>
              <a:srgbClr val="7C6BD6"/>
            </a:solidFill>
            <a:prstDash val="solid"/>
          </a:ln>
        </p:spPr>
      </p:sp>
      <p:sp>
        <p:nvSpPr>
          <p:cNvPr id="15" name="Text 13"/>
          <p:cNvSpPr/>
          <p:nvPr/>
        </p:nvSpPr>
        <p:spPr>
          <a:xfrm>
            <a:off x="4407408" y="1636776"/>
            <a:ext cx="310896" cy="310896"/>
          </a:xfrm>
          <a:prstGeom prst="ellipse">
            <a:avLst/>
          </a:prstGeom>
          <a:solidFill>
            <a:srgbClr val="7C6BD6"/>
          </a:solidFill>
          <a:ln w="6350">
            <a:solidFill>
              <a:srgbClr val="7C6BD6"/>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4791456"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Connect</a:t>
            </a:r>
            <a:endParaRPr lang="en-US" sz="1400" dirty="0"/>
          </a:p>
        </p:txBody>
      </p:sp>
      <p:sp>
        <p:nvSpPr>
          <p:cNvPr id="17" name="Text 15"/>
          <p:cNvSpPr txBox="1"/>
          <p:nvPr/>
        </p:nvSpPr>
        <p:spPr>
          <a:xfrm>
            <a:off x="4407408"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The Knowledge Graph links complaints to transactions, releases and events.</a:t>
            </a:r>
            <a:endParaRPr lang="en-US" sz="1200" dirty="0"/>
          </a:p>
        </p:txBody>
      </p:sp>
      <p:sp>
        <p:nvSpPr>
          <p:cNvPr id="18" name="Text 16"/>
          <p:cNvSpPr txBox="1"/>
          <p:nvPr/>
        </p:nvSpPr>
        <p:spPr>
          <a:xfrm>
            <a:off x="5943600" y="2011680"/>
            <a:ext cx="201168"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19" name="Shape 17"/>
          <p:cNvSpPr/>
          <p:nvPr/>
        </p:nvSpPr>
        <p:spPr>
          <a:xfrm>
            <a:off x="6144768" y="1508760"/>
            <a:ext cx="1664208" cy="1645920"/>
          </a:xfrm>
          <a:prstGeom prst="roundRect">
            <a:avLst>
              <a:gd name="adj" fmla="val 4444"/>
            </a:avLst>
          </a:prstGeom>
          <a:solidFill>
            <a:schemeClr val="bg1"/>
          </a:solidFill>
          <a:ln w="15875">
            <a:solidFill>
              <a:srgbClr val="7C6BD6"/>
            </a:solidFill>
            <a:prstDash val="solid"/>
          </a:ln>
        </p:spPr>
      </p:sp>
      <p:sp>
        <p:nvSpPr>
          <p:cNvPr id="20" name="Text 18"/>
          <p:cNvSpPr/>
          <p:nvPr/>
        </p:nvSpPr>
        <p:spPr>
          <a:xfrm>
            <a:off x="6272784" y="1636776"/>
            <a:ext cx="310896" cy="310896"/>
          </a:xfrm>
          <a:prstGeom prst="ellipse">
            <a:avLst/>
          </a:prstGeom>
          <a:solidFill>
            <a:srgbClr val="7C6BD6"/>
          </a:solidFill>
          <a:ln w="6350">
            <a:solidFill>
              <a:srgbClr val="7C6BD6"/>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19"/>
          <p:cNvSpPr txBox="1"/>
          <p:nvPr/>
        </p:nvSpPr>
        <p:spPr>
          <a:xfrm>
            <a:off x="6656832"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Investigate</a:t>
            </a:r>
            <a:endParaRPr lang="en-US" sz="1400" dirty="0"/>
          </a:p>
        </p:txBody>
      </p:sp>
      <p:sp>
        <p:nvSpPr>
          <p:cNvPr id="22" name="Text 20"/>
          <p:cNvSpPr txBox="1"/>
          <p:nvPr/>
        </p:nvSpPr>
        <p:spPr>
          <a:xfrm>
            <a:off x="6272784"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Competing hypotheses are tested by evidence, not by the LLM.</a:t>
            </a:r>
            <a:endParaRPr lang="en-US" sz="1200" dirty="0"/>
          </a:p>
        </p:txBody>
      </p:sp>
      <p:sp>
        <p:nvSpPr>
          <p:cNvPr id="23" name="Text 21"/>
          <p:cNvSpPr txBox="1"/>
          <p:nvPr/>
        </p:nvSpPr>
        <p:spPr>
          <a:xfrm>
            <a:off x="7808976" y="2011680"/>
            <a:ext cx="201168"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24" name="Shape 22"/>
          <p:cNvSpPr/>
          <p:nvPr/>
        </p:nvSpPr>
        <p:spPr>
          <a:xfrm>
            <a:off x="8010144" y="1508760"/>
            <a:ext cx="1664208" cy="1645920"/>
          </a:xfrm>
          <a:prstGeom prst="roundRect">
            <a:avLst>
              <a:gd name="adj" fmla="val 4444"/>
            </a:avLst>
          </a:prstGeom>
          <a:solidFill>
            <a:schemeClr val="bg1"/>
          </a:solidFill>
          <a:ln w="15875">
            <a:solidFill>
              <a:srgbClr val="3B6FD8"/>
            </a:solidFill>
            <a:prstDash val="solid"/>
          </a:ln>
        </p:spPr>
      </p:sp>
      <p:sp>
        <p:nvSpPr>
          <p:cNvPr id="25" name="Text 23"/>
          <p:cNvSpPr/>
          <p:nvPr/>
        </p:nvSpPr>
        <p:spPr>
          <a:xfrm>
            <a:off x="8138160" y="1636776"/>
            <a:ext cx="310896" cy="310896"/>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6" name="Text 24"/>
          <p:cNvSpPr txBox="1"/>
          <p:nvPr/>
        </p:nvSpPr>
        <p:spPr>
          <a:xfrm>
            <a:off x="8522208"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Approve</a:t>
            </a:r>
            <a:endParaRPr lang="en-US" sz="1400" dirty="0"/>
          </a:p>
        </p:txBody>
      </p:sp>
      <p:sp>
        <p:nvSpPr>
          <p:cNvPr id="27" name="Text 25"/>
          <p:cNvSpPr txBox="1"/>
          <p:nvPr/>
        </p:nvSpPr>
        <p:spPr>
          <a:xfrm>
            <a:off x="8138160"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Rule-based eligibility checks, then human approval.</a:t>
            </a:r>
            <a:endParaRPr lang="en-US" sz="1200" dirty="0"/>
          </a:p>
        </p:txBody>
      </p:sp>
      <p:sp>
        <p:nvSpPr>
          <p:cNvPr id="28" name="Text 26"/>
          <p:cNvSpPr txBox="1"/>
          <p:nvPr/>
        </p:nvSpPr>
        <p:spPr>
          <a:xfrm>
            <a:off x="9674352" y="2011680"/>
            <a:ext cx="201168"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29" name="Shape 27"/>
          <p:cNvSpPr/>
          <p:nvPr/>
        </p:nvSpPr>
        <p:spPr>
          <a:xfrm>
            <a:off x="9875520" y="1508760"/>
            <a:ext cx="1664208" cy="1645920"/>
          </a:xfrm>
          <a:prstGeom prst="roundRect">
            <a:avLst>
              <a:gd name="adj" fmla="val 4444"/>
            </a:avLst>
          </a:prstGeom>
          <a:solidFill>
            <a:schemeClr val="bg1"/>
          </a:solidFill>
          <a:ln w="15875">
            <a:solidFill>
              <a:srgbClr val="3B6FD8"/>
            </a:solidFill>
            <a:prstDash val="solid"/>
          </a:ln>
        </p:spPr>
      </p:sp>
      <p:sp>
        <p:nvSpPr>
          <p:cNvPr id="30" name="Text 28"/>
          <p:cNvSpPr/>
          <p:nvPr/>
        </p:nvSpPr>
        <p:spPr>
          <a:xfrm>
            <a:off x="10003536" y="1636776"/>
            <a:ext cx="310896" cy="310896"/>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1" name="Text 29"/>
          <p:cNvSpPr txBox="1"/>
          <p:nvPr/>
        </p:nvSpPr>
        <p:spPr>
          <a:xfrm>
            <a:off x="10387584" y="1636776"/>
            <a:ext cx="1097280" cy="310896"/>
          </a:xfrm>
          <a:prstGeom prst="rect">
            <a:avLst/>
          </a:prstGeom>
          <a:noFill/>
          <a:ln/>
        </p:spPr>
        <p:txBody>
          <a:bodyPr wrap="square" lIns="0" tIns="0" rIns="0" bIns="0" rtlCol="0" anchor="ctr"/>
          <a:lstStyle/>
          <a:p>
            <a:pPr algn="l" indent="0" marL="0">
              <a:buNone/>
            </a:pPr>
            <a:r>
              <a:rPr lang="en-US" sz="1400" b="1" dirty="0">
                <a:solidFill>
                  <a:schemeClr val="tx1"/>
                </a:solidFill>
              </a:rPr>
              <a:t>Verify</a:t>
            </a:r>
            <a:endParaRPr lang="en-US" sz="1400" dirty="0"/>
          </a:p>
        </p:txBody>
      </p:sp>
      <p:sp>
        <p:nvSpPr>
          <p:cNvPr id="32" name="Text 30"/>
          <p:cNvSpPr txBox="1"/>
          <p:nvPr/>
        </p:nvSpPr>
        <p:spPr>
          <a:xfrm>
            <a:off x="10003536" y="2084832"/>
            <a:ext cx="1426464" cy="1005840"/>
          </a:xfrm>
          <a:prstGeom prst="rect">
            <a:avLst/>
          </a:prstGeom>
          <a:noFill/>
          <a:ln/>
        </p:spPr>
        <p:txBody>
          <a:bodyPr wrap="square" lIns="0" tIns="0" rIns="0" bIns="0" rtlCol="0" anchor="t"/>
          <a:lstStyle/>
          <a:p>
            <a:pPr algn="l" indent="0" marL="0">
              <a:buNone/>
            </a:pPr>
            <a:r>
              <a:rPr lang="en-US" sz="1200" dirty="0">
                <a:solidFill>
                  <a:schemeClr val="tx2"/>
                </a:solidFill>
              </a:rPr>
              <a:t>KPIs are measured; new signals trigger reassessment.</a:t>
            </a:r>
            <a:endParaRPr lang="en-US" sz="1200" dirty="0"/>
          </a:p>
        </p:txBody>
      </p:sp>
      <p:sp>
        <p:nvSpPr>
          <p:cNvPr id="33" name="Shape 31"/>
          <p:cNvSpPr/>
          <p:nvPr/>
        </p:nvSpPr>
        <p:spPr>
          <a:xfrm>
            <a:off x="548640" y="3246120"/>
            <a:ext cx="11091672" cy="329184"/>
          </a:xfrm>
          <a:prstGeom prst="roundRect">
            <a:avLst>
              <a:gd name="adj" fmla="val 50000"/>
            </a:avLst>
          </a:prstGeom>
          <a:solidFill>
            <a:srgbClr val="DDF3F0"/>
          </a:solidFill>
          <a:ln w="6350">
            <a:solidFill>
              <a:srgbClr val="DDF3F0"/>
            </a:solidFill>
            <a:prstDash val="solid"/>
          </a:ln>
        </p:spPr>
      </p:sp>
      <p:sp>
        <p:nvSpPr>
          <p:cNvPr id="34" name="Text 32"/>
          <p:cNvSpPr txBox="1"/>
          <p:nvPr/>
        </p:nvSpPr>
        <p:spPr>
          <a:xfrm>
            <a:off x="548640" y="3246120"/>
            <a:ext cx="11091672" cy="329184"/>
          </a:xfrm>
          <a:prstGeom prst="rect">
            <a:avLst/>
          </a:prstGeom>
          <a:noFill/>
          <a:ln/>
        </p:spPr>
        <p:txBody>
          <a:bodyPr wrap="square" lIns="0" tIns="0" rIns="0" bIns="0" rtlCol="0" anchor="ctr"/>
          <a:lstStyle/>
          <a:p>
            <a:pPr algn="ctr" indent="0" marL="0">
              <a:buNone/>
            </a:pPr>
            <a:r>
              <a:rPr lang="en-US" sz="1200" b="1" dirty="0">
                <a:solidFill>
                  <a:schemeClr val="accent1"/>
                </a:solidFill>
              </a:rPr>
              <a:t>The loop never stops: after an action, RecoverIQ keeps monitoring and re-assesses.</a:t>
            </a:r>
            <a:endParaRPr lang="en-US" sz="1200" dirty="0"/>
          </a:p>
        </p:txBody>
      </p:sp>
      <p:sp>
        <p:nvSpPr>
          <p:cNvPr id="35" name="Shape 33"/>
          <p:cNvSpPr/>
          <p:nvPr/>
        </p:nvSpPr>
        <p:spPr>
          <a:xfrm>
            <a:off x="548640" y="3703320"/>
            <a:ext cx="11091672" cy="2560320"/>
          </a:xfrm>
          <a:prstGeom prst="roundRect">
            <a:avLst>
              <a:gd name="adj" fmla="val 4286"/>
            </a:avLst>
          </a:prstGeom>
          <a:solidFill>
            <a:schemeClr val="bg2"/>
          </a:solidFill>
          <a:ln w="6350">
            <a:solidFill>
              <a:schemeClr val="bg2"/>
            </a:solidFill>
            <a:prstDash val="solid"/>
          </a:ln>
        </p:spPr>
      </p:sp>
      <p:sp>
        <p:nvSpPr>
          <p:cNvPr id="36" name="Text 34"/>
          <p:cNvSpPr txBox="1"/>
          <p:nvPr/>
        </p:nvSpPr>
        <p:spPr>
          <a:xfrm>
            <a:off x="777240" y="3813048"/>
            <a:ext cx="7315200" cy="292608"/>
          </a:xfrm>
          <a:prstGeom prst="rect">
            <a:avLst/>
          </a:prstGeom>
          <a:noFill/>
          <a:ln/>
        </p:spPr>
        <p:txBody>
          <a:bodyPr wrap="square" lIns="0" tIns="0" rIns="0" bIns="0" rtlCol="0" anchor="t"/>
          <a:lstStyle/>
          <a:p>
            <a:pPr algn="l" indent="0" marL="0">
              <a:buNone/>
            </a:pPr>
            <a:r>
              <a:rPr lang="en-US" sz="1600" b="1" dirty="0">
                <a:solidFill>
                  <a:schemeClr val="tx1"/>
                </a:solidFill>
              </a:rPr>
              <a:t>Root Cause Court: evidence decides, the LLM only assists</a:t>
            </a:r>
            <a:endParaRPr lang="en-US" sz="1600" dirty="0"/>
          </a:p>
        </p:txBody>
      </p:sp>
      <p:sp>
        <p:nvSpPr>
          <p:cNvPr id="37" name="Text 35"/>
          <p:cNvSpPr/>
          <p:nvPr/>
        </p:nvSpPr>
        <p:spPr>
          <a:xfrm>
            <a:off x="9966960" y="3831336"/>
            <a:ext cx="1463040" cy="256032"/>
          </a:xfrm>
          <a:prstGeom prst="roundRect">
            <a:avLst>
              <a:gd name="adj" fmla="val 28571"/>
            </a:avLst>
          </a:prstGeom>
          <a:solidFill>
            <a:srgbClr val="FFFFFF"/>
          </a:solidFill>
          <a:ln w="12700">
            <a:solidFill>
              <a:srgbClr val="475569"/>
            </a:solidFill>
          </a:ln>
        </p:spPr>
        <p:txBody>
          <a:bodyPr wrap="square" lIns="508" tIns="508" rIns="508" bIns="508" rtlCol="0" anchor="ctr"/>
          <a:lstStyle/>
          <a:p>
            <a:pPr algn="ctr" indent="0" marL="0">
              <a:buNone/>
            </a:pPr>
            <a:r>
              <a:rPr lang="en-US" sz="1000" dirty="0">
                <a:solidFill>
                  <a:schemeClr val="tx1"/>
                </a:solidFill>
              </a:rPr>
              <a:t>Illustrative example</a:t>
            </a:r>
            <a:endParaRPr lang="en-US" sz="1000" dirty="0"/>
          </a:p>
        </p:txBody>
      </p:sp>
      <p:sp>
        <p:nvSpPr>
          <p:cNvPr id="38" name="Text 36"/>
          <p:cNvSpPr txBox="1"/>
          <p:nvPr/>
        </p:nvSpPr>
        <p:spPr>
          <a:xfrm>
            <a:off x="777240" y="4206240"/>
            <a:ext cx="3200400" cy="182880"/>
          </a:xfrm>
          <a:prstGeom prst="rect">
            <a:avLst/>
          </a:prstGeom>
          <a:noFill/>
          <a:ln/>
        </p:spPr>
        <p:txBody>
          <a:bodyPr wrap="square" lIns="0" tIns="0" rIns="0" bIns="0" rtlCol="0" anchor="t"/>
          <a:lstStyle/>
          <a:p>
            <a:pPr algn="l" indent="0" marL="0">
              <a:buNone/>
            </a:pPr>
            <a:r>
              <a:rPr lang="en-US" sz="1000" b="1" spc="100" kern="0" dirty="0">
                <a:solidFill>
                  <a:schemeClr val="tx2"/>
                </a:solidFill>
              </a:rPr>
              <a:t>COMPETING HYPOTHESES</a:t>
            </a:r>
            <a:endParaRPr lang="en-US" sz="1000" dirty="0"/>
          </a:p>
        </p:txBody>
      </p:sp>
      <p:sp>
        <p:nvSpPr>
          <p:cNvPr id="39" name="Text 37"/>
          <p:cNvSpPr txBox="1"/>
          <p:nvPr/>
        </p:nvSpPr>
        <p:spPr>
          <a:xfrm>
            <a:off x="4434840" y="4206240"/>
            <a:ext cx="2651760" cy="182880"/>
          </a:xfrm>
          <a:prstGeom prst="rect">
            <a:avLst/>
          </a:prstGeom>
          <a:noFill/>
          <a:ln/>
        </p:spPr>
        <p:txBody>
          <a:bodyPr wrap="square" lIns="0" tIns="0" rIns="0" bIns="0" rtlCol="0" anchor="t"/>
          <a:lstStyle/>
          <a:p>
            <a:pPr algn="l" indent="0" marL="0">
              <a:buNone/>
            </a:pPr>
            <a:r>
              <a:rPr lang="en-US" sz="1000" b="1" spc="100" kern="0" dirty="0">
                <a:solidFill>
                  <a:schemeClr val="tx2"/>
                </a:solidFill>
              </a:rPr>
              <a:t>FIVE EVIDENCE TESTS</a:t>
            </a:r>
            <a:endParaRPr lang="en-US" sz="1000" dirty="0"/>
          </a:p>
        </p:txBody>
      </p:sp>
      <p:sp>
        <p:nvSpPr>
          <p:cNvPr id="40" name="Text 38"/>
          <p:cNvSpPr txBox="1"/>
          <p:nvPr/>
        </p:nvSpPr>
        <p:spPr>
          <a:xfrm>
            <a:off x="7589520" y="4206240"/>
            <a:ext cx="1737360" cy="182880"/>
          </a:xfrm>
          <a:prstGeom prst="rect">
            <a:avLst/>
          </a:prstGeom>
          <a:noFill/>
          <a:ln/>
        </p:spPr>
        <p:txBody>
          <a:bodyPr wrap="square" lIns="0" tIns="0" rIns="0" bIns="0" rtlCol="0" anchor="t"/>
          <a:lstStyle/>
          <a:p>
            <a:pPr algn="l" indent="0" marL="0">
              <a:buNone/>
            </a:pPr>
            <a:r>
              <a:rPr lang="en-US" sz="1000" b="1" spc="100" kern="0" dirty="0">
                <a:solidFill>
                  <a:schemeClr val="tx2"/>
                </a:solidFill>
              </a:rPr>
              <a:t>VERDICT</a:t>
            </a:r>
            <a:endParaRPr lang="en-US" sz="1000" dirty="0"/>
          </a:p>
        </p:txBody>
      </p:sp>
      <p:sp>
        <p:nvSpPr>
          <p:cNvPr id="41" name="Text 39"/>
          <p:cNvSpPr/>
          <p:nvPr/>
        </p:nvSpPr>
        <p:spPr>
          <a:xfrm>
            <a:off x="777240" y="4462272"/>
            <a:ext cx="3246120" cy="475488"/>
          </a:xfrm>
          <a:prstGeom prst="roundRect">
            <a:avLst>
              <a:gd name="adj" fmla="val 15385"/>
            </a:avLst>
          </a:prstGeom>
          <a:solidFill>
            <a:srgbClr val="ECE9FA"/>
          </a:solidFill>
          <a:ln w="12700">
            <a:solidFill>
              <a:srgbClr val="7C6BD6"/>
            </a:solidFill>
          </a:ln>
        </p:spPr>
        <p:txBody>
          <a:bodyPr wrap="square" lIns="1524" tIns="1524" rIns="1524" bIns="1524" rtlCol="0" anchor="ctr"/>
          <a:lstStyle/>
          <a:p>
            <a:pPr algn="l" indent="0" marL="0">
              <a:buNone/>
            </a:pPr>
            <a:r>
              <a:rPr lang="en-US" sz="1200" b="1" dirty="0">
                <a:solidFill>
                  <a:schemeClr val="tx1"/>
                </a:solidFill>
              </a:rPr>
              <a:t>H1  Payment gateway callback failure</a:t>
            </a:r>
            <a:endParaRPr lang="en-US" sz="1200" dirty="0"/>
          </a:p>
        </p:txBody>
      </p:sp>
      <p:sp>
        <p:nvSpPr>
          <p:cNvPr id="42" name="Text 40"/>
          <p:cNvSpPr/>
          <p:nvPr/>
        </p:nvSpPr>
        <p:spPr>
          <a:xfrm>
            <a:off x="777240" y="5029200"/>
            <a:ext cx="3246120" cy="475488"/>
          </a:xfrm>
          <a:prstGeom prst="roundRect">
            <a:avLst>
              <a:gd name="adj" fmla="val 15385"/>
            </a:avLst>
          </a:prstGeom>
          <a:solidFill>
            <a:srgbClr val="ECE9FA"/>
          </a:solidFill>
          <a:ln w="12700">
            <a:solidFill>
              <a:srgbClr val="7C6BD6"/>
            </a:solidFill>
          </a:ln>
        </p:spPr>
        <p:txBody>
          <a:bodyPr wrap="square" lIns="1524" tIns="1524" rIns="1524" bIns="1524" rtlCol="0" anchor="ctr"/>
          <a:lstStyle/>
          <a:p>
            <a:pPr algn="l" indent="0" marL="0">
              <a:buNone/>
            </a:pPr>
            <a:r>
              <a:rPr lang="en-US" sz="1200" b="1" dirty="0">
                <a:solidFill>
                  <a:schemeClr val="tx1"/>
                </a:solidFill>
              </a:rPr>
              <a:t>H2  Recent application release issue</a:t>
            </a:r>
            <a:endParaRPr lang="en-US" sz="1200" dirty="0"/>
          </a:p>
        </p:txBody>
      </p:sp>
      <p:sp>
        <p:nvSpPr>
          <p:cNvPr id="43" name="Text 41"/>
          <p:cNvSpPr/>
          <p:nvPr/>
        </p:nvSpPr>
        <p:spPr>
          <a:xfrm>
            <a:off x="777240" y="5596128"/>
            <a:ext cx="3246120" cy="475488"/>
          </a:xfrm>
          <a:prstGeom prst="roundRect">
            <a:avLst>
              <a:gd name="adj" fmla="val 15385"/>
            </a:avLst>
          </a:prstGeom>
          <a:solidFill>
            <a:srgbClr val="ECE9FA"/>
          </a:solidFill>
          <a:ln w="12700">
            <a:solidFill>
              <a:srgbClr val="7C6BD6"/>
            </a:solidFill>
          </a:ln>
        </p:spPr>
        <p:txBody>
          <a:bodyPr wrap="square" lIns="1524" tIns="1524" rIns="1524" bIns="1524" rtlCol="0" anchor="ctr"/>
          <a:lstStyle/>
          <a:p>
            <a:pPr algn="l" indent="0" marL="0">
              <a:buNone/>
            </a:pPr>
            <a:r>
              <a:rPr lang="en-US" sz="1200" b="1" dirty="0">
                <a:solidFill>
                  <a:schemeClr val="tx1"/>
                </a:solidFill>
              </a:rPr>
              <a:t>H3  Bank-side payment delay</a:t>
            </a:r>
            <a:endParaRPr lang="en-US" sz="1200" dirty="0"/>
          </a:p>
        </p:txBody>
      </p:sp>
      <p:sp>
        <p:nvSpPr>
          <p:cNvPr id="44" name="Text 42"/>
          <p:cNvSpPr/>
          <p:nvPr/>
        </p:nvSpPr>
        <p:spPr>
          <a:xfrm>
            <a:off x="4434840" y="4462272"/>
            <a:ext cx="2651760" cy="274320"/>
          </a:xfrm>
          <a:prstGeom prst="roundRect">
            <a:avLst>
              <a:gd name="adj" fmla="val 26667"/>
            </a:avLst>
          </a:prstGeom>
          <a:solidFill>
            <a:srgbClr val="FFFFFF"/>
          </a:solidFill>
          <a:ln w="12700">
            <a:solidFill>
              <a:srgbClr val="CBD5E1"/>
            </a:solidFill>
          </a:ln>
        </p:spPr>
        <p:txBody>
          <a:bodyPr wrap="square" lIns="1524" tIns="1524" rIns="1524" bIns="1524" rtlCol="0" anchor="ctr"/>
          <a:lstStyle/>
          <a:p>
            <a:pPr algn="l" indent="0" marL="0">
              <a:buNone/>
            </a:pPr>
            <a:r>
              <a:rPr lang="en-US" sz="1200" dirty="0">
                <a:solidFill>
                  <a:schemeClr val="tx1"/>
                </a:solidFill>
              </a:rPr>
              <a:t>Temporal consistency</a:t>
            </a:r>
            <a:endParaRPr lang="en-US" sz="1200" dirty="0"/>
          </a:p>
        </p:txBody>
      </p:sp>
      <p:sp>
        <p:nvSpPr>
          <p:cNvPr id="45" name="Text 43"/>
          <p:cNvSpPr/>
          <p:nvPr/>
        </p:nvSpPr>
        <p:spPr>
          <a:xfrm>
            <a:off x="4434840" y="4791456"/>
            <a:ext cx="2651760" cy="274320"/>
          </a:xfrm>
          <a:prstGeom prst="roundRect">
            <a:avLst>
              <a:gd name="adj" fmla="val 26667"/>
            </a:avLst>
          </a:prstGeom>
          <a:solidFill>
            <a:srgbClr val="FFFFFF"/>
          </a:solidFill>
          <a:ln w="12700">
            <a:solidFill>
              <a:srgbClr val="CBD5E1"/>
            </a:solidFill>
          </a:ln>
        </p:spPr>
        <p:txBody>
          <a:bodyPr wrap="square" lIns="1524" tIns="1524" rIns="1524" bIns="1524" rtlCol="0" anchor="ctr"/>
          <a:lstStyle/>
          <a:p>
            <a:pPr algn="l" indent="0" marL="0">
              <a:buNone/>
            </a:pPr>
            <a:r>
              <a:rPr lang="en-US" sz="1200" dirty="0">
                <a:solidFill>
                  <a:schemeClr val="tx1"/>
                </a:solidFill>
              </a:rPr>
              <a:t>Segment specificity</a:t>
            </a:r>
            <a:endParaRPr lang="en-US" sz="1200" dirty="0"/>
          </a:p>
        </p:txBody>
      </p:sp>
      <p:sp>
        <p:nvSpPr>
          <p:cNvPr id="46" name="Text 44"/>
          <p:cNvSpPr/>
          <p:nvPr/>
        </p:nvSpPr>
        <p:spPr>
          <a:xfrm>
            <a:off x="4434840" y="5120640"/>
            <a:ext cx="2651760" cy="274320"/>
          </a:xfrm>
          <a:prstGeom prst="roundRect">
            <a:avLst>
              <a:gd name="adj" fmla="val 26667"/>
            </a:avLst>
          </a:prstGeom>
          <a:solidFill>
            <a:srgbClr val="FFFFFF"/>
          </a:solidFill>
          <a:ln w="12700">
            <a:solidFill>
              <a:srgbClr val="CBD5E1"/>
            </a:solidFill>
          </a:ln>
        </p:spPr>
        <p:txBody>
          <a:bodyPr wrap="square" lIns="1524" tIns="1524" rIns="1524" bIns="1524" rtlCol="0" anchor="ctr"/>
          <a:lstStyle/>
          <a:p>
            <a:pPr algn="l" indent="0" marL="0">
              <a:buNone/>
            </a:pPr>
            <a:r>
              <a:rPr lang="en-US" sz="1200" dirty="0">
                <a:solidFill>
                  <a:schemeClr val="tx1"/>
                </a:solidFill>
              </a:rPr>
              <a:t>Telemetry evidence</a:t>
            </a:r>
            <a:endParaRPr lang="en-US" sz="1200" dirty="0"/>
          </a:p>
        </p:txBody>
      </p:sp>
      <p:sp>
        <p:nvSpPr>
          <p:cNvPr id="47" name="Text 45"/>
          <p:cNvSpPr/>
          <p:nvPr/>
        </p:nvSpPr>
        <p:spPr>
          <a:xfrm>
            <a:off x="4434840" y="5449824"/>
            <a:ext cx="2651760" cy="274320"/>
          </a:xfrm>
          <a:prstGeom prst="roundRect">
            <a:avLst>
              <a:gd name="adj" fmla="val 26667"/>
            </a:avLst>
          </a:prstGeom>
          <a:solidFill>
            <a:srgbClr val="FFFFFF"/>
          </a:solidFill>
          <a:ln w="12700">
            <a:solidFill>
              <a:srgbClr val="CBD5E1"/>
            </a:solidFill>
          </a:ln>
        </p:spPr>
        <p:txBody>
          <a:bodyPr wrap="square" lIns="1524" tIns="1524" rIns="1524" bIns="1524" rtlCol="0" anchor="ctr"/>
          <a:lstStyle/>
          <a:p>
            <a:pPr algn="l" indent="0" marL="0">
              <a:buNone/>
            </a:pPr>
            <a:r>
              <a:rPr lang="en-US" sz="1200" dirty="0">
                <a:solidFill>
                  <a:schemeClr val="tx1"/>
                </a:solidFill>
              </a:rPr>
              <a:t>Dose-response</a:t>
            </a:r>
            <a:endParaRPr lang="en-US" sz="1200" dirty="0"/>
          </a:p>
        </p:txBody>
      </p:sp>
      <p:sp>
        <p:nvSpPr>
          <p:cNvPr id="48" name="Text 46"/>
          <p:cNvSpPr/>
          <p:nvPr/>
        </p:nvSpPr>
        <p:spPr>
          <a:xfrm>
            <a:off x="4434840" y="5779008"/>
            <a:ext cx="2651760" cy="274320"/>
          </a:xfrm>
          <a:prstGeom prst="roundRect">
            <a:avLst>
              <a:gd name="adj" fmla="val 26667"/>
            </a:avLst>
          </a:prstGeom>
          <a:solidFill>
            <a:srgbClr val="FFFFFF"/>
          </a:solidFill>
          <a:ln w="12700">
            <a:solidFill>
              <a:srgbClr val="CBD5E1"/>
            </a:solidFill>
          </a:ln>
        </p:spPr>
        <p:txBody>
          <a:bodyPr wrap="square" lIns="1524" tIns="1524" rIns="1524" bIns="1524" rtlCol="0" anchor="ctr"/>
          <a:lstStyle/>
          <a:p>
            <a:pPr algn="l" indent="0" marL="0">
              <a:buNone/>
            </a:pPr>
            <a:r>
              <a:rPr lang="en-US" sz="1200" dirty="0">
                <a:solidFill>
                  <a:schemeClr val="tx1"/>
                </a:solidFill>
              </a:rPr>
              <a:t>Counter-check</a:t>
            </a:r>
            <a:endParaRPr lang="en-US" sz="1200" dirty="0"/>
          </a:p>
        </p:txBody>
      </p:sp>
      <p:sp>
        <p:nvSpPr>
          <p:cNvPr id="49" name="Text 47"/>
          <p:cNvSpPr/>
          <p:nvPr/>
        </p:nvSpPr>
        <p:spPr>
          <a:xfrm>
            <a:off x="7589520" y="4462272"/>
            <a:ext cx="1737360" cy="329184"/>
          </a:xfrm>
          <a:prstGeom prst="roundRect">
            <a:avLst>
              <a:gd name="adj" fmla="val 22222"/>
            </a:avLst>
          </a:prstGeom>
          <a:solidFill>
            <a:srgbClr val="FFFFFF"/>
          </a:solidFill>
          <a:ln w="12700">
            <a:solidFill>
              <a:srgbClr val="16A34A"/>
            </a:solidFill>
          </a:ln>
        </p:spPr>
        <p:txBody>
          <a:bodyPr wrap="square" lIns="508" tIns="508" rIns="508" bIns="508" rtlCol="0" anchor="ctr"/>
          <a:lstStyle/>
          <a:p>
            <a:pPr algn="ctr" indent="0" marL="0">
              <a:buNone/>
            </a:pPr>
            <a:r>
              <a:rPr lang="en-US" sz="1200" b="1" dirty="0">
                <a:solidFill>
                  <a:schemeClr val="tx1"/>
                </a:solidFill>
              </a:rPr>
              <a:t>Supported</a:t>
            </a:r>
            <a:endParaRPr lang="en-US" sz="1200" dirty="0"/>
          </a:p>
        </p:txBody>
      </p:sp>
      <p:sp>
        <p:nvSpPr>
          <p:cNvPr id="50" name="Text 48"/>
          <p:cNvSpPr/>
          <p:nvPr/>
        </p:nvSpPr>
        <p:spPr>
          <a:xfrm>
            <a:off x="7589520" y="4864608"/>
            <a:ext cx="1737360" cy="329184"/>
          </a:xfrm>
          <a:prstGeom prst="roundRect">
            <a:avLst>
              <a:gd name="adj" fmla="val 22222"/>
            </a:avLst>
          </a:prstGeom>
          <a:solidFill>
            <a:srgbClr val="FFFFFF"/>
          </a:solidFill>
          <a:ln w="12700">
            <a:solidFill>
              <a:srgbClr val="C2410C"/>
            </a:solidFill>
          </a:ln>
        </p:spPr>
        <p:txBody>
          <a:bodyPr wrap="square" lIns="508" tIns="508" rIns="508" bIns="508" rtlCol="0" anchor="ctr"/>
          <a:lstStyle/>
          <a:p>
            <a:pPr algn="ctr" indent="0" marL="0">
              <a:buNone/>
            </a:pPr>
            <a:r>
              <a:rPr lang="en-US" sz="1200" b="1" dirty="0">
                <a:solidFill>
                  <a:schemeClr val="tx1"/>
                </a:solidFill>
              </a:rPr>
              <a:t>Rejected</a:t>
            </a:r>
            <a:endParaRPr lang="en-US" sz="1200" dirty="0"/>
          </a:p>
        </p:txBody>
      </p:sp>
      <p:sp>
        <p:nvSpPr>
          <p:cNvPr id="51" name="Text 49"/>
          <p:cNvSpPr/>
          <p:nvPr/>
        </p:nvSpPr>
        <p:spPr>
          <a:xfrm>
            <a:off x="7589520" y="5266944"/>
            <a:ext cx="1737360" cy="329184"/>
          </a:xfrm>
          <a:prstGeom prst="roundRect">
            <a:avLst>
              <a:gd name="adj" fmla="val 22222"/>
            </a:avLst>
          </a:prstGeom>
          <a:solidFill>
            <a:srgbClr val="FFFFFF"/>
          </a:solidFill>
          <a:ln w="12700">
            <a:solidFill>
              <a:srgbClr val="475569"/>
            </a:solidFill>
          </a:ln>
        </p:spPr>
        <p:txBody>
          <a:bodyPr wrap="square" lIns="508" tIns="508" rIns="508" bIns="508" rtlCol="0" anchor="ctr"/>
          <a:lstStyle/>
          <a:p>
            <a:pPr algn="ctr" indent="0" marL="0">
              <a:buNone/>
            </a:pPr>
            <a:r>
              <a:rPr lang="en-US" sz="1200" b="1" dirty="0">
                <a:solidFill>
                  <a:schemeClr val="tx1"/>
                </a:solidFill>
              </a:rPr>
              <a:t>Untested</a:t>
            </a:r>
            <a:endParaRPr lang="en-US" sz="1200" dirty="0"/>
          </a:p>
        </p:txBody>
      </p:sp>
      <p:sp>
        <p:nvSpPr>
          <p:cNvPr id="52" name="Text 50"/>
          <p:cNvSpPr/>
          <p:nvPr/>
        </p:nvSpPr>
        <p:spPr>
          <a:xfrm>
            <a:off x="7589520" y="5669280"/>
            <a:ext cx="1737360" cy="329184"/>
          </a:xfrm>
          <a:prstGeom prst="roundRect">
            <a:avLst>
              <a:gd name="adj" fmla="val 22222"/>
            </a:avLst>
          </a:prstGeom>
          <a:solidFill>
            <a:srgbClr val="FFFFFF"/>
          </a:solidFill>
          <a:ln w="12700">
            <a:solidFill>
              <a:srgbClr val="D97706"/>
            </a:solidFill>
          </a:ln>
        </p:spPr>
        <p:txBody>
          <a:bodyPr wrap="square" lIns="508" tIns="508" rIns="508" bIns="508" rtlCol="0" anchor="ctr"/>
          <a:lstStyle/>
          <a:p>
            <a:pPr algn="ctr" indent="0" marL="0">
              <a:buNone/>
            </a:pPr>
            <a:r>
              <a:rPr lang="en-US" sz="1200" b="1" dirty="0">
                <a:solidFill>
                  <a:schemeClr val="tx1"/>
                </a:solidFill>
              </a:rPr>
              <a:t>Inconclusive</a:t>
            </a:r>
            <a:endParaRPr lang="en-US" sz="1200" dirty="0"/>
          </a:p>
        </p:txBody>
      </p:sp>
      <p:sp>
        <p:nvSpPr>
          <p:cNvPr id="53" name="Shape 51"/>
          <p:cNvSpPr/>
          <p:nvPr/>
        </p:nvSpPr>
        <p:spPr>
          <a:xfrm>
            <a:off x="4114800" y="5212080"/>
            <a:ext cx="256032" cy="0"/>
          </a:xfrm>
          <a:prstGeom prst="line">
            <a:avLst/>
          </a:prstGeom>
          <a:noFill/>
          <a:ln w="19050">
            <a:solidFill>
              <a:srgbClr val="475569"/>
            </a:solidFill>
            <a:prstDash val="solid"/>
            <a:tailEnd type="triangle"/>
          </a:ln>
        </p:spPr>
      </p:sp>
      <p:sp>
        <p:nvSpPr>
          <p:cNvPr id="54" name="Shape 52"/>
          <p:cNvSpPr/>
          <p:nvPr/>
        </p:nvSpPr>
        <p:spPr>
          <a:xfrm>
            <a:off x="7150608" y="5212080"/>
            <a:ext cx="365760" cy="0"/>
          </a:xfrm>
          <a:prstGeom prst="line">
            <a:avLst/>
          </a:prstGeom>
          <a:noFill/>
          <a:ln w="19050">
            <a:solidFill>
              <a:srgbClr val="475569"/>
            </a:solidFill>
            <a:prstDash val="solid"/>
            <a:tailEnd type="triangle"/>
          </a:ln>
        </p:spPr>
      </p:sp>
      <p:sp>
        <p:nvSpPr>
          <p:cNvPr id="55" name="Shape 53"/>
          <p:cNvSpPr/>
          <p:nvPr/>
        </p:nvSpPr>
        <p:spPr>
          <a:xfrm>
            <a:off x="9601200" y="4462272"/>
            <a:ext cx="1828800" cy="1600200"/>
          </a:xfrm>
          <a:prstGeom prst="roundRect">
            <a:avLst>
              <a:gd name="adj" fmla="val 4571"/>
            </a:avLst>
          </a:prstGeom>
          <a:solidFill>
            <a:schemeClr val="bg1"/>
          </a:solidFill>
          <a:ln w="12700">
            <a:solidFill>
              <a:srgbClr val="CBD5E1"/>
            </a:solidFill>
            <a:prstDash val="solid"/>
          </a:ln>
        </p:spPr>
      </p:sp>
      <p:sp>
        <p:nvSpPr>
          <p:cNvPr id="56" name="Text 54"/>
          <p:cNvSpPr txBox="1"/>
          <p:nvPr/>
        </p:nvSpPr>
        <p:spPr>
          <a:xfrm>
            <a:off x="9710928" y="4535424"/>
            <a:ext cx="1627632" cy="1463040"/>
          </a:xfrm>
          <a:prstGeom prst="rect">
            <a:avLst/>
          </a:prstGeom>
          <a:noFill/>
          <a:ln/>
        </p:spPr>
        <p:txBody>
          <a:bodyPr wrap="square" lIns="0" tIns="0" rIns="0" bIns="0" rtlCol="0" anchor="t"/>
          <a:lstStyle/>
          <a:p>
            <a:pPr algn="l" indent="0" marL="0">
              <a:spcAft>
                <a:spcPts val="600"/>
              </a:spcAft>
              <a:buNone/>
            </a:pPr>
            <a:r>
              <a:rPr lang="en-US" sz="1300" b="1" dirty="0">
                <a:solidFill>
                  <a:schemeClr val="tx1"/>
                </a:solidFill>
              </a:rPr>
              <a:t>Missing evidence means Untested, not Rejected.</a:t>
            </a:r>
            <a:endParaRPr lang="en-US" sz="1200" dirty="0"/>
          </a:p>
          <a:p>
            <a:pPr algn="l" indent="0" marL="0">
              <a:spcAft>
                <a:spcPts val="600"/>
              </a:spcAft>
              <a:buNone/>
            </a:pPr>
            <a:r>
              <a:rPr lang="en-US" sz="1200" dirty="0">
                <a:solidFill>
                  <a:schemeClr val="tx2"/>
                </a:solidFill>
              </a:rPr>
              <a:t>Graph links show association, not proof of cause.</a:t>
            </a:r>
            <a:endParaRPr lang="en-US" sz="12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KNOWLEDGE GRAPH: THE CORE</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One graph connects every signal to its evidence</a:t>
            </a:r>
            <a:endParaRPr lang="en-US" sz="3000" dirty="0"/>
          </a:p>
        </p:txBody>
      </p:sp>
      <p:pic>
        <p:nvPicPr>
          <p:cNvPr id="4" name="Image 0" descr="Knowledge graph explorer: labelled edges, confidence filter and AI insight panel">    </p:cNvPr>
          <p:cNvPicPr>
            <a:picLocks noChangeAspect="1"/>
          </p:cNvPicPr>
          <p:nvPr/>
        </p:nvPicPr>
        <p:blipFill>
          <a:blip r:embed="rId1"/>
          <a:stretch>
            <a:fillRect/>
          </a:stretch>
        </p:blipFill>
        <p:spPr>
          <a:xfrm>
            <a:off x="548640" y="1508760"/>
            <a:ext cx="7040880" cy="3554273"/>
          </a:xfrm>
          <a:prstGeom prst="rect">
            <a:avLst/>
          </a:prstGeom>
          <a:effectLst>
            <a:outerShdw sx="100000" sy="100000" kx="0" ky="0" algn="bl" rotWithShape="0" blurRad="101600" dist="25400" dir="5400000">
              <a:srgbClr val="000000">
                <a:alpha val="15000"/>
              </a:srgbClr>
            </a:outerShdw>
          </a:effectLst>
        </p:spPr>
      </p:pic>
      <p:sp>
        <p:nvSpPr>
          <p:cNvPr id="5" name="Text 2"/>
          <p:cNvSpPr txBox="1"/>
          <p:nvPr/>
        </p:nvSpPr>
        <p:spPr>
          <a:xfrm>
            <a:off x="548640" y="5138928"/>
            <a:ext cx="7040880" cy="228600"/>
          </a:xfrm>
          <a:prstGeom prst="rect">
            <a:avLst/>
          </a:prstGeom>
          <a:noFill/>
          <a:ln/>
        </p:spPr>
        <p:txBody>
          <a:bodyPr wrap="square" lIns="0" tIns="0" rIns="0" bIns="0" rtlCol="0" anchor="t"/>
          <a:lstStyle/>
          <a:p>
            <a:pPr algn="l" indent="0" marL="0">
              <a:buNone/>
            </a:pPr>
            <a:r>
              <a:rPr lang="en-US" sz="1100" i="1" dirty="0">
                <a:solidFill>
                  <a:schemeClr val="tx2"/>
                </a:solidFill>
              </a:rPr>
              <a:t>Graph explorer reference view: labelled edges, confidence filter and an AI insight panel.</a:t>
            </a:r>
            <a:endParaRPr lang="en-US" sz="1100" dirty="0"/>
          </a:p>
        </p:txBody>
      </p:sp>
      <p:sp>
        <p:nvSpPr>
          <p:cNvPr id="6" name="Text 3"/>
          <p:cNvSpPr/>
          <p:nvPr/>
        </p:nvSpPr>
        <p:spPr>
          <a:xfrm>
            <a:off x="548640" y="5623560"/>
            <a:ext cx="1005840" cy="365760"/>
          </a:xfrm>
          <a:prstGeom prst="roundRect">
            <a:avLst>
              <a:gd name="adj" fmla="val 20000"/>
            </a:avLst>
          </a:prstGeom>
          <a:solidFill>
            <a:srgbClr val="DDF3F0"/>
          </a:solidFill>
          <a:ln w="12700">
            <a:solidFill>
              <a:srgbClr val="0D9488"/>
            </a:solidFill>
          </a:ln>
        </p:spPr>
        <p:txBody>
          <a:bodyPr wrap="square" lIns="508" tIns="508" rIns="508" bIns="508" rtlCol="0" anchor="ctr"/>
          <a:lstStyle/>
          <a:p>
            <a:pPr algn="ctr" indent="0" marL="0">
              <a:buNone/>
            </a:pPr>
            <a:r>
              <a:rPr lang="en-US" sz="1200" b="1" dirty="0">
                <a:solidFill>
                  <a:schemeClr val="tx1"/>
                </a:solidFill>
              </a:rPr>
              <a:t>Feedback</a:t>
            </a:r>
            <a:endParaRPr lang="en-US" sz="1200" dirty="0"/>
          </a:p>
        </p:txBody>
      </p:sp>
      <p:sp>
        <p:nvSpPr>
          <p:cNvPr id="7" name="Shape 4"/>
          <p:cNvSpPr/>
          <p:nvPr/>
        </p:nvSpPr>
        <p:spPr>
          <a:xfrm>
            <a:off x="1591056" y="5806440"/>
            <a:ext cx="932688" cy="0"/>
          </a:xfrm>
          <a:prstGeom prst="line">
            <a:avLst/>
          </a:prstGeom>
          <a:noFill/>
          <a:ln w="15875">
            <a:solidFill>
              <a:srgbClr val="475569"/>
            </a:solidFill>
            <a:prstDash val="solid"/>
            <a:tailEnd type="triangle"/>
          </a:ln>
        </p:spPr>
      </p:sp>
      <p:sp>
        <p:nvSpPr>
          <p:cNvPr id="8" name="Text 5"/>
          <p:cNvSpPr txBox="1"/>
          <p:nvPr/>
        </p:nvSpPr>
        <p:spPr>
          <a:xfrm>
            <a:off x="1591056" y="5550408"/>
            <a:ext cx="932688" cy="228600"/>
          </a:xfrm>
          <a:prstGeom prst="rect">
            <a:avLst/>
          </a:prstGeom>
          <a:noFill/>
          <a:ln/>
        </p:spPr>
        <p:txBody>
          <a:bodyPr wrap="square" lIns="0" tIns="0" rIns="0" bIns="0" rtlCol="0" anchor="t"/>
          <a:lstStyle/>
          <a:p>
            <a:pPr algn="ctr" indent="0" marL="0">
              <a:buNone/>
            </a:pPr>
            <a:r>
              <a:rPr lang="en-US" sz="1000" dirty="0">
                <a:solidFill>
                  <a:schemeClr val="tx2"/>
                </a:solidFill>
              </a:rPr>
              <a:t>belongs to</a:t>
            </a:r>
            <a:endParaRPr lang="en-US" sz="1000" dirty="0"/>
          </a:p>
        </p:txBody>
      </p:sp>
      <p:sp>
        <p:nvSpPr>
          <p:cNvPr id="9" name="Text 6"/>
          <p:cNvSpPr/>
          <p:nvPr/>
        </p:nvSpPr>
        <p:spPr>
          <a:xfrm>
            <a:off x="2560320" y="5623560"/>
            <a:ext cx="1005840" cy="365760"/>
          </a:xfrm>
          <a:prstGeom prst="roundRect">
            <a:avLst>
              <a:gd name="adj" fmla="val 20000"/>
            </a:avLst>
          </a:prstGeom>
          <a:solidFill>
            <a:srgbClr val="ECE9FA"/>
          </a:solidFill>
          <a:ln w="12700">
            <a:solidFill>
              <a:srgbClr val="7C6BD6"/>
            </a:solidFill>
          </a:ln>
        </p:spPr>
        <p:txBody>
          <a:bodyPr wrap="square" lIns="508" tIns="508" rIns="508" bIns="508" rtlCol="0" anchor="ctr"/>
          <a:lstStyle/>
          <a:p>
            <a:pPr algn="ctr" indent="0" marL="0">
              <a:buNone/>
            </a:pPr>
            <a:r>
              <a:rPr lang="en-US" sz="1200" b="1" dirty="0">
                <a:solidFill>
                  <a:schemeClr val="tx1"/>
                </a:solidFill>
              </a:rPr>
              <a:t>Cluster</a:t>
            </a:r>
            <a:endParaRPr lang="en-US" sz="1200" dirty="0"/>
          </a:p>
        </p:txBody>
      </p:sp>
      <p:sp>
        <p:nvSpPr>
          <p:cNvPr id="10" name="Shape 7"/>
          <p:cNvSpPr/>
          <p:nvPr/>
        </p:nvSpPr>
        <p:spPr>
          <a:xfrm>
            <a:off x="3602736" y="5806440"/>
            <a:ext cx="932688" cy="0"/>
          </a:xfrm>
          <a:prstGeom prst="line">
            <a:avLst/>
          </a:prstGeom>
          <a:noFill/>
          <a:ln w="15875">
            <a:solidFill>
              <a:srgbClr val="475569"/>
            </a:solidFill>
            <a:prstDash val="solid"/>
            <a:tailEnd type="triangle"/>
          </a:ln>
        </p:spPr>
      </p:sp>
      <p:sp>
        <p:nvSpPr>
          <p:cNvPr id="11" name="Text 8"/>
          <p:cNvSpPr txBox="1"/>
          <p:nvPr/>
        </p:nvSpPr>
        <p:spPr>
          <a:xfrm>
            <a:off x="3602736" y="5550408"/>
            <a:ext cx="932688" cy="228600"/>
          </a:xfrm>
          <a:prstGeom prst="rect">
            <a:avLst/>
          </a:prstGeom>
          <a:noFill/>
          <a:ln/>
        </p:spPr>
        <p:txBody>
          <a:bodyPr wrap="square" lIns="0" tIns="0" rIns="0" bIns="0" rtlCol="0" anchor="t"/>
          <a:lstStyle/>
          <a:p>
            <a:pPr algn="ctr" indent="0" marL="0">
              <a:buNone/>
            </a:pPr>
            <a:r>
              <a:rPr lang="en-US" sz="1000" dirty="0">
                <a:solidFill>
                  <a:schemeClr val="tx2"/>
                </a:solidFill>
              </a:rPr>
              <a:t>contributes to</a:t>
            </a:r>
            <a:endParaRPr lang="en-US" sz="1000" dirty="0"/>
          </a:p>
        </p:txBody>
      </p:sp>
      <p:sp>
        <p:nvSpPr>
          <p:cNvPr id="12" name="Text 9"/>
          <p:cNvSpPr/>
          <p:nvPr/>
        </p:nvSpPr>
        <p:spPr>
          <a:xfrm>
            <a:off x="4572000" y="5623560"/>
            <a:ext cx="1005840" cy="365760"/>
          </a:xfrm>
          <a:prstGeom prst="roundRect">
            <a:avLst>
              <a:gd name="adj" fmla="val 20000"/>
            </a:avLst>
          </a:prstGeom>
          <a:solidFill>
            <a:srgbClr val="ECE9FA"/>
          </a:solidFill>
          <a:ln w="12700">
            <a:solidFill>
              <a:srgbClr val="7C6BD6"/>
            </a:solidFill>
          </a:ln>
        </p:spPr>
        <p:txBody>
          <a:bodyPr wrap="square" lIns="508" tIns="508" rIns="508" bIns="508" rtlCol="0" anchor="ctr"/>
          <a:lstStyle/>
          <a:p>
            <a:pPr algn="ctr" indent="0" marL="0">
              <a:buNone/>
            </a:pPr>
            <a:r>
              <a:rPr lang="en-US" sz="1200" b="1" dirty="0">
                <a:solidFill>
                  <a:schemeClr val="tx1"/>
                </a:solidFill>
              </a:rPr>
              <a:t>Incident</a:t>
            </a:r>
            <a:endParaRPr lang="en-US" sz="1200" dirty="0"/>
          </a:p>
        </p:txBody>
      </p:sp>
      <p:sp>
        <p:nvSpPr>
          <p:cNvPr id="13" name="Shape 10"/>
          <p:cNvSpPr/>
          <p:nvPr/>
        </p:nvSpPr>
        <p:spPr>
          <a:xfrm>
            <a:off x="5614416" y="5806440"/>
            <a:ext cx="932688" cy="0"/>
          </a:xfrm>
          <a:prstGeom prst="line">
            <a:avLst/>
          </a:prstGeom>
          <a:noFill/>
          <a:ln w="15875">
            <a:solidFill>
              <a:srgbClr val="475569"/>
            </a:solidFill>
            <a:prstDash val="solid"/>
            <a:tailEnd type="triangle"/>
          </a:ln>
        </p:spPr>
      </p:sp>
      <p:sp>
        <p:nvSpPr>
          <p:cNvPr id="14" name="Text 11"/>
          <p:cNvSpPr txBox="1"/>
          <p:nvPr/>
        </p:nvSpPr>
        <p:spPr>
          <a:xfrm>
            <a:off x="5614416" y="5550408"/>
            <a:ext cx="932688" cy="228600"/>
          </a:xfrm>
          <a:prstGeom prst="rect">
            <a:avLst/>
          </a:prstGeom>
          <a:noFill/>
          <a:ln/>
        </p:spPr>
        <p:txBody>
          <a:bodyPr wrap="square" lIns="0" tIns="0" rIns="0" bIns="0" rtlCol="0" anchor="t"/>
          <a:lstStyle/>
          <a:p>
            <a:pPr algn="ctr" indent="0" marL="0">
              <a:buNone/>
            </a:pPr>
            <a:r>
              <a:rPr lang="en-US" sz="1000" dirty="0">
                <a:solidFill>
                  <a:schemeClr val="tx2"/>
                </a:solidFill>
              </a:rPr>
              <a:t>linked to</a:t>
            </a:r>
            <a:endParaRPr lang="en-US" sz="1000" dirty="0"/>
          </a:p>
        </p:txBody>
      </p:sp>
      <p:sp>
        <p:nvSpPr>
          <p:cNvPr id="15" name="Text 12"/>
          <p:cNvSpPr/>
          <p:nvPr/>
        </p:nvSpPr>
        <p:spPr>
          <a:xfrm>
            <a:off x="6583680" y="5623560"/>
            <a:ext cx="1005840" cy="365760"/>
          </a:xfrm>
          <a:prstGeom prst="roundRect">
            <a:avLst>
              <a:gd name="adj" fmla="val 20000"/>
            </a:avLst>
          </a:prstGeom>
          <a:solidFill>
            <a:srgbClr val="E3EBFA"/>
          </a:solidFill>
          <a:ln w="12700">
            <a:solidFill>
              <a:srgbClr val="3B6FD8"/>
            </a:solidFill>
          </a:ln>
        </p:spPr>
        <p:txBody>
          <a:bodyPr wrap="square" lIns="508" tIns="508" rIns="508" bIns="508" rtlCol="0" anchor="ctr"/>
          <a:lstStyle/>
          <a:p>
            <a:pPr algn="ctr" indent="0" marL="0">
              <a:buNone/>
            </a:pPr>
            <a:r>
              <a:rPr lang="en-US" sz="1200" b="1" dirty="0">
                <a:solidFill>
                  <a:schemeClr val="tx1"/>
                </a:solidFill>
              </a:rPr>
              <a:t>Release</a:t>
            </a:r>
            <a:endParaRPr lang="en-US" sz="1200" dirty="0"/>
          </a:p>
        </p:txBody>
      </p:sp>
      <p:sp>
        <p:nvSpPr>
          <p:cNvPr id="16" name="Text 13"/>
          <p:cNvSpPr txBox="1"/>
          <p:nvPr/>
        </p:nvSpPr>
        <p:spPr>
          <a:xfrm>
            <a:off x="548640" y="5413248"/>
            <a:ext cx="2743200" cy="182880"/>
          </a:xfrm>
          <a:prstGeom prst="rect">
            <a:avLst/>
          </a:prstGeom>
          <a:noFill/>
          <a:ln/>
        </p:spPr>
        <p:txBody>
          <a:bodyPr wrap="square" lIns="0" tIns="0" rIns="0" bIns="0" rtlCol="0" anchor="t"/>
          <a:lstStyle/>
          <a:p>
            <a:pPr algn="l" indent="0" marL="0">
              <a:buNone/>
            </a:pPr>
            <a:r>
              <a:rPr lang="en-US" sz="1000" b="1" spc="100" kern="0" dirty="0">
                <a:solidFill>
                  <a:schemeClr val="tx2"/>
                </a:solidFill>
              </a:rPr>
              <a:t>EXAMPLE PATH</a:t>
            </a:r>
            <a:endParaRPr lang="en-US" sz="1000" dirty="0"/>
          </a:p>
        </p:txBody>
      </p:sp>
      <p:sp>
        <p:nvSpPr>
          <p:cNvPr id="17" name="Shape 14"/>
          <p:cNvSpPr/>
          <p:nvPr/>
        </p:nvSpPr>
        <p:spPr>
          <a:xfrm>
            <a:off x="7863840" y="1508760"/>
            <a:ext cx="3776472" cy="868680"/>
          </a:xfrm>
          <a:prstGeom prst="roundRect">
            <a:avLst>
              <a:gd name="adj" fmla="val 8421"/>
            </a:avLst>
          </a:prstGeom>
          <a:solidFill>
            <a:schemeClr val="bg1"/>
          </a:solidFill>
          <a:ln w="15875">
            <a:solidFill>
              <a:srgbClr val="0D9488"/>
            </a:solidFill>
            <a:prstDash val="solid"/>
          </a:ln>
        </p:spPr>
      </p:sp>
      <p:sp>
        <p:nvSpPr>
          <p:cNvPr id="18" name="Text 15"/>
          <p:cNvSpPr txBox="1"/>
          <p:nvPr/>
        </p:nvSpPr>
        <p:spPr>
          <a:xfrm>
            <a:off x="8028432" y="1618488"/>
            <a:ext cx="2926080" cy="228600"/>
          </a:xfrm>
          <a:prstGeom prst="rect">
            <a:avLst/>
          </a:prstGeom>
          <a:noFill/>
          <a:ln/>
        </p:spPr>
        <p:txBody>
          <a:bodyPr wrap="square" lIns="0" tIns="0" rIns="0" bIns="0" rtlCol="0" anchor="t"/>
          <a:lstStyle/>
          <a:p>
            <a:pPr algn="l" indent="0" marL="0">
              <a:buNone/>
            </a:pPr>
            <a:r>
              <a:rPr lang="en-US" sz="1100" b="1" spc="100" kern="0" dirty="0">
                <a:solidFill>
                  <a:schemeClr val="accent1"/>
                </a:solidFill>
              </a:rPr>
              <a:t>CUSTOMER SIGNALS</a:t>
            </a:r>
            <a:endParaRPr lang="en-US" sz="1100" dirty="0"/>
          </a:p>
        </p:txBody>
      </p:sp>
      <p:sp>
        <p:nvSpPr>
          <p:cNvPr id="19" name="Text 16"/>
          <p:cNvSpPr txBox="1"/>
          <p:nvPr/>
        </p:nvSpPr>
        <p:spPr>
          <a:xfrm>
            <a:off x="11155680" y="1618488"/>
            <a:ext cx="320040" cy="228600"/>
          </a:xfrm>
          <a:prstGeom prst="rect">
            <a:avLst/>
          </a:prstGeom>
          <a:noFill/>
          <a:ln/>
        </p:spPr>
        <p:txBody>
          <a:bodyPr wrap="square" lIns="0" tIns="0" rIns="0" bIns="0" rtlCol="0" anchor="t"/>
          <a:lstStyle/>
          <a:p>
            <a:pPr algn="r" indent="0" marL="0">
              <a:buNone/>
            </a:pPr>
            <a:r>
              <a:rPr lang="en-US" sz="1100" b="1" dirty="0">
                <a:solidFill>
                  <a:schemeClr val="tx2"/>
                </a:solidFill>
              </a:rPr>
              <a:t>3</a:t>
            </a:r>
            <a:endParaRPr lang="en-US" sz="1100" dirty="0"/>
          </a:p>
        </p:txBody>
      </p:sp>
      <p:sp>
        <p:nvSpPr>
          <p:cNvPr id="20" name="Text 17"/>
          <p:cNvSpPr/>
          <p:nvPr/>
        </p:nvSpPr>
        <p:spPr>
          <a:xfrm>
            <a:off x="8028432" y="1929384"/>
            <a:ext cx="855878" cy="274320"/>
          </a:xfrm>
          <a:prstGeom prst="roundRect">
            <a:avLst>
              <a:gd name="adj" fmla="val 26667"/>
            </a:avLst>
          </a:prstGeom>
          <a:solidFill>
            <a:srgbClr val="DDF3F0"/>
          </a:solidFill>
          <a:ln w="12700">
            <a:solidFill>
              <a:srgbClr val="0D9488"/>
            </a:solidFill>
          </a:ln>
        </p:spPr>
        <p:txBody>
          <a:bodyPr wrap="square" lIns="508" tIns="508" rIns="508" bIns="508" rtlCol="0" anchor="ctr"/>
          <a:lstStyle/>
          <a:p>
            <a:pPr algn="ctr" indent="0" marL="0">
              <a:buNone/>
            </a:pPr>
            <a:r>
              <a:rPr lang="en-US" sz="1100" dirty="0">
                <a:solidFill>
                  <a:schemeClr val="tx1"/>
                </a:solidFill>
              </a:rPr>
              <a:t>Customer</a:t>
            </a:r>
            <a:endParaRPr lang="en-US" sz="1100" dirty="0"/>
          </a:p>
        </p:txBody>
      </p:sp>
      <p:sp>
        <p:nvSpPr>
          <p:cNvPr id="21" name="Text 18"/>
          <p:cNvSpPr/>
          <p:nvPr/>
        </p:nvSpPr>
        <p:spPr>
          <a:xfrm>
            <a:off x="8948318" y="1929384"/>
            <a:ext cx="855878" cy="274320"/>
          </a:xfrm>
          <a:prstGeom prst="roundRect">
            <a:avLst>
              <a:gd name="adj" fmla="val 26667"/>
            </a:avLst>
          </a:prstGeom>
          <a:solidFill>
            <a:srgbClr val="DDF3F0"/>
          </a:solidFill>
          <a:ln w="12700">
            <a:solidFill>
              <a:srgbClr val="0D9488"/>
            </a:solidFill>
          </a:ln>
        </p:spPr>
        <p:txBody>
          <a:bodyPr wrap="square" lIns="508" tIns="508" rIns="508" bIns="508" rtlCol="0" anchor="ctr"/>
          <a:lstStyle/>
          <a:p>
            <a:pPr algn="ctr" indent="0" marL="0">
              <a:buNone/>
            </a:pPr>
            <a:r>
              <a:rPr lang="en-US" sz="1100" dirty="0">
                <a:solidFill>
                  <a:schemeClr val="tx1"/>
                </a:solidFill>
              </a:rPr>
              <a:t>Feedback</a:t>
            </a:r>
            <a:endParaRPr lang="en-US" sz="1100" dirty="0"/>
          </a:p>
        </p:txBody>
      </p:sp>
      <p:sp>
        <p:nvSpPr>
          <p:cNvPr id="22" name="Text 19"/>
          <p:cNvSpPr/>
          <p:nvPr/>
        </p:nvSpPr>
        <p:spPr>
          <a:xfrm>
            <a:off x="9868205" y="1929384"/>
            <a:ext cx="1530706" cy="274320"/>
          </a:xfrm>
          <a:prstGeom prst="roundRect">
            <a:avLst>
              <a:gd name="adj" fmla="val 26667"/>
            </a:avLst>
          </a:prstGeom>
          <a:solidFill>
            <a:srgbClr val="DDF3F0"/>
          </a:solidFill>
          <a:ln w="12700">
            <a:solidFill>
              <a:srgbClr val="0D9488"/>
            </a:solidFill>
          </a:ln>
        </p:spPr>
        <p:txBody>
          <a:bodyPr wrap="square" lIns="508" tIns="508" rIns="508" bIns="508" rtlCol="0" anchor="ctr"/>
          <a:lstStyle/>
          <a:p>
            <a:pPr algn="ctr" indent="0" marL="0">
              <a:buNone/>
            </a:pPr>
            <a:r>
              <a:rPr lang="en-US" sz="1100" dirty="0">
                <a:solidFill>
                  <a:schemeClr val="tx1"/>
                </a:solidFill>
              </a:rPr>
              <a:t>Complaint Cluster</a:t>
            </a:r>
            <a:endParaRPr lang="en-US" sz="1100" dirty="0"/>
          </a:p>
        </p:txBody>
      </p:sp>
      <p:sp>
        <p:nvSpPr>
          <p:cNvPr id="23" name="Shape 20"/>
          <p:cNvSpPr/>
          <p:nvPr/>
        </p:nvSpPr>
        <p:spPr>
          <a:xfrm>
            <a:off x="7863840" y="2468880"/>
            <a:ext cx="3776472" cy="1463040"/>
          </a:xfrm>
          <a:prstGeom prst="roundRect">
            <a:avLst>
              <a:gd name="adj" fmla="val 5000"/>
            </a:avLst>
          </a:prstGeom>
          <a:solidFill>
            <a:schemeClr val="bg1"/>
          </a:solidFill>
          <a:ln w="15875">
            <a:solidFill>
              <a:srgbClr val="3B6FD8"/>
            </a:solidFill>
            <a:prstDash val="solid"/>
          </a:ln>
        </p:spPr>
      </p:sp>
      <p:sp>
        <p:nvSpPr>
          <p:cNvPr id="24" name="Text 21"/>
          <p:cNvSpPr txBox="1"/>
          <p:nvPr/>
        </p:nvSpPr>
        <p:spPr>
          <a:xfrm>
            <a:off x="8028432" y="2578608"/>
            <a:ext cx="2926080" cy="228600"/>
          </a:xfrm>
          <a:prstGeom prst="rect">
            <a:avLst/>
          </a:prstGeom>
          <a:noFill/>
          <a:ln/>
        </p:spPr>
        <p:txBody>
          <a:bodyPr wrap="square" lIns="0" tIns="0" rIns="0" bIns="0" rtlCol="0" anchor="t"/>
          <a:lstStyle/>
          <a:p>
            <a:pPr algn="l" indent="0" marL="0">
              <a:buNone/>
            </a:pPr>
            <a:r>
              <a:rPr lang="en-US" sz="1100" b="1" spc="100" kern="0" dirty="0">
                <a:solidFill>
                  <a:schemeClr val="accent3"/>
                </a:solidFill>
              </a:rPr>
              <a:t>OPERATIONAL CONTEXT</a:t>
            </a:r>
            <a:endParaRPr lang="en-US" sz="1100" dirty="0"/>
          </a:p>
        </p:txBody>
      </p:sp>
      <p:sp>
        <p:nvSpPr>
          <p:cNvPr id="25" name="Text 22"/>
          <p:cNvSpPr txBox="1"/>
          <p:nvPr/>
        </p:nvSpPr>
        <p:spPr>
          <a:xfrm>
            <a:off x="11155680" y="2578608"/>
            <a:ext cx="320040" cy="228600"/>
          </a:xfrm>
          <a:prstGeom prst="rect">
            <a:avLst/>
          </a:prstGeom>
          <a:noFill/>
          <a:ln/>
        </p:spPr>
        <p:txBody>
          <a:bodyPr wrap="square" lIns="0" tIns="0" rIns="0" bIns="0" rtlCol="0" anchor="t"/>
          <a:lstStyle/>
          <a:p>
            <a:pPr algn="r" indent="0" marL="0">
              <a:buNone/>
            </a:pPr>
            <a:r>
              <a:rPr lang="en-US" sz="1100" b="1" dirty="0">
                <a:solidFill>
                  <a:schemeClr val="tx2"/>
                </a:solidFill>
              </a:rPr>
              <a:t>7</a:t>
            </a:r>
            <a:endParaRPr lang="en-US" sz="1100" dirty="0"/>
          </a:p>
        </p:txBody>
      </p:sp>
      <p:sp>
        <p:nvSpPr>
          <p:cNvPr id="26" name="Text 23"/>
          <p:cNvSpPr/>
          <p:nvPr/>
        </p:nvSpPr>
        <p:spPr>
          <a:xfrm>
            <a:off x="8028432" y="2889504"/>
            <a:ext cx="1080821"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Transaction</a:t>
            </a:r>
            <a:endParaRPr lang="en-US" sz="1100" dirty="0"/>
          </a:p>
        </p:txBody>
      </p:sp>
      <p:sp>
        <p:nvSpPr>
          <p:cNvPr id="27" name="Text 24"/>
          <p:cNvSpPr/>
          <p:nvPr/>
        </p:nvSpPr>
        <p:spPr>
          <a:xfrm>
            <a:off x="9173261" y="2889504"/>
            <a:ext cx="630936"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Order</a:t>
            </a:r>
            <a:endParaRPr lang="en-US" sz="1100" dirty="0"/>
          </a:p>
        </p:txBody>
      </p:sp>
      <p:sp>
        <p:nvSpPr>
          <p:cNvPr id="28" name="Text 25"/>
          <p:cNvSpPr/>
          <p:nvPr/>
        </p:nvSpPr>
        <p:spPr>
          <a:xfrm>
            <a:off x="9868205" y="2889504"/>
            <a:ext cx="555955"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Bank</a:t>
            </a:r>
            <a:endParaRPr lang="en-US" sz="1100" dirty="0"/>
          </a:p>
        </p:txBody>
      </p:sp>
      <p:sp>
        <p:nvSpPr>
          <p:cNvPr id="29" name="Text 26"/>
          <p:cNvSpPr/>
          <p:nvPr/>
        </p:nvSpPr>
        <p:spPr>
          <a:xfrm>
            <a:off x="8028432" y="3227832"/>
            <a:ext cx="1380744"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Payment Gateway</a:t>
            </a:r>
            <a:endParaRPr lang="en-US" sz="1100" dirty="0"/>
          </a:p>
        </p:txBody>
      </p:sp>
      <p:sp>
        <p:nvSpPr>
          <p:cNvPr id="30" name="Text 27"/>
          <p:cNvSpPr/>
          <p:nvPr/>
        </p:nvSpPr>
        <p:spPr>
          <a:xfrm>
            <a:off x="9473184" y="3227832"/>
            <a:ext cx="1680667"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Application Version</a:t>
            </a:r>
            <a:endParaRPr lang="en-US" sz="1100" dirty="0"/>
          </a:p>
        </p:txBody>
      </p:sp>
      <p:sp>
        <p:nvSpPr>
          <p:cNvPr id="31" name="Text 28"/>
          <p:cNvSpPr/>
          <p:nvPr/>
        </p:nvSpPr>
        <p:spPr>
          <a:xfrm>
            <a:off x="8028432" y="3566160"/>
            <a:ext cx="780898"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Release</a:t>
            </a:r>
            <a:endParaRPr lang="en-US" sz="1100" dirty="0"/>
          </a:p>
        </p:txBody>
      </p:sp>
      <p:sp>
        <p:nvSpPr>
          <p:cNvPr id="32" name="Text 29"/>
          <p:cNvSpPr/>
          <p:nvPr/>
        </p:nvSpPr>
        <p:spPr>
          <a:xfrm>
            <a:off x="8873338" y="3566160"/>
            <a:ext cx="1530706" cy="274320"/>
          </a:xfrm>
          <a:prstGeom prst="roundRect">
            <a:avLst>
              <a:gd name="adj" fmla="val 26667"/>
            </a:avLst>
          </a:prstGeom>
          <a:solidFill>
            <a:srgbClr val="E3EBFA"/>
          </a:solidFill>
          <a:ln w="12700">
            <a:solidFill>
              <a:srgbClr val="3B6FD8"/>
            </a:solidFill>
          </a:ln>
        </p:spPr>
        <p:txBody>
          <a:bodyPr wrap="square" lIns="508" tIns="508" rIns="508" bIns="508" rtlCol="0" anchor="ctr"/>
          <a:lstStyle/>
          <a:p>
            <a:pPr algn="ctr" indent="0" marL="0">
              <a:buNone/>
            </a:pPr>
            <a:r>
              <a:rPr lang="en-US" sz="1100" dirty="0">
                <a:solidFill>
                  <a:schemeClr val="tx1"/>
                </a:solidFill>
              </a:rPr>
              <a:t>Operational Event</a:t>
            </a:r>
            <a:endParaRPr lang="en-US" sz="1100" dirty="0"/>
          </a:p>
        </p:txBody>
      </p:sp>
      <p:sp>
        <p:nvSpPr>
          <p:cNvPr id="33" name="Shape 30"/>
          <p:cNvSpPr/>
          <p:nvPr/>
        </p:nvSpPr>
        <p:spPr>
          <a:xfrm>
            <a:off x="7863840" y="4023360"/>
            <a:ext cx="3776472" cy="1463040"/>
          </a:xfrm>
          <a:prstGeom prst="roundRect">
            <a:avLst>
              <a:gd name="adj" fmla="val 5000"/>
            </a:avLst>
          </a:prstGeom>
          <a:solidFill>
            <a:schemeClr val="bg1"/>
          </a:solidFill>
          <a:ln w="15875">
            <a:solidFill>
              <a:srgbClr val="7C6BD6"/>
            </a:solidFill>
            <a:prstDash val="solid"/>
          </a:ln>
        </p:spPr>
      </p:sp>
      <p:sp>
        <p:nvSpPr>
          <p:cNvPr id="34" name="Text 31"/>
          <p:cNvSpPr txBox="1"/>
          <p:nvPr/>
        </p:nvSpPr>
        <p:spPr>
          <a:xfrm>
            <a:off x="8028432" y="4133088"/>
            <a:ext cx="2926080" cy="228600"/>
          </a:xfrm>
          <a:prstGeom prst="rect">
            <a:avLst/>
          </a:prstGeom>
          <a:noFill/>
          <a:ln/>
        </p:spPr>
        <p:txBody>
          <a:bodyPr wrap="square" lIns="0" tIns="0" rIns="0" bIns="0" rtlCol="0" anchor="t"/>
          <a:lstStyle/>
          <a:p>
            <a:pPr algn="l" indent="0" marL="0">
              <a:buNone/>
            </a:pPr>
            <a:r>
              <a:rPr lang="en-US" sz="1100" b="1" spc="100" kern="0" dirty="0">
                <a:solidFill>
                  <a:schemeClr val="accent2"/>
                </a:solidFill>
              </a:rPr>
              <a:t>INVESTIGATION AND RECOVERY</a:t>
            </a:r>
            <a:endParaRPr lang="en-US" sz="1100" dirty="0"/>
          </a:p>
        </p:txBody>
      </p:sp>
      <p:sp>
        <p:nvSpPr>
          <p:cNvPr id="35" name="Text 32"/>
          <p:cNvSpPr txBox="1"/>
          <p:nvPr/>
        </p:nvSpPr>
        <p:spPr>
          <a:xfrm>
            <a:off x="11155680" y="4133088"/>
            <a:ext cx="320040" cy="228600"/>
          </a:xfrm>
          <a:prstGeom prst="rect">
            <a:avLst/>
          </a:prstGeom>
          <a:noFill/>
          <a:ln/>
        </p:spPr>
        <p:txBody>
          <a:bodyPr wrap="square" lIns="0" tIns="0" rIns="0" bIns="0" rtlCol="0" anchor="t"/>
          <a:lstStyle/>
          <a:p>
            <a:pPr algn="r" indent="0" marL="0">
              <a:buNone/>
            </a:pPr>
            <a:r>
              <a:rPr lang="en-US" sz="1100" b="1" dirty="0">
                <a:solidFill>
                  <a:schemeClr val="tx2"/>
                </a:solidFill>
              </a:rPr>
              <a:t>7</a:t>
            </a:r>
            <a:endParaRPr lang="en-US" sz="1100" dirty="0"/>
          </a:p>
        </p:txBody>
      </p:sp>
      <p:sp>
        <p:nvSpPr>
          <p:cNvPr id="36" name="Text 33"/>
          <p:cNvSpPr/>
          <p:nvPr/>
        </p:nvSpPr>
        <p:spPr>
          <a:xfrm>
            <a:off x="8028432" y="4443984"/>
            <a:ext cx="855878"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Incident</a:t>
            </a:r>
            <a:endParaRPr lang="en-US" sz="1100" dirty="0"/>
          </a:p>
        </p:txBody>
      </p:sp>
      <p:sp>
        <p:nvSpPr>
          <p:cNvPr id="37" name="Text 34"/>
          <p:cNvSpPr/>
          <p:nvPr/>
        </p:nvSpPr>
        <p:spPr>
          <a:xfrm>
            <a:off x="8948318" y="4443984"/>
            <a:ext cx="1005840"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Hypothesis</a:t>
            </a:r>
            <a:endParaRPr lang="en-US" sz="1100" dirty="0"/>
          </a:p>
        </p:txBody>
      </p:sp>
      <p:sp>
        <p:nvSpPr>
          <p:cNvPr id="38" name="Text 35"/>
          <p:cNvSpPr/>
          <p:nvPr/>
        </p:nvSpPr>
        <p:spPr>
          <a:xfrm>
            <a:off x="10018166" y="4443984"/>
            <a:ext cx="855878"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Evidence</a:t>
            </a:r>
            <a:endParaRPr lang="en-US" sz="1100" dirty="0"/>
          </a:p>
        </p:txBody>
      </p:sp>
      <p:sp>
        <p:nvSpPr>
          <p:cNvPr id="39" name="Text 36"/>
          <p:cNvSpPr/>
          <p:nvPr/>
        </p:nvSpPr>
        <p:spPr>
          <a:xfrm>
            <a:off x="8028432" y="4782312"/>
            <a:ext cx="1305763"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Recommendation</a:t>
            </a:r>
            <a:endParaRPr lang="en-US" sz="1100" dirty="0"/>
          </a:p>
        </p:txBody>
      </p:sp>
      <p:sp>
        <p:nvSpPr>
          <p:cNvPr id="40" name="Text 37"/>
          <p:cNvSpPr/>
          <p:nvPr/>
        </p:nvSpPr>
        <p:spPr>
          <a:xfrm>
            <a:off x="9398203" y="4782312"/>
            <a:ext cx="855878"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Approval</a:t>
            </a:r>
            <a:endParaRPr lang="en-US" sz="1100" dirty="0"/>
          </a:p>
        </p:txBody>
      </p:sp>
      <p:sp>
        <p:nvSpPr>
          <p:cNvPr id="41" name="Text 38"/>
          <p:cNvSpPr/>
          <p:nvPr/>
        </p:nvSpPr>
        <p:spPr>
          <a:xfrm>
            <a:off x="8028432" y="5120640"/>
            <a:ext cx="1380744"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Recovery Action</a:t>
            </a:r>
            <a:endParaRPr lang="en-US" sz="1100" dirty="0"/>
          </a:p>
        </p:txBody>
      </p:sp>
      <p:sp>
        <p:nvSpPr>
          <p:cNvPr id="42" name="Text 39"/>
          <p:cNvSpPr/>
          <p:nvPr/>
        </p:nvSpPr>
        <p:spPr>
          <a:xfrm>
            <a:off x="9473184" y="5120640"/>
            <a:ext cx="1005840" cy="274320"/>
          </a:xfrm>
          <a:prstGeom prst="roundRect">
            <a:avLst>
              <a:gd name="adj" fmla="val 26667"/>
            </a:avLst>
          </a:prstGeom>
          <a:solidFill>
            <a:srgbClr val="ECE9FA"/>
          </a:solidFill>
          <a:ln w="12700">
            <a:solidFill>
              <a:srgbClr val="7C6BD6"/>
            </a:solidFill>
          </a:ln>
        </p:spPr>
        <p:txBody>
          <a:bodyPr wrap="square" lIns="508" tIns="508" rIns="508" bIns="508" rtlCol="0" anchor="ctr"/>
          <a:lstStyle/>
          <a:p>
            <a:pPr algn="ctr" indent="0" marL="0">
              <a:buNone/>
            </a:pPr>
            <a:r>
              <a:rPr lang="en-US" sz="1100" dirty="0">
                <a:solidFill>
                  <a:schemeClr val="tx1"/>
                </a:solidFill>
              </a:rPr>
              <a:t>KPI Result</a:t>
            </a:r>
            <a:endParaRPr lang="en-US" sz="1100" dirty="0"/>
          </a:p>
        </p:txBody>
      </p:sp>
      <p:sp>
        <p:nvSpPr>
          <p:cNvPr id="43" name="Shape 40"/>
          <p:cNvSpPr/>
          <p:nvPr/>
        </p:nvSpPr>
        <p:spPr>
          <a:xfrm>
            <a:off x="7863840" y="5577840"/>
            <a:ext cx="3776472" cy="640080"/>
          </a:xfrm>
          <a:prstGeom prst="roundRect">
            <a:avLst>
              <a:gd name="adj" fmla="val 11429"/>
            </a:avLst>
          </a:prstGeom>
          <a:solidFill>
            <a:schemeClr val="tx1"/>
          </a:solidFill>
          <a:ln w="6350">
            <a:solidFill>
              <a:schemeClr val="tx1"/>
            </a:solidFill>
            <a:prstDash val="solid"/>
          </a:ln>
        </p:spPr>
      </p:sp>
      <p:sp>
        <p:nvSpPr>
          <p:cNvPr id="44" name="Text 41"/>
          <p:cNvSpPr txBox="1"/>
          <p:nvPr/>
        </p:nvSpPr>
        <p:spPr>
          <a:xfrm>
            <a:off x="8028432" y="5577840"/>
            <a:ext cx="3474720" cy="640080"/>
          </a:xfrm>
          <a:prstGeom prst="rect">
            <a:avLst/>
          </a:prstGeom>
          <a:noFill/>
          <a:ln/>
        </p:spPr>
        <p:txBody>
          <a:bodyPr wrap="square" lIns="0" tIns="0" rIns="0" bIns="0" rtlCol="0" anchor="ctr"/>
          <a:lstStyle/>
          <a:p>
            <a:pPr algn="l" indent="0" marL="0">
              <a:buNone/>
            </a:pPr>
            <a:r>
              <a:rPr lang="en-US" sz="1200" b="1" dirty="0">
                <a:solidFill>
                  <a:schemeClr val="bg1"/>
                </a:solidFill>
              </a:rPr>
              <a:t>Links show association, not proof. The Root Cause Court decides cause.</a:t>
            </a:r>
            <a:endParaRPr lang="en-US" sz="12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TECHNICAL ARCHITECTURE</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Architecture: Node.js owns data, Python owns intelligence</a:t>
            </a:r>
            <a:endParaRPr lang="en-US" sz="3000" dirty="0"/>
          </a:p>
        </p:txBody>
      </p:sp>
      <p:sp>
        <p:nvSpPr>
          <p:cNvPr id="4" name="Text 2"/>
          <p:cNvSpPr txBox="1"/>
          <p:nvPr/>
        </p:nvSpPr>
        <p:spPr>
          <a:xfrm>
            <a:off x="548640" y="1481328"/>
            <a:ext cx="2743200" cy="201168"/>
          </a:xfrm>
          <a:prstGeom prst="rect">
            <a:avLst/>
          </a:prstGeom>
          <a:noFill/>
          <a:ln/>
        </p:spPr>
        <p:txBody>
          <a:bodyPr wrap="square" lIns="0" tIns="0" rIns="0" bIns="0" rtlCol="0" anchor="t"/>
          <a:lstStyle/>
          <a:p>
            <a:pPr algn="l" indent="0" marL="0">
              <a:buNone/>
            </a:pPr>
            <a:r>
              <a:rPr lang="en-US" sz="1000" b="1" spc="100" kern="0" dirty="0">
                <a:solidFill>
                  <a:schemeClr val="tx2"/>
                </a:solidFill>
              </a:rPr>
              <a:t>DATA SOURCES</a:t>
            </a:r>
            <a:endParaRPr lang="en-US" sz="1000" dirty="0"/>
          </a:p>
        </p:txBody>
      </p:sp>
      <p:sp>
        <p:nvSpPr>
          <p:cNvPr id="5" name="Text 3"/>
          <p:cNvSpPr/>
          <p:nvPr/>
        </p:nvSpPr>
        <p:spPr>
          <a:xfrm>
            <a:off x="548640"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Customer feedback</a:t>
            </a:r>
            <a:endParaRPr lang="en-US" sz="1100" dirty="0"/>
          </a:p>
        </p:txBody>
      </p:sp>
      <p:sp>
        <p:nvSpPr>
          <p:cNvPr id="6" name="Text 4"/>
          <p:cNvSpPr/>
          <p:nvPr/>
        </p:nvSpPr>
        <p:spPr>
          <a:xfrm>
            <a:off x="2139696"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CSV uploads</a:t>
            </a:r>
            <a:endParaRPr lang="en-US" sz="1100" dirty="0"/>
          </a:p>
        </p:txBody>
      </p:sp>
      <p:sp>
        <p:nvSpPr>
          <p:cNvPr id="7" name="Text 5"/>
          <p:cNvSpPr/>
          <p:nvPr/>
        </p:nvSpPr>
        <p:spPr>
          <a:xfrm>
            <a:off x="3730752"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Google Forms webhook</a:t>
            </a:r>
            <a:endParaRPr lang="en-US" sz="1100" dirty="0"/>
          </a:p>
        </p:txBody>
      </p:sp>
      <p:sp>
        <p:nvSpPr>
          <p:cNvPr id="8" name="Text 6"/>
          <p:cNvSpPr/>
          <p:nvPr/>
        </p:nvSpPr>
        <p:spPr>
          <a:xfrm>
            <a:off x="5321808"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Support tickets &amp; app reviews</a:t>
            </a:r>
            <a:endParaRPr lang="en-US" sz="1100" dirty="0"/>
          </a:p>
        </p:txBody>
      </p:sp>
      <p:sp>
        <p:nvSpPr>
          <p:cNvPr id="9" name="Text 7"/>
          <p:cNvSpPr/>
          <p:nvPr/>
        </p:nvSpPr>
        <p:spPr>
          <a:xfrm>
            <a:off x="6912864"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Transactions &amp; orders</a:t>
            </a:r>
            <a:endParaRPr lang="en-US" sz="1100" dirty="0"/>
          </a:p>
        </p:txBody>
      </p:sp>
      <p:sp>
        <p:nvSpPr>
          <p:cNvPr id="10" name="Text 8"/>
          <p:cNvSpPr/>
          <p:nvPr/>
        </p:nvSpPr>
        <p:spPr>
          <a:xfrm>
            <a:off x="8503920"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Payment &amp; refund events</a:t>
            </a:r>
            <a:endParaRPr lang="en-US" sz="1100" dirty="0"/>
          </a:p>
        </p:txBody>
      </p:sp>
      <p:sp>
        <p:nvSpPr>
          <p:cNvPr id="11" name="Text 9"/>
          <p:cNvSpPr/>
          <p:nvPr/>
        </p:nvSpPr>
        <p:spPr>
          <a:xfrm>
            <a:off x="10094976" y="1719072"/>
            <a:ext cx="15361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100" dirty="0">
                <a:solidFill>
                  <a:schemeClr val="tx1"/>
                </a:solidFill>
              </a:rPr>
              <a:t>App versions &amp; ops events</a:t>
            </a:r>
            <a:endParaRPr lang="en-US" sz="1100" dirty="0"/>
          </a:p>
        </p:txBody>
      </p:sp>
      <p:sp>
        <p:nvSpPr>
          <p:cNvPr id="12" name="Shape 10"/>
          <p:cNvSpPr/>
          <p:nvPr/>
        </p:nvSpPr>
        <p:spPr>
          <a:xfrm>
            <a:off x="4937760" y="2194560"/>
            <a:ext cx="0" cy="484632"/>
          </a:xfrm>
          <a:prstGeom prst="line">
            <a:avLst/>
          </a:prstGeom>
          <a:noFill/>
          <a:ln w="22225">
            <a:solidFill>
              <a:srgbClr val="475569"/>
            </a:solidFill>
            <a:prstDash val="solid"/>
            <a:tailEnd type="triangle"/>
          </a:ln>
        </p:spPr>
      </p:sp>
      <p:sp>
        <p:nvSpPr>
          <p:cNvPr id="13" name="Text 11"/>
          <p:cNvSpPr txBox="1"/>
          <p:nvPr/>
        </p:nvSpPr>
        <p:spPr>
          <a:xfrm>
            <a:off x="5029200" y="2304288"/>
            <a:ext cx="914400" cy="201168"/>
          </a:xfrm>
          <a:prstGeom prst="rect">
            <a:avLst/>
          </a:prstGeom>
          <a:noFill/>
          <a:ln/>
        </p:spPr>
        <p:txBody>
          <a:bodyPr wrap="square" lIns="0" tIns="0" rIns="0" bIns="0" rtlCol="0" anchor="t"/>
          <a:lstStyle/>
          <a:p>
            <a:pPr algn="l" indent="0" marL="0">
              <a:buNone/>
            </a:pPr>
            <a:r>
              <a:rPr lang="en-US" sz="1000" dirty="0">
                <a:solidFill>
                  <a:schemeClr val="tx2"/>
                </a:solidFill>
              </a:rPr>
              <a:t>ingest</a:t>
            </a:r>
            <a:endParaRPr lang="en-US" sz="1000" dirty="0"/>
          </a:p>
        </p:txBody>
      </p:sp>
      <p:sp>
        <p:nvSpPr>
          <p:cNvPr id="14" name="Shape 12"/>
          <p:cNvSpPr/>
          <p:nvPr/>
        </p:nvSpPr>
        <p:spPr>
          <a:xfrm>
            <a:off x="548640" y="2697480"/>
            <a:ext cx="2651760" cy="2194560"/>
          </a:xfrm>
          <a:prstGeom prst="roundRect">
            <a:avLst>
              <a:gd name="adj" fmla="val 3333"/>
            </a:avLst>
          </a:prstGeom>
          <a:solidFill>
            <a:schemeClr val="bg1"/>
          </a:solidFill>
          <a:ln w="19050">
            <a:solidFill>
              <a:srgbClr val="3B6FD8"/>
            </a:solidFill>
            <a:prstDash val="solid"/>
          </a:ln>
        </p:spPr>
      </p:sp>
      <p:sp>
        <p:nvSpPr>
          <p:cNvPr id="15" name="Text 13"/>
          <p:cNvSpPr txBox="1"/>
          <p:nvPr/>
        </p:nvSpPr>
        <p:spPr>
          <a:xfrm>
            <a:off x="713232" y="2788920"/>
            <a:ext cx="2377440" cy="237744"/>
          </a:xfrm>
          <a:prstGeom prst="rect">
            <a:avLst/>
          </a:prstGeom>
          <a:noFill/>
          <a:ln/>
        </p:spPr>
        <p:txBody>
          <a:bodyPr wrap="square" lIns="0" tIns="0" rIns="0" bIns="0" rtlCol="0" anchor="t"/>
          <a:lstStyle/>
          <a:p>
            <a:pPr algn="l" indent="0" marL="0">
              <a:buNone/>
            </a:pPr>
            <a:r>
              <a:rPr lang="en-US" sz="1400" b="1" dirty="0">
                <a:solidFill>
                  <a:schemeClr val="accent3"/>
                </a:solidFill>
              </a:rPr>
              <a:t>FRONTEND</a:t>
            </a:r>
            <a:endParaRPr lang="en-US" sz="1400" dirty="0"/>
          </a:p>
        </p:txBody>
      </p:sp>
      <p:sp>
        <p:nvSpPr>
          <p:cNvPr id="16" name="Text 14"/>
          <p:cNvSpPr txBox="1"/>
          <p:nvPr/>
        </p:nvSpPr>
        <p:spPr>
          <a:xfrm>
            <a:off x="713232" y="3035808"/>
            <a:ext cx="2377440" cy="201168"/>
          </a:xfrm>
          <a:prstGeom prst="rect">
            <a:avLst/>
          </a:prstGeom>
          <a:noFill/>
          <a:ln/>
        </p:spPr>
        <p:txBody>
          <a:bodyPr wrap="square" lIns="0" tIns="0" rIns="0" bIns="0" rtlCol="0" anchor="t"/>
          <a:lstStyle/>
          <a:p>
            <a:pPr algn="l" indent="0" marL="0">
              <a:buNone/>
            </a:pPr>
            <a:r>
              <a:rPr lang="en-US" sz="1100" dirty="0">
                <a:solidFill>
                  <a:schemeClr val="tx2"/>
                </a:solidFill>
              </a:rPr>
              <a:t>React + React Flow</a:t>
            </a:r>
            <a:endParaRPr lang="en-US" sz="1100" dirty="0"/>
          </a:p>
        </p:txBody>
      </p:sp>
      <p:sp>
        <p:nvSpPr>
          <p:cNvPr id="17" name="Text 15"/>
          <p:cNvSpPr txBox="1"/>
          <p:nvPr/>
        </p:nvSpPr>
        <p:spPr>
          <a:xfrm>
            <a:off x="713232" y="3300984"/>
            <a:ext cx="2377440" cy="1536192"/>
          </a:xfrm>
          <a:prstGeom prst="rect">
            <a:avLst/>
          </a:prstGeom>
          <a:noFill/>
          <a:ln/>
        </p:spPr>
        <p:txBody>
          <a:bodyPr wrap="square" lIns="0" tIns="0" rIns="0" bIns="0" rtlCol="0" anchor="t"/>
          <a:lstStyle/>
          <a:p>
            <a:pPr marL="152400" indent="-152400">
              <a:spcAft>
                <a:spcPts val="200"/>
              </a:spcAft>
              <a:buSzPct val="100000"/>
              <a:buChar char="•"/>
            </a:pPr>
            <a:r>
              <a:rPr lang="en-US" sz="1100" dirty="0">
                <a:solidFill>
                  <a:schemeClr val="tx1"/>
                </a:solidFill>
              </a:rPr>
              <a:t>Dashboard</a:t>
            </a:r>
            <a:endParaRPr lang="en-US" sz="1100" dirty="0"/>
          </a:p>
          <a:p>
            <a:pPr marL="152400" indent="-152400">
              <a:spcAft>
                <a:spcPts val="200"/>
              </a:spcAft>
              <a:buSzPct val="100000"/>
              <a:buChar char="•"/>
            </a:pPr>
            <a:r>
              <a:rPr lang="en-US" sz="1100" dirty="0">
                <a:solidFill>
                  <a:schemeClr val="tx1"/>
                </a:solidFill>
              </a:rPr>
              <a:t>Incident explorer</a:t>
            </a:r>
            <a:endParaRPr lang="en-US" sz="1100" dirty="0"/>
          </a:p>
          <a:p>
            <a:pPr marL="152400" indent="-152400">
              <a:spcAft>
                <a:spcPts val="200"/>
              </a:spcAft>
              <a:buSzPct val="100000"/>
              <a:buChar char="•"/>
            </a:pPr>
            <a:r>
              <a:rPr lang="en-US" sz="1100" dirty="0">
                <a:solidFill>
                  <a:schemeClr val="tx1"/>
                </a:solidFill>
              </a:rPr>
              <a:t>Knowledge Graph explorer</a:t>
            </a:r>
            <a:endParaRPr lang="en-US" sz="1100" dirty="0"/>
          </a:p>
          <a:p>
            <a:pPr marL="152400" indent="-152400">
              <a:spcAft>
                <a:spcPts val="200"/>
              </a:spcAft>
              <a:buSzPct val="100000"/>
              <a:buChar char="•"/>
            </a:pPr>
            <a:r>
              <a:rPr lang="en-US" sz="1100" dirty="0">
                <a:solidFill>
                  <a:schemeClr val="tx1"/>
                </a:solidFill>
              </a:rPr>
              <a:t>Root cause investigation</a:t>
            </a:r>
            <a:endParaRPr lang="en-US" sz="1100" dirty="0"/>
          </a:p>
          <a:p>
            <a:pPr marL="152400" indent="-152400">
              <a:spcAft>
                <a:spcPts val="200"/>
              </a:spcAft>
              <a:buSzPct val="100000"/>
              <a:buChar char="•"/>
            </a:pPr>
            <a:r>
              <a:rPr lang="en-US" sz="1100" dirty="0">
                <a:solidFill>
                  <a:schemeClr val="tx1"/>
                </a:solidFill>
              </a:rPr>
              <a:t>Approval centre</a:t>
            </a:r>
            <a:endParaRPr lang="en-US" sz="1100" dirty="0"/>
          </a:p>
          <a:p>
            <a:pPr marL="152400" indent="-152400">
              <a:spcAft>
                <a:spcPts val="200"/>
              </a:spcAft>
              <a:buSzPct val="100000"/>
              <a:buChar char="•"/>
            </a:pPr>
            <a:r>
              <a:rPr lang="en-US" sz="1100" dirty="0">
                <a:solidFill>
                  <a:schemeClr val="tx1"/>
                </a:solidFill>
              </a:rPr>
              <a:t>KPI dashboard</a:t>
            </a:r>
            <a:endParaRPr lang="en-US" sz="1100" dirty="0"/>
          </a:p>
        </p:txBody>
      </p:sp>
      <p:sp>
        <p:nvSpPr>
          <p:cNvPr id="18" name="Shape 16"/>
          <p:cNvSpPr/>
          <p:nvPr/>
        </p:nvSpPr>
        <p:spPr>
          <a:xfrm>
            <a:off x="3611880" y="2697480"/>
            <a:ext cx="2651760" cy="2194560"/>
          </a:xfrm>
          <a:prstGeom prst="roundRect">
            <a:avLst>
              <a:gd name="adj" fmla="val 3333"/>
            </a:avLst>
          </a:prstGeom>
          <a:solidFill>
            <a:schemeClr val="bg1"/>
          </a:solidFill>
          <a:ln w="19050">
            <a:solidFill>
              <a:srgbClr val="0D9488"/>
            </a:solidFill>
            <a:prstDash val="solid"/>
          </a:ln>
        </p:spPr>
      </p:sp>
      <p:sp>
        <p:nvSpPr>
          <p:cNvPr id="19" name="Text 17"/>
          <p:cNvSpPr txBox="1"/>
          <p:nvPr/>
        </p:nvSpPr>
        <p:spPr>
          <a:xfrm>
            <a:off x="3776472" y="2788920"/>
            <a:ext cx="2377440" cy="237744"/>
          </a:xfrm>
          <a:prstGeom prst="rect">
            <a:avLst/>
          </a:prstGeom>
          <a:noFill/>
          <a:ln/>
        </p:spPr>
        <p:txBody>
          <a:bodyPr wrap="square" lIns="0" tIns="0" rIns="0" bIns="0" rtlCol="0" anchor="t"/>
          <a:lstStyle/>
          <a:p>
            <a:pPr algn="l" indent="0" marL="0">
              <a:buNone/>
            </a:pPr>
            <a:r>
              <a:rPr lang="en-US" sz="1400" b="1" dirty="0">
                <a:solidFill>
                  <a:schemeClr val="accent1"/>
                </a:solidFill>
              </a:rPr>
              <a:t>BACKEND</a:t>
            </a:r>
            <a:endParaRPr lang="en-US" sz="1400" dirty="0"/>
          </a:p>
        </p:txBody>
      </p:sp>
      <p:sp>
        <p:nvSpPr>
          <p:cNvPr id="20" name="Text 18"/>
          <p:cNvSpPr txBox="1"/>
          <p:nvPr/>
        </p:nvSpPr>
        <p:spPr>
          <a:xfrm>
            <a:off x="3776472" y="3035808"/>
            <a:ext cx="2377440" cy="201168"/>
          </a:xfrm>
          <a:prstGeom prst="rect">
            <a:avLst/>
          </a:prstGeom>
          <a:noFill/>
          <a:ln/>
        </p:spPr>
        <p:txBody>
          <a:bodyPr wrap="square" lIns="0" tIns="0" rIns="0" bIns="0" rtlCol="0" anchor="t"/>
          <a:lstStyle/>
          <a:p>
            <a:pPr algn="l" indent="0" marL="0">
              <a:buNone/>
            </a:pPr>
            <a:r>
              <a:rPr lang="en-US" sz="1100" dirty="0">
                <a:solidFill>
                  <a:schemeClr val="tx2"/>
                </a:solidFill>
              </a:rPr>
              <a:t>Node.js + Express</a:t>
            </a:r>
            <a:endParaRPr lang="en-US" sz="1100" dirty="0"/>
          </a:p>
        </p:txBody>
      </p:sp>
      <p:sp>
        <p:nvSpPr>
          <p:cNvPr id="21" name="Text 19"/>
          <p:cNvSpPr txBox="1"/>
          <p:nvPr/>
        </p:nvSpPr>
        <p:spPr>
          <a:xfrm>
            <a:off x="3776472" y="3300984"/>
            <a:ext cx="2377440" cy="1536192"/>
          </a:xfrm>
          <a:prstGeom prst="rect">
            <a:avLst/>
          </a:prstGeom>
          <a:noFill/>
          <a:ln/>
        </p:spPr>
        <p:txBody>
          <a:bodyPr wrap="square" lIns="0" tIns="0" rIns="0" bIns="0" rtlCol="0" anchor="t"/>
          <a:lstStyle/>
          <a:p>
            <a:pPr marL="152400" indent="-152400">
              <a:spcAft>
                <a:spcPts val="200"/>
              </a:spcAft>
              <a:buSzPct val="100000"/>
              <a:buChar char="•"/>
            </a:pPr>
            <a:r>
              <a:rPr lang="en-US" sz="1100" dirty="0">
                <a:solidFill>
                  <a:schemeClr val="tx1"/>
                </a:solidFill>
              </a:rPr>
              <a:t>API gateway and authentication</a:t>
            </a:r>
            <a:endParaRPr lang="en-US" sz="1100" dirty="0"/>
          </a:p>
          <a:p>
            <a:pPr marL="152400" indent="-152400">
              <a:spcAft>
                <a:spcPts val="200"/>
              </a:spcAft>
              <a:buSzPct val="100000"/>
              <a:buChar char="•"/>
            </a:pPr>
            <a:r>
              <a:rPr lang="en-US" sz="1100" dirty="0">
                <a:solidFill>
                  <a:schemeClr val="tx1"/>
                </a:solidFill>
              </a:rPr>
              <a:t>Data ingestion</a:t>
            </a:r>
            <a:endParaRPr lang="en-US" sz="1100" dirty="0"/>
          </a:p>
          <a:p>
            <a:pPr marL="152400" indent="-152400">
              <a:spcAft>
                <a:spcPts val="200"/>
              </a:spcAft>
              <a:buSzPct val="100000"/>
              <a:buChar char="•"/>
            </a:pPr>
            <a:r>
              <a:rPr lang="en-US" sz="1100" dirty="0">
                <a:solidFill>
                  <a:schemeClr val="tx1"/>
                </a:solidFill>
              </a:rPr>
              <a:t>Incident lifecycle</a:t>
            </a:r>
            <a:endParaRPr lang="en-US" sz="1100" dirty="0"/>
          </a:p>
          <a:p>
            <a:pPr marL="152400" indent="-152400">
              <a:spcAft>
                <a:spcPts val="200"/>
              </a:spcAft>
              <a:buSzPct val="100000"/>
              <a:buChar char="•"/>
            </a:pPr>
            <a:r>
              <a:rPr lang="en-US" sz="1100" dirty="0">
                <a:solidFill>
                  <a:schemeClr val="tx1"/>
                </a:solidFill>
              </a:rPr>
              <a:t>Approval workflow</a:t>
            </a:r>
            <a:endParaRPr lang="en-US" sz="1100" dirty="0"/>
          </a:p>
          <a:p>
            <a:pPr marL="152400" indent="-152400">
              <a:spcAft>
                <a:spcPts val="200"/>
              </a:spcAft>
              <a:buSzPct val="100000"/>
              <a:buChar char="•"/>
            </a:pPr>
            <a:r>
              <a:rPr lang="en-US" sz="1100" dirty="0">
                <a:solidFill>
                  <a:schemeClr val="tx1"/>
                </a:solidFill>
              </a:rPr>
              <a:t>Audit logs</a:t>
            </a:r>
            <a:endParaRPr lang="en-US" sz="1100" dirty="0"/>
          </a:p>
          <a:p>
            <a:pPr marL="152400" indent="-152400">
              <a:spcAft>
                <a:spcPts val="200"/>
              </a:spcAft>
              <a:buSzPct val="100000"/>
              <a:buChar char="•"/>
            </a:pPr>
            <a:r>
              <a:rPr lang="en-US" sz="1100" dirty="0">
                <a:solidFill>
                  <a:schemeClr val="tx1"/>
                </a:solidFill>
              </a:rPr>
              <a:t>KPI management</a:t>
            </a:r>
            <a:endParaRPr lang="en-US" sz="1100" dirty="0"/>
          </a:p>
          <a:p>
            <a:pPr marL="152400" indent="-152400">
              <a:spcAft>
                <a:spcPts val="200"/>
              </a:spcAft>
              <a:buSzPct val="100000"/>
              <a:buChar char="•"/>
            </a:pPr>
            <a:r>
              <a:rPr lang="en-US" sz="1100" dirty="0">
                <a:solidFill>
                  <a:schemeClr val="tx1"/>
                </a:solidFill>
              </a:rPr>
              <a:t>Owns all database writes</a:t>
            </a:r>
            <a:endParaRPr lang="en-US" sz="1100" dirty="0"/>
          </a:p>
        </p:txBody>
      </p:sp>
      <p:sp>
        <p:nvSpPr>
          <p:cNvPr id="22" name="Shape 20"/>
          <p:cNvSpPr/>
          <p:nvPr/>
        </p:nvSpPr>
        <p:spPr>
          <a:xfrm>
            <a:off x="6675120" y="2697480"/>
            <a:ext cx="2743200" cy="2194560"/>
          </a:xfrm>
          <a:prstGeom prst="roundRect">
            <a:avLst>
              <a:gd name="adj" fmla="val 3333"/>
            </a:avLst>
          </a:prstGeom>
          <a:solidFill>
            <a:schemeClr val="bg1"/>
          </a:solidFill>
          <a:ln w="19050">
            <a:solidFill>
              <a:srgbClr val="7C6BD6"/>
            </a:solidFill>
            <a:prstDash val="solid"/>
          </a:ln>
        </p:spPr>
      </p:sp>
      <p:sp>
        <p:nvSpPr>
          <p:cNvPr id="23" name="Text 21"/>
          <p:cNvSpPr txBox="1"/>
          <p:nvPr/>
        </p:nvSpPr>
        <p:spPr>
          <a:xfrm>
            <a:off x="6839712" y="2788920"/>
            <a:ext cx="2468880" cy="237744"/>
          </a:xfrm>
          <a:prstGeom prst="rect">
            <a:avLst/>
          </a:prstGeom>
          <a:noFill/>
          <a:ln/>
        </p:spPr>
        <p:txBody>
          <a:bodyPr wrap="square" lIns="0" tIns="0" rIns="0" bIns="0" rtlCol="0" anchor="t"/>
          <a:lstStyle/>
          <a:p>
            <a:pPr algn="l" indent="0" marL="0">
              <a:buNone/>
            </a:pPr>
            <a:r>
              <a:rPr lang="en-US" sz="1400" b="1" dirty="0">
                <a:solidFill>
                  <a:schemeClr val="accent2"/>
                </a:solidFill>
              </a:rPr>
              <a:t>AI SERVICE</a:t>
            </a:r>
            <a:endParaRPr lang="en-US" sz="1400" dirty="0"/>
          </a:p>
        </p:txBody>
      </p:sp>
      <p:sp>
        <p:nvSpPr>
          <p:cNvPr id="24" name="Text 22"/>
          <p:cNvSpPr txBox="1"/>
          <p:nvPr/>
        </p:nvSpPr>
        <p:spPr>
          <a:xfrm>
            <a:off x="6839712" y="3035808"/>
            <a:ext cx="2468880" cy="201168"/>
          </a:xfrm>
          <a:prstGeom prst="rect">
            <a:avLst/>
          </a:prstGeom>
          <a:noFill/>
          <a:ln/>
        </p:spPr>
        <p:txBody>
          <a:bodyPr wrap="square" lIns="0" tIns="0" rIns="0" bIns="0" rtlCol="0" anchor="t"/>
          <a:lstStyle/>
          <a:p>
            <a:pPr algn="l" indent="0" marL="0">
              <a:buNone/>
            </a:pPr>
            <a:r>
              <a:rPr lang="en-US" sz="1100" dirty="0">
                <a:solidFill>
                  <a:schemeClr val="tx2"/>
                </a:solidFill>
              </a:rPr>
              <a:t>Python + FastAPI</a:t>
            </a:r>
            <a:endParaRPr lang="en-US" sz="1100" dirty="0"/>
          </a:p>
        </p:txBody>
      </p:sp>
      <p:sp>
        <p:nvSpPr>
          <p:cNvPr id="25" name="Text 23"/>
          <p:cNvSpPr txBox="1"/>
          <p:nvPr/>
        </p:nvSpPr>
        <p:spPr>
          <a:xfrm>
            <a:off x="6839712" y="3300984"/>
            <a:ext cx="2468880" cy="1536192"/>
          </a:xfrm>
          <a:prstGeom prst="rect">
            <a:avLst/>
          </a:prstGeom>
          <a:noFill/>
          <a:ln/>
        </p:spPr>
        <p:txBody>
          <a:bodyPr wrap="square" lIns="0" tIns="0" rIns="0" bIns="0" rtlCol="0" anchor="t"/>
          <a:lstStyle/>
          <a:p>
            <a:pPr marL="152400" indent="-152400">
              <a:spcAft>
                <a:spcPts val="200"/>
              </a:spcAft>
              <a:buSzPct val="100000"/>
              <a:buChar char="•"/>
            </a:pPr>
            <a:r>
              <a:rPr lang="en-US" sz="1100" dirty="0">
                <a:solidFill>
                  <a:schemeClr val="tx1"/>
                </a:solidFill>
              </a:rPr>
              <a:t>MiniLM sentence embeddings</a:t>
            </a:r>
            <a:endParaRPr lang="en-US" sz="1100" dirty="0"/>
          </a:p>
          <a:p>
            <a:pPr marL="152400" indent="-152400">
              <a:spcAft>
                <a:spcPts val="200"/>
              </a:spcAft>
              <a:buSzPct val="100000"/>
              <a:buChar char="•"/>
            </a:pPr>
            <a:r>
              <a:rPr lang="en-US" sz="1100" dirty="0">
                <a:solidFill>
                  <a:schemeClr val="tx1"/>
                </a:solidFill>
              </a:rPr>
              <a:t>Logistic Regression classifier</a:t>
            </a:r>
            <a:endParaRPr lang="en-US" sz="1100" dirty="0"/>
          </a:p>
          <a:p>
            <a:pPr marL="152400" indent="-152400">
              <a:spcAft>
                <a:spcPts val="200"/>
              </a:spcAft>
              <a:buSzPct val="100000"/>
              <a:buChar char="•"/>
            </a:pPr>
            <a:r>
              <a:rPr lang="en-US" sz="1100" dirty="0">
                <a:solidFill>
                  <a:schemeClr val="tx1"/>
                </a:solidFill>
              </a:rPr>
              <a:t>HDBSCAN clustering</a:t>
            </a:r>
            <a:endParaRPr lang="en-US" sz="1100" dirty="0"/>
          </a:p>
          <a:p>
            <a:pPr marL="152400" indent="-152400">
              <a:spcAft>
                <a:spcPts val="200"/>
              </a:spcAft>
              <a:buSzPct val="100000"/>
              <a:buChar char="•"/>
            </a:pPr>
            <a:r>
              <a:rPr lang="en-US" sz="1100" dirty="0">
                <a:solidFill>
                  <a:schemeClr val="tx1"/>
                </a:solidFill>
              </a:rPr>
              <a:t>Signal analytics</a:t>
            </a:r>
            <a:endParaRPr lang="en-US" sz="1100" dirty="0"/>
          </a:p>
          <a:p>
            <a:pPr marL="152400" indent="-152400">
              <a:spcAft>
                <a:spcPts val="200"/>
              </a:spcAft>
              <a:buSzPct val="100000"/>
              <a:buChar char="•"/>
            </a:pPr>
            <a:r>
              <a:rPr lang="en-US" sz="1100" dirty="0">
                <a:solidFill>
                  <a:schemeClr val="tx1"/>
                </a:solidFill>
              </a:rPr>
              <a:t>Knowledge Graph (NetworkX)</a:t>
            </a:r>
            <a:endParaRPr lang="en-US" sz="1100" dirty="0"/>
          </a:p>
          <a:p>
            <a:pPr marL="152400" indent="-152400">
              <a:spcAft>
                <a:spcPts val="200"/>
              </a:spcAft>
              <a:buSzPct val="100000"/>
              <a:buChar char="•"/>
            </a:pPr>
            <a:r>
              <a:rPr lang="en-US" sz="1100" dirty="0">
                <a:solidFill>
                  <a:schemeClr val="tx1"/>
                </a:solidFill>
              </a:rPr>
              <a:t>Bounded AI agent</a:t>
            </a:r>
            <a:endParaRPr lang="en-US" sz="1100" dirty="0"/>
          </a:p>
          <a:p>
            <a:pPr marL="152400" indent="-152400">
              <a:spcAft>
                <a:spcPts val="200"/>
              </a:spcAft>
              <a:buSzPct val="100000"/>
              <a:buChar char="•"/>
            </a:pPr>
            <a:r>
              <a:rPr lang="en-US" sz="1100" dirty="0">
                <a:solidFill>
                  <a:schemeClr val="tx1"/>
                </a:solidFill>
              </a:rPr>
              <a:t>Root Cause Court</a:t>
            </a:r>
            <a:endParaRPr lang="en-US" sz="1100" dirty="0"/>
          </a:p>
          <a:p>
            <a:pPr marL="152400" indent="-152400">
              <a:spcAft>
                <a:spcPts val="200"/>
              </a:spcAft>
              <a:buSzPct val="100000"/>
              <a:buChar char="•"/>
            </a:pPr>
            <a:r>
              <a:rPr lang="en-US" sz="1100" dirty="0">
                <a:solidFill>
                  <a:schemeClr val="tx1"/>
                </a:solidFill>
              </a:rPr>
              <a:t>Evidence-based recommendations</a:t>
            </a:r>
            <a:endParaRPr lang="en-US" sz="1100" dirty="0"/>
          </a:p>
        </p:txBody>
      </p:sp>
      <p:sp>
        <p:nvSpPr>
          <p:cNvPr id="26" name="Shape 24"/>
          <p:cNvSpPr/>
          <p:nvPr/>
        </p:nvSpPr>
        <p:spPr>
          <a:xfrm>
            <a:off x="9829800" y="2697480"/>
            <a:ext cx="1810512" cy="2194560"/>
          </a:xfrm>
          <a:prstGeom prst="roundRect">
            <a:avLst>
              <a:gd name="adj" fmla="val 4040"/>
            </a:avLst>
          </a:prstGeom>
          <a:solidFill>
            <a:schemeClr val="bg1"/>
          </a:solidFill>
          <a:ln w="19050">
            <a:solidFill>
              <a:srgbClr val="7C6BD6"/>
            </a:solidFill>
            <a:prstDash val="solid"/>
          </a:ln>
        </p:spPr>
      </p:sp>
      <p:sp>
        <p:nvSpPr>
          <p:cNvPr id="27" name="Text 25"/>
          <p:cNvSpPr txBox="1"/>
          <p:nvPr/>
        </p:nvSpPr>
        <p:spPr>
          <a:xfrm>
            <a:off x="9994392" y="2788920"/>
            <a:ext cx="1536192" cy="237744"/>
          </a:xfrm>
          <a:prstGeom prst="rect">
            <a:avLst/>
          </a:prstGeom>
          <a:noFill/>
          <a:ln/>
        </p:spPr>
        <p:txBody>
          <a:bodyPr wrap="square" lIns="0" tIns="0" rIns="0" bIns="0" rtlCol="0" anchor="t"/>
          <a:lstStyle/>
          <a:p>
            <a:pPr algn="l" indent="0" marL="0">
              <a:buNone/>
            </a:pPr>
            <a:r>
              <a:rPr lang="en-US" sz="1400" b="1" dirty="0">
                <a:solidFill>
                  <a:schemeClr val="accent2"/>
                </a:solidFill>
              </a:rPr>
              <a:t>LLM</a:t>
            </a:r>
            <a:endParaRPr lang="en-US" sz="1400" dirty="0"/>
          </a:p>
        </p:txBody>
      </p:sp>
      <p:sp>
        <p:nvSpPr>
          <p:cNvPr id="28" name="Text 26"/>
          <p:cNvSpPr txBox="1"/>
          <p:nvPr/>
        </p:nvSpPr>
        <p:spPr>
          <a:xfrm>
            <a:off x="9994392" y="3035808"/>
            <a:ext cx="1536192" cy="201168"/>
          </a:xfrm>
          <a:prstGeom prst="rect">
            <a:avLst/>
          </a:prstGeom>
          <a:noFill/>
          <a:ln/>
        </p:spPr>
        <p:txBody>
          <a:bodyPr wrap="square" lIns="0" tIns="0" rIns="0" bIns="0" rtlCol="0" anchor="t"/>
          <a:lstStyle/>
          <a:p>
            <a:pPr algn="l" indent="0" marL="0">
              <a:buNone/>
            </a:pPr>
            <a:r>
              <a:rPr lang="en-US" sz="1100" dirty="0">
                <a:solidFill>
                  <a:schemeClr val="tx2"/>
                </a:solidFill>
              </a:rPr>
              <a:t>Groq API</a:t>
            </a:r>
            <a:endParaRPr lang="en-US" sz="1100" dirty="0"/>
          </a:p>
        </p:txBody>
      </p:sp>
      <p:sp>
        <p:nvSpPr>
          <p:cNvPr id="29" name="Text 27"/>
          <p:cNvSpPr txBox="1"/>
          <p:nvPr/>
        </p:nvSpPr>
        <p:spPr>
          <a:xfrm>
            <a:off x="9994392" y="3300984"/>
            <a:ext cx="1536192" cy="1536192"/>
          </a:xfrm>
          <a:prstGeom prst="rect">
            <a:avLst/>
          </a:prstGeom>
          <a:noFill/>
          <a:ln/>
        </p:spPr>
        <p:txBody>
          <a:bodyPr wrap="square" lIns="0" tIns="0" rIns="0" bIns="0" rtlCol="0" anchor="t"/>
          <a:lstStyle/>
          <a:p>
            <a:pPr marL="152400" indent="-152400">
              <a:spcAft>
                <a:spcPts val="200"/>
              </a:spcAft>
              <a:buSzPct val="100000"/>
              <a:buChar char="•"/>
            </a:pPr>
            <a:r>
              <a:rPr lang="en-US" sz="1100" dirty="0">
                <a:solidFill>
                  <a:schemeClr val="tx1"/>
                </a:solidFill>
              </a:rPr>
              <a:t>Language understanding</a:t>
            </a:r>
            <a:endParaRPr lang="en-US" sz="1100" dirty="0"/>
          </a:p>
          <a:p>
            <a:pPr marL="152400" indent="-152400">
              <a:spcAft>
                <a:spcPts val="200"/>
              </a:spcAft>
              <a:buSzPct val="100000"/>
              <a:buChar char="•"/>
            </a:pPr>
            <a:r>
              <a:rPr lang="en-US" sz="1100" dirty="0">
                <a:solidFill>
                  <a:schemeClr val="tx1"/>
                </a:solidFill>
              </a:rPr>
              <a:t>Hypothesis support</a:t>
            </a:r>
            <a:endParaRPr lang="en-US" sz="1100" dirty="0"/>
          </a:p>
          <a:p>
            <a:pPr marL="152400" indent="-152400">
              <a:spcAft>
                <a:spcPts val="200"/>
              </a:spcAft>
              <a:buSzPct val="100000"/>
              <a:buChar char="•"/>
            </a:pPr>
            <a:r>
              <a:rPr lang="en-US" sz="1100" dirty="0">
                <a:solidFill>
                  <a:schemeClr val="tx1"/>
                </a:solidFill>
              </a:rPr>
              <a:t>Evidence explanation</a:t>
            </a:r>
            <a:endParaRPr lang="en-US" sz="1100" dirty="0"/>
          </a:p>
          <a:p>
            <a:pPr marL="152400" indent="-152400">
              <a:spcAft>
                <a:spcPts val="200"/>
              </a:spcAft>
              <a:buSzPct val="100000"/>
              <a:buChar char="•"/>
            </a:pPr>
            <a:r>
              <a:rPr lang="en-US" sz="1100" dirty="0">
                <a:solidFill>
                  <a:schemeClr val="tx1"/>
                </a:solidFill>
              </a:rPr>
              <a:t>Restricted tool choice</a:t>
            </a:r>
            <a:endParaRPr lang="en-US" sz="1100" dirty="0"/>
          </a:p>
        </p:txBody>
      </p:sp>
      <p:sp>
        <p:nvSpPr>
          <p:cNvPr id="30" name="Text 28"/>
          <p:cNvSpPr txBox="1"/>
          <p:nvPr/>
        </p:nvSpPr>
        <p:spPr>
          <a:xfrm>
            <a:off x="9994392" y="4572000"/>
            <a:ext cx="1600200" cy="201168"/>
          </a:xfrm>
          <a:prstGeom prst="rect">
            <a:avLst/>
          </a:prstGeom>
          <a:noFill/>
          <a:ln/>
        </p:spPr>
        <p:txBody>
          <a:bodyPr wrap="square" lIns="0" tIns="0" rIns="0" bIns="0" rtlCol="0" anchor="t"/>
          <a:lstStyle/>
          <a:p>
            <a:pPr algn="l" indent="0" marL="0">
              <a:buNone/>
            </a:pPr>
            <a:r>
              <a:rPr lang="en-US" sz="1000" i="1" dirty="0">
                <a:solidFill>
                  <a:schemeClr val="accent4"/>
                </a:solidFill>
              </a:rPr>
              <a:t>Qwen model: provisional</a:t>
            </a:r>
            <a:endParaRPr lang="en-US" sz="1000" dirty="0"/>
          </a:p>
        </p:txBody>
      </p:sp>
      <p:sp>
        <p:nvSpPr>
          <p:cNvPr id="31" name="Shape 29"/>
          <p:cNvSpPr/>
          <p:nvPr/>
        </p:nvSpPr>
        <p:spPr>
          <a:xfrm>
            <a:off x="3227832" y="3794760"/>
            <a:ext cx="356616" cy="0"/>
          </a:xfrm>
          <a:prstGeom prst="line">
            <a:avLst/>
          </a:prstGeom>
          <a:noFill/>
          <a:ln w="22225">
            <a:solidFill>
              <a:srgbClr val="475569"/>
            </a:solidFill>
            <a:prstDash val="solid"/>
            <a:headEnd type="triangle"/>
            <a:tailEnd type="triangle"/>
          </a:ln>
        </p:spPr>
      </p:sp>
      <p:sp>
        <p:nvSpPr>
          <p:cNvPr id="32" name="Text 30"/>
          <p:cNvSpPr txBox="1"/>
          <p:nvPr/>
        </p:nvSpPr>
        <p:spPr>
          <a:xfrm>
            <a:off x="3200400" y="3566160"/>
            <a:ext cx="411480" cy="182880"/>
          </a:xfrm>
          <a:prstGeom prst="rect">
            <a:avLst/>
          </a:prstGeom>
          <a:noFill/>
          <a:ln/>
        </p:spPr>
        <p:txBody>
          <a:bodyPr wrap="square" lIns="0" tIns="0" rIns="0" bIns="0" rtlCol="0" anchor="t"/>
          <a:lstStyle/>
          <a:p>
            <a:pPr algn="ctr" indent="0" marL="0">
              <a:buNone/>
            </a:pPr>
            <a:r>
              <a:rPr lang="en-US" sz="1000" dirty="0">
                <a:solidFill>
                  <a:schemeClr val="tx2"/>
                </a:solidFill>
              </a:rPr>
              <a:t>REST</a:t>
            </a:r>
            <a:endParaRPr lang="en-US" sz="1000" dirty="0"/>
          </a:p>
        </p:txBody>
      </p:sp>
      <p:sp>
        <p:nvSpPr>
          <p:cNvPr id="33" name="Shape 31"/>
          <p:cNvSpPr/>
          <p:nvPr/>
        </p:nvSpPr>
        <p:spPr>
          <a:xfrm>
            <a:off x="6291072" y="3794760"/>
            <a:ext cx="356616" cy="0"/>
          </a:xfrm>
          <a:prstGeom prst="line">
            <a:avLst/>
          </a:prstGeom>
          <a:noFill/>
          <a:ln w="22225">
            <a:solidFill>
              <a:srgbClr val="475569"/>
            </a:solidFill>
            <a:prstDash val="solid"/>
            <a:tailEnd type="triangle"/>
          </a:ln>
        </p:spPr>
      </p:sp>
      <p:sp>
        <p:nvSpPr>
          <p:cNvPr id="34" name="Text 32"/>
          <p:cNvSpPr txBox="1"/>
          <p:nvPr/>
        </p:nvSpPr>
        <p:spPr>
          <a:xfrm>
            <a:off x="6263640" y="3566160"/>
            <a:ext cx="411480" cy="182880"/>
          </a:xfrm>
          <a:prstGeom prst="rect">
            <a:avLst/>
          </a:prstGeom>
          <a:noFill/>
          <a:ln/>
        </p:spPr>
        <p:txBody>
          <a:bodyPr wrap="square" lIns="0" tIns="0" rIns="0" bIns="0" rtlCol="0" anchor="t"/>
          <a:lstStyle/>
          <a:p>
            <a:pPr algn="ctr" indent="0" marL="0">
              <a:buNone/>
            </a:pPr>
            <a:r>
              <a:rPr lang="en-US" sz="1000" dirty="0">
                <a:solidFill>
                  <a:schemeClr val="tx2"/>
                </a:solidFill>
              </a:rPr>
              <a:t>HTTP</a:t>
            </a:r>
            <a:endParaRPr lang="en-US" sz="1000" dirty="0"/>
          </a:p>
        </p:txBody>
      </p:sp>
      <p:sp>
        <p:nvSpPr>
          <p:cNvPr id="35" name="Shape 33"/>
          <p:cNvSpPr/>
          <p:nvPr/>
        </p:nvSpPr>
        <p:spPr>
          <a:xfrm>
            <a:off x="9445752" y="3794760"/>
            <a:ext cx="356616" cy="0"/>
          </a:xfrm>
          <a:prstGeom prst="line">
            <a:avLst/>
          </a:prstGeom>
          <a:noFill/>
          <a:ln w="22225">
            <a:solidFill>
              <a:srgbClr val="475569"/>
            </a:solidFill>
            <a:prstDash val="solid"/>
            <a:headEnd type="triangle"/>
            <a:tailEnd type="triangle"/>
          </a:ln>
        </p:spPr>
      </p:sp>
      <p:sp>
        <p:nvSpPr>
          <p:cNvPr id="36" name="Text 34"/>
          <p:cNvSpPr txBox="1"/>
          <p:nvPr/>
        </p:nvSpPr>
        <p:spPr>
          <a:xfrm>
            <a:off x="9418320" y="3566160"/>
            <a:ext cx="411480" cy="182880"/>
          </a:xfrm>
          <a:prstGeom prst="rect">
            <a:avLst/>
          </a:prstGeom>
          <a:noFill/>
          <a:ln/>
        </p:spPr>
        <p:txBody>
          <a:bodyPr wrap="square" lIns="0" tIns="0" rIns="0" bIns="0" rtlCol="0" anchor="t"/>
          <a:lstStyle/>
          <a:p>
            <a:pPr algn="ctr" indent="0" marL="0">
              <a:buNone/>
            </a:pPr>
            <a:r>
              <a:rPr lang="en-US" sz="1000" dirty="0">
                <a:solidFill>
                  <a:schemeClr val="tx2"/>
                </a:solidFill>
              </a:rPr>
              <a:t>API</a:t>
            </a:r>
            <a:endParaRPr lang="en-US" sz="1000" dirty="0"/>
          </a:p>
        </p:txBody>
      </p:sp>
      <p:sp>
        <p:nvSpPr>
          <p:cNvPr id="37" name="Shape 35"/>
          <p:cNvSpPr/>
          <p:nvPr/>
        </p:nvSpPr>
        <p:spPr>
          <a:xfrm>
            <a:off x="1874520" y="4910328"/>
            <a:ext cx="0" cy="374904"/>
          </a:xfrm>
          <a:prstGeom prst="line">
            <a:avLst/>
          </a:prstGeom>
          <a:noFill/>
          <a:ln w="22225">
            <a:solidFill>
              <a:srgbClr val="475569"/>
            </a:solidFill>
            <a:prstDash val="solid"/>
            <a:tailEnd type="triangle"/>
          </a:ln>
        </p:spPr>
      </p:sp>
      <p:sp>
        <p:nvSpPr>
          <p:cNvPr id="38" name="Text 36"/>
          <p:cNvSpPr txBox="1"/>
          <p:nvPr/>
        </p:nvSpPr>
        <p:spPr>
          <a:xfrm>
            <a:off x="1965960" y="5001768"/>
            <a:ext cx="914400" cy="182880"/>
          </a:xfrm>
          <a:prstGeom prst="rect">
            <a:avLst/>
          </a:prstGeom>
          <a:noFill/>
          <a:ln/>
        </p:spPr>
        <p:txBody>
          <a:bodyPr wrap="square" lIns="0" tIns="0" rIns="0" bIns="0" rtlCol="0" anchor="t"/>
          <a:lstStyle/>
          <a:p>
            <a:pPr algn="l" indent="0" marL="0">
              <a:buNone/>
            </a:pPr>
            <a:r>
              <a:rPr lang="en-US" sz="1000" dirty="0">
                <a:solidFill>
                  <a:schemeClr val="tx2"/>
                </a:solidFill>
              </a:rPr>
              <a:t>approve</a:t>
            </a:r>
            <a:endParaRPr lang="en-US" sz="1000" dirty="0"/>
          </a:p>
        </p:txBody>
      </p:sp>
      <p:sp>
        <p:nvSpPr>
          <p:cNvPr id="39" name="Shape 37"/>
          <p:cNvSpPr/>
          <p:nvPr/>
        </p:nvSpPr>
        <p:spPr>
          <a:xfrm>
            <a:off x="4937760" y="4910328"/>
            <a:ext cx="0" cy="374904"/>
          </a:xfrm>
          <a:prstGeom prst="line">
            <a:avLst/>
          </a:prstGeom>
          <a:noFill/>
          <a:ln w="22225">
            <a:solidFill>
              <a:srgbClr val="475569"/>
            </a:solidFill>
            <a:prstDash val="solid"/>
            <a:tailEnd type="triangle"/>
          </a:ln>
        </p:spPr>
      </p:sp>
      <p:sp>
        <p:nvSpPr>
          <p:cNvPr id="40" name="Text 38"/>
          <p:cNvSpPr txBox="1"/>
          <p:nvPr/>
        </p:nvSpPr>
        <p:spPr>
          <a:xfrm>
            <a:off x="5029200" y="5001768"/>
            <a:ext cx="914400" cy="182880"/>
          </a:xfrm>
          <a:prstGeom prst="rect">
            <a:avLst/>
          </a:prstGeom>
          <a:noFill/>
          <a:ln/>
        </p:spPr>
        <p:txBody>
          <a:bodyPr wrap="square" lIns="0" tIns="0" rIns="0" bIns="0" rtlCol="0" anchor="t"/>
          <a:lstStyle/>
          <a:p>
            <a:pPr algn="l" indent="0" marL="0">
              <a:buNone/>
            </a:pPr>
            <a:r>
              <a:rPr lang="en-US" sz="1000" dirty="0">
                <a:solidFill>
                  <a:schemeClr val="tx2"/>
                </a:solidFill>
              </a:rPr>
              <a:t>writes</a:t>
            </a:r>
            <a:endParaRPr lang="en-US" sz="1000" dirty="0"/>
          </a:p>
        </p:txBody>
      </p:sp>
      <p:sp>
        <p:nvSpPr>
          <p:cNvPr id="41" name="Shape 39"/>
          <p:cNvSpPr/>
          <p:nvPr/>
        </p:nvSpPr>
        <p:spPr>
          <a:xfrm flipV="1">
            <a:off x="8046720" y="4910328"/>
            <a:ext cx="0" cy="374904"/>
          </a:xfrm>
          <a:prstGeom prst="line">
            <a:avLst/>
          </a:prstGeom>
          <a:noFill/>
          <a:ln w="22225">
            <a:solidFill>
              <a:srgbClr val="475569"/>
            </a:solidFill>
            <a:prstDash val="dash"/>
            <a:tailEnd type="triangle"/>
          </a:ln>
        </p:spPr>
      </p:sp>
      <p:sp>
        <p:nvSpPr>
          <p:cNvPr id="42" name="Text 40"/>
          <p:cNvSpPr txBox="1"/>
          <p:nvPr/>
        </p:nvSpPr>
        <p:spPr>
          <a:xfrm>
            <a:off x="8138160" y="5001768"/>
            <a:ext cx="1280160" cy="182880"/>
          </a:xfrm>
          <a:prstGeom prst="rect">
            <a:avLst/>
          </a:prstGeom>
          <a:noFill/>
          <a:ln/>
        </p:spPr>
        <p:txBody>
          <a:bodyPr wrap="square" lIns="0" tIns="0" rIns="0" bIns="0" rtlCol="0" anchor="t"/>
          <a:lstStyle/>
          <a:p>
            <a:pPr algn="l" indent="0" marL="0">
              <a:buNone/>
            </a:pPr>
            <a:r>
              <a:rPr lang="en-US" sz="1000" dirty="0">
                <a:solidFill>
                  <a:schemeClr val="tx2"/>
                </a:solidFill>
              </a:rPr>
              <a:t>controlled read</a:t>
            </a:r>
            <a:endParaRPr lang="en-US" sz="1000" dirty="0"/>
          </a:p>
        </p:txBody>
      </p:sp>
      <p:sp>
        <p:nvSpPr>
          <p:cNvPr id="43" name="Shape 41"/>
          <p:cNvSpPr/>
          <p:nvPr/>
        </p:nvSpPr>
        <p:spPr>
          <a:xfrm>
            <a:off x="548640" y="5303520"/>
            <a:ext cx="2651760" cy="960120"/>
          </a:xfrm>
          <a:prstGeom prst="roundRect">
            <a:avLst>
              <a:gd name="adj" fmla="val 7619"/>
            </a:avLst>
          </a:prstGeom>
          <a:solidFill>
            <a:schemeClr val="bg1"/>
          </a:solidFill>
          <a:ln w="19050">
            <a:solidFill>
              <a:srgbClr val="0D9488"/>
            </a:solidFill>
            <a:prstDash val="solid"/>
          </a:ln>
        </p:spPr>
      </p:sp>
      <p:sp>
        <p:nvSpPr>
          <p:cNvPr id="44" name="Text 42"/>
          <p:cNvSpPr txBox="1"/>
          <p:nvPr/>
        </p:nvSpPr>
        <p:spPr>
          <a:xfrm>
            <a:off x="713232" y="5376672"/>
            <a:ext cx="2377440" cy="219456"/>
          </a:xfrm>
          <a:prstGeom prst="rect">
            <a:avLst/>
          </a:prstGeom>
          <a:noFill/>
          <a:ln/>
        </p:spPr>
        <p:txBody>
          <a:bodyPr wrap="square" lIns="0" tIns="0" rIns="0" bIns="0" rtlCol="0" anchor="t"/>
          <a:lstStyle/>
          <a:p>
            <a:pPr algn="l" indent="0" marL="0">
              <a:buNone/>
            </a:pPr>
            <a:r>
              <a:rPr lang="en-US" sz="1300" b="1" dirty="0">
                <a:solidFill>
                  <a:schemeClr val="accent1"/>
                </a:solidFill>
              </a:rPr>
              <a:t>RECOVERY</a:t>
            </a:r>
            <a:endParaRPr lang="en-US" sz="1300" dirty="0"/>
          </a:p>
        </p:txBody>
      </p:sp>
      <p:sp>
        <p:nvSpPr>
          <p:cNvPr id="45" name="Text 43"/>
          <p:cNvSpPr txBox="1"/>
          <p:nvPr/>
        </p:nvSpPr>
        <p:spPr>
          <a:xfrm>
            <a:off x="713232" y="5623560"/>
            <a:ext cx="2377440" cy="594360"/>
          </a:xfrm>
          <a:prstGeom prst="rect">
            <a:avLst/>
          </a:prstGeom>
          <a:noFill/>
          <a:ln/>
        </p:spPr>
        <p:txBody>
          <a:bodyPr wrap="square" lIns="0" tIns="0" rIns="0" bIns="0" rtlCol="0" anchor="t"/>
          <a:lstStyle/>
          <a:p>
            <a:pPr algn="l" indent="0" marL="0">
              <a:buNone/>
            </a:pPr>
            <a:r>
              <a:rPr lang="en-US" sz="1100" dirty="0">
                <a:solidFill>
                  <a:schemeClr val="tx1"/>
                </a:solidFill>
              </a:rPr>
              <a:t>Eligibility checks, human approval, simulated action, KPI verification</a:t>
            </a:r>
            <a:endParaRPr lang="en-US" sz="1100" dirty="0"/>
          </a:p>
        </p:txBody>
      </p:sp>
      <p:sp>
        <p:nvSpPr>
          <p:cNvPr id="46" name="Shape 44"/>
          <p:cNvSpPr/>
          <p:nvPr/>
        </p:nvSpPr>
        <p:spPr>
          <a:xfrm>
            <a:off x="3611880" y="5303520"/>
            <a:ext cx="5806440" cy="960120"/>
          </a:xfrm>
          <a:prstGeom prst="roundRect">
            <a:avLst>
              <a:gd name="adj" fmla="val 7619"/>
            </a:avLst>
          </a:prstGeom>
          <a:solidFill>
            <a:schemeClr val="bg1"/>
          </a:solidFill>
          <a:ln w="19050">
            <a:solidFill>
              <a:srgbClr val="475569"/>
            </a:solidFill>
            <a:prstDash val="solid"/>
          </a:ln>
        </p:spPr>
      </p:sp>
      <p:sp>
        <p:nvSpPr>
          <p:cNvPr id="47" name="Text 45"/>
          <p:cNvSpPr txBox="1"/>
          <p:nvPr/>
        </p:nvSpPr>
        <p:spPr>
          <a:xfrm>
            <a:off x="3776472" y="5376672"/>
            <a:ext cx="5486400" cy="822960"/>
          </a:xfrm>
          <a:prstGeom prst="rect">
            <a:avLst/>
          </a:prstGeom>
          <a:noFill/>
          <a:ln/>
        </p:spPr>
        <p:txBody>
          <a:bodyPr wrap="square" lIns="0" tIns="0" rIns="0" bIns="0" rtlCol="0" anchor="t"/>
          <a:lstStyle/>
          <a:p>
            <a:pPr algn="l" indent="0" marL="0">
              <a:spcAft>
                <a:spcPts val="300"/>
              </a:spcAft>
              <a:buNone/>
            </a:pPr>
            <a:r>
              <a:rPr lang="en-US" sz="1300" b="1" dirty="0">
                <a:solidFill>
                  <a:schemeClr val="tx2"/>
                </a:solidFill>
              </a:rPr>
              <a:t>DATABASE  </a:t>
            </a:r>
            <a:pPr algn="l" indent="0" marL="0">
              <a:spcAft>
                <a:spcPts val="300"/>
              </a:spcAft>
              <a:buNone/>
            </a:pPr>
            <a:r>
              <a:rPr lang="en-US" sz="1100" dirty="0">
                <a:solidFill>
                  <a:schemeClr val="tx1"/>
                </a:solidFill>
              </a:rPr>
              <a:t>MySQL 8.4 (local); TiDB is the target and needs validation</a:t>
            </a:r>
            <a:endParaRPr lang="en-US" sz="1100" dirty="0"/>
          </a:p>
          <a:p>
            <a:pPr algn="l" indent="0" marL="0">
              <a:spcAft>
                <a:spcPts val="300"/>
              </a:spcAft>
              <a:buNone/>
            </a:pPr>
            <a:r>
              <a:rPr lang="en-US" sz="1100" dirty="0">
                <a:solidFill>
                  <a:schemeClr val="tx1"/>
                </a:solidFill>
              </a:rPr>
              <a:t>Customers, feedback, transactions, incidents, graph records, evidence, approvals, actions and KPIs.</a:t>
            </a:r>
            <a:endParaRPr lang="en-US" sz="1100" dirty="0"/>
          </a:p>
        </p:txBody>
      </p:sp>
      <p:sp>
        <p:nvSpPr>
          <p:cNvPr id="48" name="Shape 46"/>
          <p:cNvSpPr/>
          <p:nvPr/>
        </p:nvSpPr>
        <p:spPr>
          <a:xfrm>
            <a:off x="9829800" y="5303520"/>
            <a:ext cx="1810512" cy="960120"/>
          </a:xfrm>
          <a:prstGeom prst="roundRect">
            <a:avLst>
              <a:gd name="adj" fmla="val 7619"/>
            </a:avLst>
          </a:prstGeom>
          <a:solidFill>
            <a:schemeClr val="tx1"/>
          </a:solidFill>
          <a:ln w="6350">
            <a:solidFill>
              <a:schemeClr val="tx1"/>
            </a:solidFill>
            <a:prstDash val="solid"/>
          </a:ln>
        </p:spPr>
      </p:sp>
      <p:sp>
        <p:nvSpPr>
          <p:cNvPr id="49" name="Text 47"/>
          <p:cNvSpPr txBox="1"/>
          <p:nvPr/>
        </p:nvSpPr>
        <p:spPr>
          <a:xfrm>
            <a:off x="9948672" y="5303520"/>
            <a:ext cx="1591056" cy="960120"/>
          </a:xfrm>
          <a:prstGeom prst="rect">
            <a:avLst/>
          </a:prstGeom>
          <a:noFill/>
          <a:ln/>
        </p:spPr>
        <p:txBody>
          <a:bodyPr wrap="square" lIns="0" tIns="0" rIns="0" bIns="0" rtlCol="0" anchor="ctr"/>
          <a:lstStyle/>
          <a:p>
            <a:pPr algn="l" indent="0" marL="0">
              <a:buNone/>
            </a:pPr>
            <a:r>
              <a:rPr lang="en-US" sz="1200" b="1" dirty="0">
                <a:solidFill>
                  <a:schemeClr val="bg1"/>
                </a:solidFill>
              </a:rPr>
              <a:t>AI where ambiguity exists. Rules where safety and audit matter.</a:t>
            </a:r>
            <a:endParaRPr lang="en-US" sz="12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B2B AND B2C PROCESS</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One graph, two journeys: operators and customers</a:t>
            </a:r>
            <a:endParaRPr lang="en-US" sz="3000" dirty="0"/>
          </a:p>
        </p:txBody>
      </p:sp>
      <p:sp>
        <p:nvSpPr>
          <p:cNvPr id="4" name="Shape 2"/>
          <p:cNvSpPr/>
          <p:nvPr/>
        </p:nvSpPr>
        <p:spPr>
          <a:xfrm>
            <a:off x="548640" y="1508760"/>
            <a:ext cx="11091672" cy="1691640"/>
          </a:xfrm>
          <a:prstGeom prst="roundRect">
            <a:avLst>
              <a:gd name="adj" fmla="val 6486"/>
            </a:avLst>
          </a:prstGeom>
          <a:solidFill>
            <a:srgbClr val="E3EBFA"/>
          </a:solidFill>
          <a:ln w="6350">
            <a:solidFill>
              <a:srgbClr val="E3EBFA"/>
            </a:solidFill>
            <a:prstDash val="solid"/>
          </a:ln>
        </p:spPr>
      </p:sp>
      <p:sp>
        <p:nvSpPr>
          <p:cNvPr id="5" name="Shape 3"/>
          <p:cNvSpPr/>
          <p:nvPr/>
        </p:nvSpPr>
        <p:spPr>
          <a:xfrm>
            <a:off x="777240" y="1764792"/>
            <a:ext cx="512064" cy="512064"/>
          </a:xfrm>
          <a:prstGeom prst="ellipse">
            <a:avLst/>
          </a:prstGeom>
          <a:solidFill>
            <a:srgbClr val="3B6FD8"/>
          </a:solidFill>
          <a:ln w="6350">
            <a:solidFill>
              <a:srgbClr val="3B6FD8"/>
            </a:solidFill>
            <a:prstDash val="solid"/>
          </a:ln>
        </p:spPr>
      </p:sp>
      <p:pic>
        <p:nvPicPr>
          <p:cNvPr id="6" name="Image 0" descr="B2B operators">    </p:cNvPr>
          <p:cNvPicPr>
            <a:picLocks noChangeAspect="1"/>
          </p:cNvPicPr>
          <p:nvPr/>
        </p:nvPicPr>
        <p:blipFill>
          <a:blip r:embed="rId1"/>
          <a:stretch>
            <a:fillRect/>
          </a:stretch>
        </p:blipFill>
        <p:spPr>
          <a:xfrm>
            <a:off x="914400" y="1901952"/>
            <a:ext cx="237744" cy="237744"/>
          </a:xfrm>
          <a:prstGeom prst="rect">
            <a:avLst/>
          </a:prstGeom>
        </p:spPr>
      </p:pic>
      <p:sp>
        <p:nvSpPr>
          <p:cNvPr id="7" name="Text 4"/>
          <p:cNvSpPr txBox="1"/>
          <p:nvPr/>
        </p:nvSpPr>
        <p:spPr>
          <a:xfrm>
            <a:off x="777240" y="2404872"/>
            <a:ext cx="2011680" cy="274320"/>
          </a:xfrm>
          <a:prstGeom prst="rect">
            <a:avLst/>
          </a:prstGeom>
          <a:noFill/>
          <a:ln/>
        </p:spPr>
        <p:txBody>
          <a:bodyPr wrap="square" lIns="0" tIns="0" rIns="0" bIns="0" rtlCol="0" anchor="t"/>
          <a:lstStyle/>
          <a:p>
            <a:pPr algn="l" indent="0" marL="0">
              <a:buNone/>
            </a:pPr>
            <a:r>
              <a:rPr lang="en-US" sz="1800" b="1" dirty="0">
                <a:solidFill>
                  <a:schemeClr val="accent3"/>
                </a:solidFill>
              </a:rPr>
              <a:t>B2B operators</a:t>
            </a:r>
            <a:endParaRPr lang="en-US" sz="1800" dirty="0"/>
          </a:p>
        </p:txBody>
      </p:sp>
      <p:sp>
        <p:nvSpPr>
          <p:cNvPr id="8" name="Text 5"/>
          <p:cNvSpPr txBox="1"/>
          <p:nvPr/>
        </p:nvSpPr>
        <p:spPr>
          <a:xfrm>
            <a:off x="777240" y="2697480"/>
            <a:ext cx="2011680" cy="457200"/>
          </a:xfrm>
          <a:prstGeom prst="rect">
            <a:avLst/>
          </a:prstGeom>
          <a:noFill/>
          <a:ln/>
        </p:spPr>
        <p:txBody>
          <a:bodyPr wrap="square" lIns="0" tIns="0" rIns="0" bIns="0" rtlCol="0" anchor="t"/>
          <a:lstStyle/>
          <a:p>
            <a:pPr algn="l" indent="0" marL="0">
              <a:buNone/>
            </a:pPr>
            <a:r>
              <a:rPr lang="en-US" sz="1200" dirty="0">
                <a:solidFill>
                  <a:schemeClr val="tx2"/>
                </a:solidFill>
              </a:rPr>
              <a:t>Enterprise CX, payments and operations teams</a:t>
            </a:r>
            <a:endParaRPr lang="en-US" sz="1200" dirty="0"/>
          </a:p>
        </p:txBody>
      </p:sp>
      <p:sp>
        <p:nvSpPr>
          <p:cNvPr id="9" name="Shape 6"/>
          <p:cNvSpPr/>
          <p:nvPr/>
        </p:nvSpPr>
        <p:spPr>
          <a:xfrm>
            <a:off x="2971800" y="1645920"/>
            <a:ext cx="1956816" cy="1417320"/>
          </a:xfrm>
          <a:prstGeom prst="roundRect">
            <a:avLst>
              <a:gd name="adj" fmla="val 5161"/>
            </a:avLst>
          </a:prstGeom>
          <a:solidFill>
            <a:schemeClr val="bg1"/>
          </a:solidFill>
          <a:ln w="12700">
            <a:solidFill>
              <a:srgbClr val="CBD5E1"/>
            </a:solidFill>
            <a:prstDash val="solid"/>
          </a:ln>
        </p:spPr>
      </p:sp>
      <p:sp>
        <p:nvSpPr>
          <p:cNvPr id="10" name="Text 7"/>
          <p:cNvSpPr/>
          <p:nvPr/>
        </p:nvSpPr>
        <p:spPr>
          <a:xfrm>
            <a:off x="3090672" y="1764792"/>
            <a:ext cx="274320" cy="274320"/>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1" name="Text 8"/>
          <p:cNvSpPr txBox="1"/>
          <p:nvPr/>
        </p:nvSpPr>
        <p:spPr>
          <a:xfrm>
            <a:off x="3447288" y="17647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Connect</a:t>
            </a:r>
            <a:endParaRPr lang="en-US" sz="1400" dirty="0"/>
          </a:p>
        </p:txBody>
      </p:sp>
      <p:sp>
        <p:nvSpPr>
          <p:cNvPr id="12" name="Text 9"/>
          <p:cNvSpPr txBox="1"/>
          <p:nvPr/>
        </p:nvSpPr>
        <p:spPr>
          <a:xfrm>
            <a:off x="3090672" y="21488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Feedback, tickets, transactions and release data arrive via CSV, webhook and APIs.</a:t>
            </a:r>
            <a:endParaRPr lang="en-US" sz="1200" dirty="0"/>
          </a:p>
        </p:txBody>
      </p:sp>
      <p:sp>
        <p:nvSpPr>
          <p:cNvPr id="13" name="Text 10"/>
          <p:cNvSpPr txBox="1"/>
          <p:nvPr/>
        </p:nvSpPr>
        <p:spPr>
          <a:xfrm>
            <a:off x="4928616" y="21031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14" name="Shape 11"/>
          <p:cNvSpPr/>
          <p:nvPr/>
        </p:nvSpPr>
        <p:spPr>
          <a:xfrm>
            <a:off x="5148072" y="1645920"/>
            <a:ext cx="1956816" cy="1417320"/>
          </a:xfrm>
          <a:prstGeom prst="roundRect">
            <a:avLst>
              <a:gd name="adj" fmla="val 5161"/>
            </a:avLst>
          </a:prstGeom>
          <a:solidFill>
            <a:schemeClr val="bg1"/>
          </a:solidFill>
          <a:ln w="12700">
            <a:solidFill>
              <a:srgbClr val="CBD5E1"/>
            </a:solidFill>
            <a:prstDash val="solid"/>
          </a:ln>
        </p:spPr>
      </p:sp>
      <p:sp>
        <p:nvSpPr>
          <p:cNvPr id="15" name="Text 12"/>
          <p:cNvSpPr/>
          <p:nvPr/>
        </p:nvSpPr>
        <p:spPr>
          <a:xfrm>
            <a:off x="5266944" y="1764792"/>
            <a:ext cx="274320" cy="274320"/>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6" name="Text 13"/>
          <p:cNvSpPr txBox="1"/>
          <p:nvPr/>
        </p:nvSpPr>
        <p:spPr>
          <a:xfrm>
            <a:off x="5623560" y="17647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Detect</a:t>
            </a:r>
            <a:endParaRPr lang="en-US" sz="1400" dirty="0"/>
          </a:p>
        </p:txBody>
      </p:sp>
      <p:sp>
        <p:nvSpPr>
          <p:cNvPr id="17" name="Text 14"/>
          <p:cNvSpPr txBox="1"/>
          <p:nvPr/>
        </p:nvSpPr>
        <p:spPr>
          <a:xfrm>
            <a:off x="5266944" y="21488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Complaints cluster into incidents; graph and Root Cause Court test hypotheses.</a:t>
            </a:r>
            <a:endParaRPr lang="en-US" sz="1200" dirty="0"/>
          </a:p>
        </p:txBody>
      </p:sp>
      <p:sp>
        <p:nvSpPr>
          <p:cNvPr id="18" name="Text 15"/>
          <p:cNvSpPr txBox="1"/>
          <p:nvPr/>
        </p:nvSpPr>
        <p:spPr>
          <a:xfrm>
            <a:off x="7104888" y="21031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19" name="Shape 16"/>
          <p:cNvSpPr/>
          <p:nvPr/>
        </p:nvSpPr>
        <p:spPr>
          <a:xfrm>
            <a:off x="7324344" y="1645920"/>
            <a:ext cx="1956816" cy="1417320"/>
          </a:xfrm>
          <a:prstGeom prst="roundRect">
            <a:avLst>
              <a:gd name="adj" fmla="val 5161"/>
            </a:avLst>
          </a:prstGeom>
          <a:solidFill>
            <a:schemeClr val="bg1"/>
          </a:solidFill>
          <a:ln w="12700">
            <a:solidFill>
              <a:srgbClr val="CBD5E1"/>
            </a:solidFill>
            <a:prstDash val="solid"/>
          </a:ln>
        </p:spPr>
      </p:sp>
      <p:sp>
        <p:nvSpPr>
          <p:cNvPr id="20" name="Text 17"/>
          <p:cNvSpPr/>
          <p:nvPr/>
        </p:nvSpPr>
        <p:spPr>
          <a:xfrm>
            <a:off x="7443216" y="1764792"/>
            <a:ext cx="274320" cy="274320"/>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1" name="Text 18"/>
          <p:cNvSpPr txBox="1"/>
          <p:nvPr/>
        </p:nvSpPr>
        <p:spPr>
          <a:xfrm>
            <a:off x="7799832" y="17647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Approve</a:t>
            </a:r>
            <a:endParaRPr lang="en-US" sz="1400" dirty="0"/>
          </a:p>
        </p:txBody>
      </p:sp>
      <p:sp>
        <p:nvSpPr>
          <p:cNvPr id="22" name="Text 19"/>
          <p:cNvSpPr txBox="1"/>
          <p:nvPr/>
        </p:nvSpPr>
        <p:spPr>
          <a:xfrm>
            <a:off x="7443216" y="21488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Operators review evidence, impact and a recommendation, then approve or reject.</a:t>
            </a:r>
            <a:endParaRPr lang="en-US" sz="1200" dirty="0"/>
          </a:p>
        </p:txBody>
      </p:sp>
      <p:sp>
        <p:nvSpPr>
          <p:cNvPr id="23" name="Text 20"/>
          <p:cNvSpPr txBox="1"/>
          <p:nvPr/>
        </p:nvSpPr>
        <p:spPr>
          <a:xfrm>
            <a:off x="9281160" y="21031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24" name="Shape 21"/>
          <p:cNvSpPr/>
          <p:nvPr/>
        </p:nvSpPr>
        <p:spPr>
          <a:xfrm>
            <a:off x="9500616" y="1645920"/>
            <a:ext cx="1956816" cy="1417320"/>
          </a:xfrm>
          <a:prstGeom prst="roundRect">
            <a:avLst>
              <a:gd name="adj" fmla="val 5161"/>
            </a:avLst>
          </a:prstGeom>
          <a:solidFill>
            <a:schemeClr val="bg1"/>
          </a:solidFill>
          <a:ln w="12700">
            <a:solidFill>
              <a:srgbClr val="CBD5E1"/>
            </a:solidFill>
            <a:prstDash val="solid"/>
          </a:ln>
        </p:spPr>
      </p:sp>
      <p:sp>
        <p:nvSpPr>
          <p:cNvPr id="25" name="Text 22"/>
          <p:cNvSpPr/>
          <p:nvPr/>
        </p:nvSpPr>
        <p:spPr>
          <a:xfrm>
            <a:off x="9619488" y="1764792"/>
            <a:ext cx="274320" cy="274320"/>
          </a:xfrm>
          <a:prstGeom prst="ellipse">
            <a:avLst/>
          </a:prstGeom>
          <a:solidFill>
            <a:srgbClr val="3B6FD8"/>
          </a:solidFill>
          <a:ln w="6350">
            <a:solidFill>
              <a:srgbClr val="3B6FD8"/>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Text 23"/>
          <p:cNvSpPr txBox="1"/>
          <p:nvPr/>
        </p:nvSpPr>
        <p:spPr>
          <a:xfrm>
            <a:off x="9976104" y="17647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Verify</a:t>
            </a:r>
            <a:endParaRPr lang="en-US" sz="1400" dirty="0"/>
          </a:p>
        </p:txBody>
      </p:sp>
      <p:sp>
        <p:nvSpPr>
          <p:cNvPr id="27" name="Text 24"/>
          <p:cNvSpPr txBox="1"/>
          <p:nvPr/>
        </p:nvSpPr>
        <p:spPr>
          <a:xfrm>
            <a:off x="9619488" y="21488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Simulated recovery runs; KPIs confirm the fix or reopen the incident.</a:t>
            </a:r>
            <a:endParaRPr lang="en-US" sz="1200" dirty="0"/>
          </a:p>
        </p:txBody>
      </p:sp>
      <p:sp>
        <p:nvSpPr>
          <p:cNvPr id="28" name="Text 25"/>
          <p:cNvSpPr/>
          <p:nvPr/>
        </p:nvSpPr>
        <p:spPr>
          <a:xfrm>
            <a:off x="3566160" y="3246120"/>
            <a:ext cx="5029200" cy="274320"/>
          </a:xfrm>
          <a:prstGeom prst="roundRect">
            <a:avLst>
              <a:gd name="adj" fmla="val 26667"/>
            </a:avLst>
          </a:prstGeom>
          <a:solidFill>
            <a:schemeClr val="bg1"/>
          </a:solidFill>
          <a:ln w="12700">
            <a:solidFill>
              <a:srgbClr val="475569"/>
            </a:solidFill>
          </a:ln>
        </p:spPr>
        <p:txBody>
          <a:bodyPr wrap="square" lIns="508" tIns="508" rIns="508" bIns="508" rtlCol="0" anchor="ctr"/>
          <a:lstStyle/>
          <a:p>
            <a:pPr algn="ctr" indent="0" marL="0">
              <a:buNone/>
            </a:pPr>
            <a:r>
              <a:rPr lang="en-US" sz="1100" b="1" dirty="0">
                <a:solidFill>
                  <a:schemeClr val="tx1"/>
                </a:solidFill>
              </a:rPr>
              <a:t>Same Knowledge Graph and evidence tests serve both journeys</a:t>
            </a:r>
            <a:endParaRPr lang="en-US" sz="1100" dirty="0"/>
          </a:p>
        </p:txBody>
      </p:sp>
      <p:sp>
        <p:nvSpPr>
          <p:cNvPr id="29" name="Shape 26"/>
          <p:cNvSpPr/>
          <p:nvPr/>
        </p:nvSpPr>
        <p:spPr>
          <a:xfrm>
            <a:off x="548640" y="3566160"/>
            <a:ext cx="11091672" cy="1691640"/>
          </a:xfrm>
          <a:prstGeom prst="roundRect">
            <a:avLst>
              <a:gd name="adj" fmla="val 6486"/>
            </a:avLst>
          </a:prstGeom>
          <a:solidFill>
            <a:srgbClr val="DDF3F0"/>
          </a:solidFill>
          <a:ln w="6350">
            <a:solidFill>
              <a:srgbClr val="DDF3F0"/>
            </a:solidFill>
            <a:prstDash val="solid"/>
          </a:ln>
        </p:spPr>
      </p:sp>
      <p:sp>
        <p:nvSpPr>
          <p:cNvPr id="30" name="Shape 27"/>
          <p:cNvSpPr/>
          <p:nvPr/>
        </p:nvSpPr>
        <p:spPr>
          <a:xfrm>
            <a:off x="777240" y="3822192"/>
            <a:ext cx="512064" cy="512064"/>
          </a:xfrm>
          <a:prstGeom prst="ellipse">
            <a:avLst/>
          </a:prstGeom>
          <a:solidFill>
            <a:srgbClr val="0D9488"/>
          </a:solidFill>
          <a:ln w="6350">
            <a:solidFill>
              <a:srgbClr val="0D9488"/>
            </a:solidFill>
            <a:prstDash val="solid"/>
          </a:ln>
        </p:spPr>
      </p:sp>
      <p:pic>
        <p:nvPicPr>
          <p:cNvPr id="31" name="Image 1" descr="B2C customers">    </p:cNvPr>
          <p:cNvPicPr>
            <a:picLocks noChangeAspect="1"/>
          </p:cNvPicPr>
          <p:nvPr/>
        </p:nvPicPr>
        <p:blipFill>
          <a:blip r:embed="rId2"/>
          <a:stretch>
            <a:fillRect/>
          </a:stretch>
        </p:blipFill>
        <p:spPr>
          <a:xfrm>
            <a:off x="914400" y="3959352"/>
            <a:ext cx="237744" cy="237744"/>
          </a:xfrm>
          <a:prstGeom prst="rect">
            <a:avLst/>
          </a:prstGeom>
        </p:spPr>
      </p:pic>
      <p:sp>
        <p:nvSpPr>
          <p:cNvPr id="32" name="Text 28"/>
          <p:cNvSpPr txBox="1"/>
          <p:nvPr/>
        </p:nvSpPr>
        <p:spPr>
          <a:xfrm>
            <a:off x="777240" y="4462272"/>
            <a:ext cx="2011680" cy="274320"/>
          </a:xfrm>
          <a:prstGeom prst="rect">
            <a:avLst/>
          </a:prstGeom>
          <a:noFill/>
          <a:ln/>
        </p:spPr>
        <p:txBody>
          <a:bodyPr wrap="square" lIns="0" tIns="0" rIns="0" bIns="0" rtlCol="0" anchor="t"/>
          <a:lstStyle/>
          <a:p>
            <a:pPr algn="l" indent="0" marL="0">
              <a:buNone/>
            </a:pPr>
            <a:r>
              <a:rPr lang="en-US" sz="1800" b="1" dirty="0">
                <a:solidFill>
                  <a:schemeClr val="accent1"/>
                </a:solidFill>
              </a:rPr>
              <a:t>B2C customers</a:t>
            </a:r>
            <a:endParaRPr lang="en-US" sz="1800" dirty="0"/>
          </a:p>
        </p:txBody>
      </p:sp>
      <p:sp>
        <p:nvSpPr>
          <p:cNvPr id="33" name="Text 29"/>
          <p:cNvSpPr txBox="1"/>
          <p:nvPr/>
        </p:nvSpPr>
        <p:spPr>
          <a:xfrm>
            <a:off x="777240" y="4754880"/>
            <a:ext cx="2011680" cy="457200"/>
          </a:xfrm>
          <a:prstGeom prst="rect">
            <a:avLst/>
          </a:prstGeom>
          <a:noFill/>
          <a:ln/>
        </p:spPr>
        <p:txBody>
          <a:bodyPr wrap="square" lIns="0" tIns="0" rIns="0" bIns="0" rtlCol="0" anchor="t"/>
          <a:lstStyle/>
          <a:p>
            <a:pPr algn="l" indent="0" marL="0">
              <a:buNone/>
            </a:pPr>
            <a:r>
              <a:rPr lang="en-US" sz="1200" dirty="0">
                <a:solidFill>
                  <a:schemeClr val="tx2"/>
                </a:solidFill>
              </a:rPr>
              <a:t>End users who paid, ordered or complained</a:t>
            </a:r>
            <a:endParaRPr lang="en-US" sz="1200" dirty="0"/>
          </a:p>
        </p:txBody>
      </p:sp>
      <p:sp>
        <p:nvSpPr>
          <p:cNvPr id="34" name="Shape 30"/>
          <p:cNvSpPr/>
          <p:nvPr/>
        </p:nvSpPr>
        <p:spPr>
          <a:xfrm>
            <a:off x="2971800" y="3703320"/>
            <a:ext cx="1956816" cy="1417320"/>
          </a:xfrm>
          <a:prstGeom prst="roundRect">
            <a:avLst>
              <a:gd name="adj" fmla="val 5161"/>
            </a:avLst>
          </a:prstGeom>
          <a:solidFill>
            <a:schemeClr val="bg1"/>
          </a:solidFill>
          <a:ln w="12700">
            <a:solidFill>
              <a:srgbClr val="CBD5E1"/>
            </a:solidFill>
            <a:prstDash val="solid"/>
          </a:ln>
        </p:spPr>
      </p:sp>
      <p:sp>
        <p:nvSpPr>
          <p:cNvPr id="35" name="Text 31"/>
          <p:cNvSpPr/>
          <p:nvPr/>
        </p:nvSpPr>
        <p:spPr>
          <a:xfrm>
            <a:off x="3090672" y="3822192"/>
            <a:ext cx="274320" cy="274320"/>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36" name="Text 32"/>
          <p:cNvSpPr txBox="1"/>
          <p:nvPr/>
        </p:nvSpPr>
        <p:spPr>
          <a:xfrm>
            <a:off x="3447288" y="38221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Complain</a:t>
            </a:r>
            <a:endParaRPr lang="en-US" sz="1400" dirty="0"/>
          </a:p>
        </p:txBody>
      </p:sp>
      <p:sp>
        <p:nvSpPr>
          <p:cNvPr id="37" name="Text 33"/>
          <p:cNvSpPr txBox="1"/>
          <p:nvPr/>
        </p:nvSpPr>
        <p:spPr>
          <a:xfrm>
            <a:off x="3090672" y="42062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Customer reports in any channel: "paid, but no order".</a:t>
            </a:r>
            <a:endParaRPr lang="en-US" sz="1200" dirty="0"/>
          </a:p>
        </p:txBody>
      </p:sp>
      <p:sp>
        <p:nvSpPr>
          <p:cNvPr id="38" name="Text 34"/>
          <p:cNvSpPr txBox="1"/>
          <p:nvPr/>
        </p:nvSpPr>
        <p:spPr>
          <a:xfrm>
            <a:off x="4928616" y="41605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39" name="Shape 35"/>
          <p:cNvSpPr/>
          <p:nvPr/>
        </p:nvSpPr>
        <p:spPr>
          <a:xfrm>
            <a:off x="5148072" y="3703320"/>
            <a:ext cx="1956816" cy="1417320"/>
          </a:xfrm>
          <a:prstGeom prst="roundRect">
            <a:avLst>
              <a:gd name="adj" fmla="val 5161"/>
            </a:avLst>
          </a:prstGeom>
          <a:solidFill>
            <a:schemeClr val="bg1"/>
          </a:solidFill>
          <a:ln w="12700">
            <a:solidFill>
              <a:srgbClr val="CBD5E1"/>
            </a:solidFill>
            <a:prstDash val="solid"/>
          </a:ln>
        </p:spPr>
      </p:sp>
      <p:sp>
        <p:nvSpPr>
          <p:cNvPr id="40" name="Text 36"/>
          <p:cNvSpPr/>
          <p:nvPr/>
        </p:nvSpPr>
        <p:spPr>
          <a:xfrm>
            <a:off x="5266944" y="3822192"/>
            <a:ext cx="274320" cy="274320"/>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41" name="Text 37"/>
          <p:cNvSpPr txBox="1"/>
          <p:nvPr/>
        </p:nvSpPr>
        <p:spPr>
          <a:xfrm>
            <a:off x="5623560" y="38221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Check state</a:t>
            </a:r>
            <a:endParaRPr lang="en-US" sz="1400" dirty="0"/>
          </a:p>
        </p:txBody>
      </p:sp>
      <p:sp>
        <p:nvSpPr>
          <p:cNvPr id="42" name="Text 38"/>
          <p:cNvSpPr txBox="1"/>
          <p:nvPr/>
        </p:nvSpPr>
        <p:spPr>
          <a:xfrm>
            <a:off x="5266944" y="42062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Transaction and order state is verified across six payment states.</a:t>
            </a:r>
            <a:endParaRPr lang="en-US" sz="1200" dirty="0"/>
          </a:p>
        </p:txBody>
      </p:sp>
      <p:sp>
        <p:nvSpPr>
          <p:cNvPr id="43" name="Text 39"/>
          <p:cNvSpPr txBox="1"/>
          <p:nvPr/>
        </p:nvSpPr>
        <p:spPr>
          <a:xfrm>
            <a:off x="7104888" y="41605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44" name="Shape 40"/>
          <p:cNvSpPr/>
          <p:nvPr/>
        </p:nvSpPr>
        <p:spPr>
          <a:xfrm>
            <a:off x="7324344" y="3703320"/>
            <a:ext cx="1956816" cy="1417320"/>
          </a:xfrm>
          <a:prstGeom prst="roundRect">
            <a:avLst>
              <a:gd name="adj" fmla="val 5161"/>
            </a:avLst>
          </a:prstGeom>
          <a:solidFill>
            <a:schemeClr val="bg1"/>
          </a:solidFill>
          <a:ln w="12700">
            <a:solidFill>
              <a:srgbClr val="CBD5E1"/>
            </a:solidFill>
            <a:prstDash val="solid"/>
          </a:ln>
        </p:spPr>
      </p:sp>
      <p:sp>
        <p:nvSpPr>
          <p:cNvPr id="45" name="Text 41"/>
          <p:cNvSpPr/>
          <p:nvPr/>
        </p:nvSpPr>
        <p:spPr>
          <a:xfrm>
            <a:off x="7443216" y="3822192"/>
            <a:ext cx="274320" cy="274320"/>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46" name="Text 42"/>
          <p:cNvSpPr txBox="1"/>
          <p:nvPr/>
        </p:nvSpPr>
        <p:spPr>
          <a:xfrm>
            <a:off x="7799832" y="38221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Right outcome</a:t>
            </a:r>
            <a:endParaRPr lang="en-US" sz="1400" dirty="0"/>
          </a:p>
        </p:txBody>
      </p:sp>
      <p:sp>
        <p:nvSpPr>
          <p:cNvPr id="47" name="Text 43"/>
          <p:cNvSpPr txBox="1"/>
          <p:nvPr/>
        </p:nvSpPr>
        <p:spPr>
          <a:xfrm>
            <a:off x="7443216" y="42062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Refund only if eligible; otherwise a status update or retry guidance.</a:t>
            </a:r>
            <a:endParaRPr lang="en-US" sz="1200" dirty="0"/>
          </a:p>
        </p:txBody>
      </p:sp>
      <p:sp>
        <p:nvSpPr>
          <p:cNvPr id="48" name="Text 44"/>
          <p:cNvSpPr txBox="1"/>
          <p:nvPr/>
        </p:nvSpPr>
        <p:spPr>
          <a:xfrm>
            <a:off x="9281160" y="4160520"/>
            <a:ext cx="219456" cy="365760"/>
          </a:xfrm>
          <a:prstGeom prst="rect">
            <a:avLst/>
          </a:prstGeom>
          <a:noFill/>
          <a:ln/>
        </p:spPr>
        <p:txBody>
          <a:bodyPr wrap="square" lIns="0" tIns="0" rIns="0" bIns="0" rtlCol="0" anchor="t"/>
          <a:lstStyle/>
          <a:p>
            <a:pPr algn="ctr" indent="0" marL="0">
              <a:buNone/>
            </a:pPr>
            <a:r>
              <a:rPr lang="en-US" sz="2200" b="1" dirty="0">
                <a:solidFill>
                  <a:schemeClr val="tx2"/>
                </a:solidFill>
              </a:rPr>
              <a:t>›</a:t>
            </a:r>
            <a:endParaRPr lang="en-US" sz="2200" dirty="0"/>
          </a:p>
        </p:txBody>
      </p:sp>
      <p:sp>
        <p:nvSpPr>
          <p:cNvPr id="49" name="Shape 45"/>
          <p:cNvSpPr/>
          <p:nvPr/>
        </p:nvSpPr>
        <p:spPr>
          <a:xfrm>
            <a:off x="9500616" y="3703320"/>
            <a:ext cx="1956816" cy="1417320"/>
          </a:xfrm>
          <a:prstGeom prst="roundRect">
            <a:avLst>
              <a:gd name="adj" fmla="val 5161"/>
            </a:avLst>
          </a:prstGeom>
          <a:solidFill>
            <a:schemeClr val="bg1"/>
          </a:solidFill>
          <a:ln w="12700">
            <a:solidFill>
              <a:srgbClr val="CBD5E1"/>
            </a:solidFill>
            <a:prstDash val="solid"/>
          </a:ln>
        </p:spPr>
      </p:sp>
      <p:sp>
        <p:nvSpPr>
          <p:cNvPr id="50" name="Text 46"/>
          <p:cNvSpPr/>
          <p:nvPr/>
        </p:nvSpPr>
        <p:spPr>
          <a:xfrm>
            <a:off x="9619488" y="3822192"/>
            <a:ext cx="274320" cy="274320"/>
          </a:xfrm>
          <a:prstGeom prst="ellipse">
            <a:avLst/>
          </a:prstGeom>
          <a:solidFill>
            <a:srgbClr val="0D9488"/>
          </a:solidFill>
          <a:ln w="6350">
            <a:solidFill>
              <a:srgbClr val="0D9488"/>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51" name="Text 47"/>
          <p:cNvSpPr txBox="1"/>
          <p:nvPr/>
        </p:nvSpPr>
        <p:spPr>
          <a:xfrm>
            <a:off x="9976104" y="3822192"/>
            <a:ext cx="1417320" cy="274320"/>
          </a:xfrm>
          <a:prstGeom prst="rect">
            <a:avLst/>
          </a:prstGeom>
          <a:noFill/>
          <a:ln/>
        </p:spPr>
        <p:txBody>
          <a:bodyPr wrap="square" lIns="0" tIns="0" rIns="0" bIns="0" rtlCol="0" anchor="ctr"/>
          <a:lstStyle/>
          <a:p>
            <a:pPr algn="l" indent="0" marL="0">
              <a:buNone/>
            </a:pPr>
            <a:r>
              <a:rPr lang="en-US" sz="1400" b="1" dirty="0">
                <a:solidFill>
                  <a:schemeClr val="tx1"/>
                </a:solidFill>
              </a:rPr>
              <a:t>Closure</a:t>
            </a:r>
            <a:endParaRPr lang="en-US" sz="1400" dirty="0"/>
          </a:p>
        </p:txBody>
      </p:sp>
      <p:sp>
        <p:nvSpPr>
          <p:cNvPr id="52" name="Text 48"/>
          <p:cNvSpPr txBox="1"/>
          <p:nvPr/>
        </p:nvSpPr>
        <p:spPr>
          <a:xfrm>
            <a:off x="9619488" y="4206240"/>
            <a:ext cx="1737360" cy="868680"/>
          </a:xfrm>
          <a:prstGeom prst="rect">
            <a:avLst/>
          </a:prstGeom>
          <a:noFill/>
          <a:ln/>
        </p:spPr>
        <p:txBody>
          <a:bodyPr wrap="square" lIns="0" tIns="0" rIns="0" bIns="0" rtlCol="0" anchor="t"/>
          <a:lstStyle/>
          <a:p>
            <a:pPr algn="l" indent="0" marL="0">
              <a:buNone/>
            </a:pPr>
            <a:r>
              <a:rPr lang="en-US" sz="1200" dirty="0">
                <a:solidFill>
                  <a:schemeClr val="tx2"/>
                </a:solidFill>
              </a:rPr>
              <a:t>Customer is notified and new signals keep being monitored.</a:t>
            </a:r>
            <a:endParaRPr lang="en-US" sz="1200" dirty="0"/>
          </a:p>
        </p:txBody>
      </p:sp>
      <p:sp>
        <p:nvSpPr>
          <p:cNvPr id="53" name="Text 49"/>
          <p:cNvSpPr txBox="1"/>
          <p:nvPr/>
        </p:nvSpPr>
        <p:spPr>
          <a:xfrm>
            <a:off x="548640" y="5394960"/>
            <a:ext cx="8229600" cy="201168"/>
          </a:xfrm>
          <a:prstGeom prst="rect">
            <a:avLst/>
          </a:prstGeom>
          <a:noFill/>
          <a:ln/>
        </p:spPr>
        <p:txBody>
          <a:bodyPr wrap="square" lIns="0" tIns="0" rIns="0" bIns="0" rtlCol="0" anchor="t"/>
          <a:lstStyle/>
          <a:p>
            <a:pPr algn="l" indent="0" marL="0">
              <a:buNone/>
            </a:pPr>
            <a:r>
              <a:rPr lang="en-US" sz="1000" b="1" spc="100" kern="0" dirty="0">
                <a:solidFill>
                  <a:schemeClr val="tx2"/>
                </a:solidFill>
              </a:rPr>
              <a:t>B2C GUARDRAIL: PAYMENT STATE IS CHECKED BEFORE ANY REFUND IS RECOMMENDED</a:t>
            </a:r>
            <a:endParaRPr lang="en-US" sz="1000" dirty="0"/>
          </a:p>
        </p:txBody>
      </p:sp>
      <p:sp>
        <p:nvSpPr>
          <p:cNvPr id="54" name="Text 50"/>
          <p:cNvSpPr/>
          <p:nvPr/>
        </p:nvSpPr>
        <p:spPr>
          <a:xfrm>
            <a:off x="548640"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Captured, no order</a:t>
            </a:r>
            <a:endParaRPr lang="en-US" sz="1200" dirty="0"/>
          </a:p>
        </p:txBody>
      </p:sp>
      <p:sp>
        <p:nvSpPr>
          <p:cNvPr id="55" name="Text 51"/>
          <p:cNvSpPr/>
          <p:nvPr/>
        </p:nvSpPr>
        <p:spPr>
          <a:xfrm>
            <a:off x="2414016"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Pending</a:t>
            </a:r>
            <a:endParaRPr lang="en-US" sz="1200" dirty="0"/>
          </a:p>
        </p:txBody>
      </p:sp>
      <p:sp>
        <p:nvSpPr>
          <p:cNvPr id="56" name="Text 52"/>
          <p:cNvSpPr/>
          <p:nvPr/>
        </p:nvSpPr>
        <p:spPr>
          <a:xfrm>
            <a:off x="4279392"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Reversed</a:t>
            </a:r>
            <a:endParaRPr lang="en-US" sz="1200" dirty="0"/>
          </a:p>
        </p:txBody>
      </p:sp>
      <p:sp>
        <p:nvSpPr>
          <p:cNvPr id="57" name="Text 53"/>
          <p:cNvSpPr/>
          <p:nvPr/>
        </p:nvSpPr>
        <p:spPr>
          <a:xfrm>
            <a:off x="6144768"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Successful order</a:t>
            </a:r>
            <a:endParaRPr lang="en-US" sz="1200" dirty="0"/>
          </a:p>
        </p:txBody>
      </p:sp>
      <p:sp>
        <p:nvSpPr>
          <p:cNvPr id="58" name="Text 54"/>
          <p:cNvSpPr/>
          <p:nvPr/>
        </p:nvSpPr>
        <p:spPr>
          <a:xfrm>
            <a:off x="8010144"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Reversal overdue</a:t>
            </a:r>
            <a:endParaRPr lang="en-US" sz="1200" dirty="0"/>
          </a:p>
        </p:txBody>
      </p:sp>
      <p:sp>
        <p:nvSpPr>
          <p:cNvPr id="59" name="Text 55"/>
          <p:cNvSpPr/>
          <p:nvPr/>
        </p:nvSpPr>
        <p:spPr>
          <a:xfrm>
            <a:off x="9875520" y="5669280"/>
            <a:ext cx="1764792" cy="457200"/>
          </a:xfrm>
          <a:prstGeom prst="roundRect">
            <a:avLst>
              <a:gd name="adj" fmla="val 16000"/>
            </a:avLst>
          </a:prstGeom>
          <a:solidFill>
            <a:schemeClr val="bg2"/>
          </a:solidFill>
          <a:ln w="12700">
            <a:solidFill>
              <a:srgbClr val="CBD5E1"/>
            </a:solidFill>
          </a:ln>
        </p:spPr>
        <p:txBody>
          <a:bodyPr wrap="square" lIns="508" tIns="508" rIns="508" bIns="508" rtlCol="0" anchor="ctr"/>
          <a:lstStyle/>
          <a:p>
            <a:pPr algn="ctr" indent="0" marL="0">
              <a:buNone/>
            </a:pPr>
            <a:r>
              <a:rPr lang="en-US" sz="1200" b="1" dirty="0">
                <a:solidFill>
                  <a:schemeClr val="tx1"/>
                </a:solidFill>
              </a:rPr>
              <a:t>Failed before capture</a:t>
            </a:r>
            <a:endParaRPr lang="en-US" sz="12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8229600" cy="256032"/>
          </a:xfrm>
          <a:prstGeom prst="rect">
            <a:avLst/>
          </a:prstGeom>
          <a:noFill/>
          <a:ln/>
        </p:spPr>
        <p:txBody>
          <a:bodyPr wrap="square" lIns="0" tIns="0" rIns="0" bIns="0" rtlCol="0" anchor="t"/>
          <a:lstStyle/>
          <a:p>
            <a:pPr algn="l" indent="0" marL="0">
              <a:buNone/>
            </a:pPr>
            <a:r>
              <a:rPr lang="en-US" sz="1200" b="1" spc="200" kern="0" dirty="0">
                <a:solidFill>
                  <a:schemeClr val="accent1"/>
                </a:solidFill>
              </a:rPr>
              <a:t>PROOF, LIMITS AND VALUE</a:t>
            </a:r>
            <a:endParaRPr lang="en-US" sz="1200" dirty="0"/>
          </a:p>
        </p:txBody>
      </p:sp>
      <p:sp>
        <p:nvSpPr>
          <p:cNvPr id="3" name="Text 0"/>
          <p:cNvSpPr/>
          <p:nvPr>
            <p:ph idx="100" type="title" hasCustomPrompt="1"/>
          </p:nvPr>
        </p:nvSpPr>
        <p:spPr>
          <a:xfrm>
            <a:off x="548640" y="658368"/>
            <a:ext cx="11091672" cy="640080"/>
          </a:xfrm>
          <a:prstGeom prst="rect">
            <a:avLst/>
          </a:prstGeom>
          <a:noFill/>
          <a:ln/>
        </p:spPr>
        <p:txBody>
          <a:bodyPr wrap="square" lIns="0" tIns="0" rIns="0" bIns="0" rtlCol="0" anchor="ctr"/>
          <a:lstStyle/>
          <a:p>
            <a:pPr algn="l" indent="0" marL="0">
              <a:buNone/>
            </a:pPr>
            <a:r>
              <a:rPr lang="en-US" sz="3000" b="1" dirty="0">
                <a:solidFill>
                  <a:schemeClr val="tx1"/>
                </a:solidFill>
              </a:rPr>
              <a:t>Validated on synthetic data, with limits stated openly</a:t>
            </a:r>
            <a:endParaRPr lang="en-US" sz="3000" dirty="0"/>
          </a:p>
        </p:txBody>
      </p:sp>
      <p:sp>
        <p:nvSpPr>
          <p:cNvPr id="4" name="Text 2"/>
          <p:cNvSpPr txBox="1"/>
          <p:nvPr/>
        </p:nvSpPr>
        <p:spPr>
          <a:xfrm>
            <a:off x="548640" y="1481328"/>
            <a:ext cx="6766560" cy="201168"/>
          </a:xfrm>
          <a:prstGeom prst="rect">
            <a:avLst/>
          </a:prstGeom>
          <a:noFill/>
          <a:ln/>
        </p:spPr>
        <p:txBody>
          <a:bodyPr wrap="square" lIns="0" tIns="0" rIns="0" bIns="0" rtlCol="0" anchor="t"/>
          <a:lstStyle/>
          <a:p>
            <a:pPr algn="l" indent="0" marL="0">
              <a:buNone/>
            </a:pPr>
            <a:r>
              <a:rPr lang="en-US" sz="1000" b="1" spc="100" kern="0" dirty="0">
                <a:solidFill>
                  <a:schemeClr val="tx2"/>
                </a:solidFill>
              </a:rPr>
              <a:t>RECORDED PROTOTYPE RESULTS (SYNTHETIC DATA, NOT PRODUCTION)</a:t>
            </a:r>
            <a:endParaRPr lang="en-US" sz="1000" dirty="0"/>
          </a:p>
        </p:txBody>
      </p:sp>
      <p:sp>
        <p:nvSpPr>
          <p:cNvPr id="5" name="Shape 3"/>
          <p:cNvSpPr/>
          <p:nvPr/>
        </p:nvSpPr>
        <p:spPr>
          <a:xfrm>
            <a:off x="548640" y="1783080"/>
            <a:ext cx="2148840" cy="1188720"/>
          </a:xfrm>
          <a:prstGeom prst="roundRect">
            <a:avLst>
              <a:gd name="adj" fmla="val 6154"/>
            </a:avLst>
          </a:prstGeom>
          <a:solidFill>
            <a:schemeClr val="bg2"/>
          </a:solidFill>
          <a:ln w="6350">
            <a:solidFill>
              <a:schemeClr val="bg2"/>
            </a:solidFill>
            <a:prstDash val="solid"/>
          </a:ln>
        </p:spPr>
      </p:sp>
      <p:sp>
        <p:nvSpPr>
          <p:cNvPr id="6" name="Text 4"/>
          <p:cNvSpPr txBox="1"/>
          <p:nvPr/>
        </p:nvSpPr>
        <p:spPr>
          <a:xfrm>
            <a:off x="713232" y="192024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7/7</a:t>
            </a:r>
            <a:endParaRPr lang="en-US" sz="3000" dirty="0"/>
          </a:p>
        </p:txBody>
      </p:sp>
      <p:sp>
        <p:nvSpPr>
          <p:cNvPr id="7" name="Text 5"/>
          <p:cNvSpPr txBox="1"/>
          <p:nvPr/>
        </p:nvSpPr>
        <p:spPr>
          <a:xfrm>
            <a:off x="713232" y="246888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scorecard checks passed</a:t>
            </a:r>
            <a:endParaRPr lang="en-US" sz="1200" dirty="0"/>
          </a:p>
        </p:txBody>
      </p:sp>
      <p:sp>
        <p:nvSpPr>
          <p:cNvPr id="8" name="Shape 6"/>
          <p:cNvSpPr/>
          <p:nvPr/>
        </p:nvSpPr>
        <p:spPr>
          <a:xfrm>
            <a:off x="2852928" y="1783080"/>
            <a:ext cx="2148840" cy="1188720"/>
          </a:xfrm>
          <a:prstGeom prst="roundRect">
            <a:avLst>
              <a:gd name="adj" fmla="val 6154"/>
            </a:avLst>
          </a:prstGeom>
          <a:solidFill>
            <a:schemeClr val="bg2"/>
          </a:solidFill>
          <a:ln w="6350">
            <a:solidFill>
              <a:schemeClr val="bg2"/>
            </a:solidFill>
            <a:prstDash val="solid"/>
          </a:ln>
        </p:spPr>
      </p:sp>
      <p:sp>
        <p:nvSpPr>
          <p:cNvPr id="9" name="Text 7"/>
          <p:cNvSpPr txBox="1"/>
          <p:nvPr/>
        </p:nvSpPr>
        <p:spPr>
          <a:xfrm>
            <a:off x="3017520" y="192024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1.0 / 1.0</a:t>
            </a:r>
            <a:endParaRPr lang="en-US" sz="3000" dirty="0"/>
          </a:p>
        </p:txBody>
      </p:sp>
      <p:sp>
        <p:nvSpPr>
          <p:cNvPr id="10" name="Text 8"/>
          <p:cNvSpPr txBox="1"/>
          <p:nvPr/>
        </p:nvSpPr>
        <p:spPr>
          <a:xfrm>
            <a:off x="3017520" y="246888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incident precision / recall</a:t>
            </a:r>
            <a:endParaRPr lang="en-US" sz="1200" dirty="0"/>
          </a:p>
        </p:txBody>
      </p:sp>
      <p:sp>
        <p:nvSpPr>
          <p:cNvPr id="11" name="Shape 9"/>
          <p:cNvSpPr/>
          <p:nvPr/>
        </p:nvSpPr>
        <p:spPr>
          <a:xfrm>
            <a:off x="5157216" y="1783080"/>
            <a:ext cx="2148840" cy="1188720"/>
          </a:xfrm>
          <a:prstGeom prst="roundRect">
            <a:avLst>
              <a:gd name="adj" fmla="val 6154"/>
            </a:avLst>
          </a:prstGeom>
          <a:solidFill>
            <a:schemeClr val="bg2"/>
          </a:solidFill>
          <a:ln w="6350">
            <a:solidFill>
              <a:schemeClr val="bg2"/>
            </a:solidFill>
            <a:prstDash val="solid"/>
          </a:ln>
        </p:spPr>
      </p:sp>
      <p:sp>
        <p:nvSpPr>
          <p:cNvPr id="12" name="Text 10"/>
          <p:cNvSpPr txBox="1"/>
          <p:nvPr/>
        </p:nvSpPr>
        <p:spPr>
          <a:xfrm>
            <a:off x="5321808" y="192024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1.0</a:t>
            </a:r>
            <a:endParaRPr lang="en-US" sz="3000" dirty="0"/>
          </a:p>
        </p:txBody>
      </p:sp>
      <p:sp>
        <p:nvSpPr>
          <p:cNvPr id="13" name="Text 11"/>
          <p:cNvSpPr txBox="1"/>
          <p:nvPr/>
        </p:nvSpPr>
        <p:spPr>
          <a:xfrm>
            <a:off x="5321808" y="246888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hypothesis verdict accuracy</a:t>
            </a:r>
            <a:endParaRPr lang="en-US" sz="1200" dirty="0"/>
          </a:p>
        </p:txBody>
      </p:sp>
      <p:sp>
        <p:nvSpPr>
          <p:cNvPr id="14" name="Shape 12"/>
          <p:cNvSpPr/>
          <p:nvPr/>
        </p:nvSpPr>
        <p:spPr>
          <a:xfrm>
            <a:off x="548640" y="3108960"/>
            <a:ext cx="2148840" cy="1188720"/>
          </a:xfrm>
          <a:prstGeom prst="roundRect">
            <a:avLst>
              <a:gd name="adj" fmla="val 6154"/>
            </a:avLst>
          </a:prstGeom>
          <a:solidFill>
            <a:schemeClr val="bg2"/>
          </a:solidFill>
          <a:ln w="6350">
            <a:solidFill>
              <a:schemeClr val="bg2"/>
            </a:solidFill>
            <a:prstDash val="solid"/>
          </a:ln>
        </p:spPr>
      </p:sp>
      <p:sp>
        <p:nvSpPr>
          <p:cNvPr id="15" name="Text 13"/>
          <p:cNvSpPr txBox="1"/>
          <p:nvPr/>
        </p:nvSpPr>
        <p:spPr>
          <a:xfrm>
            <a:off x="713232" y="324612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1.0 / 0.8</a:t>
            </a:r>
            <a:endParaRPr lang="en-US" sz="3000" dirty="0"/>
          </a:p>
        </p:txBody>
      </p:sp>
      <p:sp>
        <p:nvSpPr>
          <p:cNvPr id="16" name="Text 14"/>
          <p:cNvSpPr txBox="1"/>
          <p:nvPr/>
        </p:nvSpPr>
        <p:spPr>
          <a:xfrm>
            <a:off x="713232" y="379476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refund recommendation precision / recall</a:t>
            </a:r>
            <a:endParaRPr lang="en-US" sz="1200" dirty="0"/>
          </a:p>
        </p:txBody>
      </p:sp>
      <p:sp>
        <p:nvSpPr>
          <p:cNvPr id="17" name="Shape 15"/>
          <p:cNvSpPr/>
          <p:nvPr/>
        </p:nvSpPr>
        <p:spPr>
          <a:xfrm>
            <a:off x="2852928" y="3108960"/>
            <a:ext cx="2148840" cy="1188720"/>
          </a:xfrm>
          <a:prstGeom prst="roundRect">
            <a:avLst>
              <a:gd name="adj" fmla="val 6154"/>
            </a:avLst>
          </a:prstGeom>
          <a:solidFill>
            <a:schemeClr val="bg2"/>
          </a:solidFill>
          <a:ln w="6350">
            <a:solidFill>
              <a:schemeClr val="bg2"/>
            </a:solidFill>
            <a:prstDash val="solid"/>
          </a:ln>
        </p:spPr>
      </p:sp>
      <p:sp>
        <p:nvSpPr>
          <p:cNvPr id="18" name="Text 16"/>
          <p:cNvSpPr txBox="1"/>
          <p:nvPr/>
        </p:nvSpPr>
        <p:spPr>
          <a:xfrm>
            <a:off x="3017520" y="324612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0</a:t>
            </a:r>
            <a:endParaRPr lang="en-US" sz="3000" dirty="0"/>
          </a:p>
        </p:txBody>
      </p:sp>
      <p:sp>
        <p:nvSpPr>
          <p:cNvPr id="19" name="Text 17"/>
          <p:cNvSpPr txBox="1"/>
          <p:nvPr/>
        </p:nvSpPr>
        <p:spPr>
          <a:xfrm>
            <a:off x="3017520" y="379476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ineligible refunds recommended</a:t>
            </a:r>
            <a:endParaRPr lang="en-US" sz="1200" dirty="0"/>
          </a:p>
        </p:txBody>
      </p:sp>
      <p:sp>
        <p:nvSpPr>
          <p:cNvPr id="20" name="Shape 18"/>
          <p:cNvSpPr/>
          <p:nvPr/>
        </p:nvSpPr>
        <p:spPr>
          <a:xfrm>
            <a:off x="5157216" y="3108960"/>
            <a:ext cx="2148840" cy="1188720"/>
          </a:xfrm>
          <a:prstGeom prst="roundRect">
            <a:avLst>
              <a:gd name="adj" fmla="val 6154"/>
            </a:avLst>
          </a:prstGeom>
          <a:solidFill>
            <a:schemeClr val="bg2"/>
          </a:solidFill>
          <a:ln w="6350">
            <a:solidFill>
              <a:schemeClr val="bg2"/>
            </a:solidFill>
            <a:prstDash val="solid"/>
          </a:ln>
        </p:spPr>
      </p:sp>
      <p:sp>
        <p:nvSpPr>
          <p:cNvPr id="21" name="Text 19"/>
          <p:cNvSpPr txBox="1"/>
          <p:nvPr/>
        </p:nvSpPr>
        <p:spPr>
          <a:xfrm>
            <a:off x="5321808" y="3246120"/>
            <a:ext cx="1828800" cy="502920"/>
          </a:xfrm>
          <a:prstGeom prst="rect">
            <a:avLst/>
          </a:prstGeom>
          <a:noFill/>
          <a:ln/>
        </p:spPr>
        <p:txBody>
          <a:bodyPr wrap="square" lIns="0" tIns="0" rIns="0" bIns="0" rtlCol="0" anchor="t"/>
          <a:lstStyle/>
          <a:p>
            <a:pPr algn="l" indent="0" marL="0">
              <a:buNone/>
            </a:pPr>
            <a:r>
              <a:rPr lang="en-US" sz="3000" b="1" dirty="0">
                <a:solidFill>
                  <a:schemeClr val="accent1"/>
                </a:solidFill>
              </a:rPr>
              <a:t>54 h</a:t>
            </a:r>
            <a:endParaRPr lang="en-US" sz="3000" dirty="0"/>
          </a:p>
        </p:txBody>
      </p:sp>
      <p:sp>
        <p:nvSpPr>
          <p:cNvPr id="22" name="Text 20"/>
          <p:cNvSpPr txBox="1"/>
          <p:nvPr/>
        </p:nvSpPr>
        <p:spPr>
          <a:xfrm>
            <a:off x="5321808" y="3794760"/>
            <a:ext cx="1874520" cy="457200"/>
          </a:xfrm>
          <a:prstGeom prst="rect">
            <a:avLst/>
          </a:prstGeom>
          <a:noFill/>
          <a:ln/>
        </p:spPr>
        <p:txBody>
          <a:bodyPr wrap="square" lIns="0" tIns="0" rIns="0" bIns="0" rtlCol="0" anchor="t"/>
          <a:lstStyle/>
          <a:p>
            <a:pPr algn="l" indent="0" marL="0">
              <a:buNone/>
            </a:pPr>
            <a:r>
              <a:rPr lang="en-US" sz="1200" dirty="0">
                <a:solidFill>
                  <a:schemeClr val="tx2"/>
                </a:solidFill>
              </a:rPr>
              <a:t>synthetic detection delay</a:t>
            </a:r>
            <a:endParaRPr lang="en-US" sz="1200" dirty="0"/>
          </a:p>
        </p:txBody>
      </p:sp>
      <p:sp>
        <p:nvSpPr>
          <p:cNvPr id="23" name="Shape 21"/>
          <p:cNvSpPr/>
          <p:nvPr/>
        </p:nvSpPr>
        <p:spPr>
          <a:xfrm>
            <a:off x="548640" y="4434840"/>
            <a:ext cx="6757416" cy="1143000"/>
          </a:xfrm>
          <a:prstGeom prst="roundRect">
            <a:avLst>
              <a:gd name="adj" fmla="val 6400"/>
            </a:avLst>
          </a:prstGeom>
          <a:solidFill>
            <a:schemeClr val="bg1"/>
          </a:solidFill>
          <a:ln w="12700">
            <a:solidFill>
              <a:srgbClr val="CBD5E1"/>
            </a:solidFill>
            <a:prstDash val="solid"/>
          </a:ln>
        </p:spPr>
      </p:sp>
      <p:sp>
        <p:nvSpPr>
          <p:cNvPr id="24" name="Text 22"/>
          <p:cNvSpPr txBox="1"/>
          <p:nvPr/>
        </p:nvSpPr>
        <p:spPr>
          <a:xfrm>
            <a:off x="731520" y="4553712"/>
            <a:ext cx="6400800" cy="1005840"/>
          </a:xfrm>
          <a:prstGeom prst="rect">
            <a:avLst/>
          </a:prstGeom>
          <a:noFill/>
          <a:ln/>
        </p:spPr>
        <p:txBody>
          <a:bodyPr wrap="square" lIns="0" tIns="0" rIns="0" bIns="0" rtlCol="0" anchor="t"/>
          <a:lstStyle/>
          <a:p>
            <a:pPr algn="l" indent="0" marL="0">
              <a:spcAft>
                <a:spcPts val="600"/>
              </a:spcAft>
              <a:buNone/>
            </a:pPr>
            <a:r>
              <a:rPr lang="en-US" sz="1300" b="1" dirty="0">
                <a:solidFill>
                  <a:schemeClr val="tx1"/>
                </a:solidFill>
              </a:rPr>
              <a:t>ML classification experiment: </a:t>
            </a:r>
            <a:pPr algn="l" indent="0" marL="0">
              <a:spcAft>
                <a:spcPts val="600"/>
              </a:spcAft>
              <a:buNone/>
            </a:pPr>
            <a:r>
              <a:rPr lang="en-US" sz="1300" dirty="0">
                <a:solidFill>
                  <a:schemeClr val="tx1"/>
                </a:solidFill>
              </a:rPr>
              <a:t>MiniLM + Logistic Regression macro-F1 0.45 vs TF-IDF baseline 0.40, on 183 held-out reviews labelled by an LLM (not yet human-verified).</a:t>
            </a:r>
            <a:endParaRPr lang="en-US" sz="1300" dirty="0"/>
          </a:p>
          <a:p>
            <a:pPr algn="l" indent="0" marL="0">
              <a:spcAft>
                <a:spcPts val="600"/>
              </a:spcAft>
              <a:buNone/>
            </a:pPr>
            <a:r>
              <a:rPr lang="en-US" sz="1300" b="1" dirty="0">
                <a:solidFill>
                  <a:schemeClr val="tx1"/>
                </a:solidFill>
              </a:rPr>
              <a:t>Engineering tests: </a:t>
            </a:r>
            <a:pPr algn="l" indent="0" marL="0">
              <a:spcAft>
                <a:spcPts val="600"/>
              </a:spcAft>
              <a:buNone/>
            </a:pPr>
            <a:r>
              <a:rPr lang="en-US" sz="1300" dirty="0">
                <a:solidFill>
                  <a:schemeClr val="tx1"/>
                </a:solidFill>
              </a:rPr>
              <a:t>34 Python and 23 Node.js tests passed in earlier runs.</a:t>
            </a:r>
            <a:endParaRPr lang="en-US" sz="1300" dirty="0"/>
          </a:p>
        </p:txBody>
      </p:sp>
      <p:sp>
        <p:nvSpPr>
          <p:cNvPr id="25" name="Shape 23"/>
          <p:cNvSpPr/>
          <p:nvPr/>
        </p:nvSpPr>
        <p:spPr>
          <a:xfrm>
            <a:off x="7589520" y="1508760"/>
            <a:ext cx="4050792" cy="2011680"/>
          </a:xfrm>
          <a:prstGeom prst="roundRect">
            <a:avLst>
              <a:gd name="adj" fmla="val 3636"/>
            </a:avLst>
          </a:prstGeom>
          <a:solidFill>
            <a:schemeClr val="bg1"/>
          </a:solidFill>
          <a:ln w="15875">
            <a:solidFill>
              <a:srgbClr val="0D9488"/>
            </a:solidFill>
            <a:prstDash val="solid"/>
          </a:ln>
        </p:spPr>
      </p:sp>
      <p:sp>
        <p:nvSpPr>
          <p:cNvPr id="26" name="Text 24"/>
          <p:cNvSpPr txBox="1"/>
          <p:nvPr/>
        </p:nvSpPr>
        <p:spPr>
          <a:xfrm>
            <a:off x="7772400" y="1618488"/>
            <a:ext cx="2743200" cy="228600"/>
          </a:xfrm>
          <a:prstGeom prst="rect">
            <a:avLst/>
          </a:prstGeom>
          <a:noFill/>
          <a:ln/>
        </p:spPr>
        <p:txBody>
          <a:bodyPr wrap="square" lIns="0" tIns="0" rIns="0" bIns="0" rtlCol="0" anchor="t"/>
          <a:lstStyle/>
          <a:p>
            <a:pPr algn="l" indent="0" marL="0">
              <a:buNone/>
            </a:pPr>
            <a:r>
              <a:rPr lang="en-US" sz="1100" b="1" spc="100" kern="0" dirty="0">
                <a:solidFill>
                  <a:schemeClr val="accent1"/>
                </a:solidFill>
              </a:rPr>
              <a:t>BUSINESS VALUE</a:t>
            </a:r>
            <a:endParaRPr lang="en-US" sz="1100" dirty="0"/>
          </a:p>
        </p:txBody>
      </p:sp>
      <p:sp>
        <p:nvSpPr>
          <p:cNvPr id="27" name="Text 25"/>
          <p:cNvSpPr txBox="1"/>
          <p:nvPr/>
        </p:nvSpPr>
        <p:spPr>
          <a:xfrm>
            <a:off x="7772400" y="1920240"/>
            <a:ext cx="3749040" cy="150876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1"/>
                </a:solidFill>
              </a:rPr>
              <a:t>Related complaints become one incident</a:t>
            </a:r>
            <a:endParaRPr lang="en-US" sz="1400" dirty="0"/>
          </a:p>
          <a:p>
            <a:pPr marL="152400" indent="-152400">
              <a:spcAft>
                <a:spcPts val="600"/>
              </a:spcAft>
              <a:buSzPct val="100000"/>
              <a:buChar char="•"/>
            </a:pPr>
            <a:r>
              <a:rPr lang="en-US" sz="1400" dirty="0">
                <a:solidFill>
                  <a:schemeClr val="tx1"/>
                </a:solidFill>
              </a:rPr>
              <a:t>Root cause backed by evidence tests</a:t>
            </a:r>
            <a:endParaRPr lang="en-US" sz="1400" dirty="0"/>
          </a:p>
          <a:p>
            <a:pPr marL="152400" indent="-152400">
              <a:spcAft>
                <a:spcPts val="600"/>
              </a:spcAft>
              <a:buSzPct val="100000"/>
              <a:buChar char="•"/>
            </a:pPr>
            <a:r>
              <a:rPr lang="en-US" sz="1400" dirty="0">
                <a:solidFill>
                  <a:schemeClr val="tx1"/>
                </a:solidFill>
              </a:rPr>
              <a:t>Recovery gated by rules and human approval</a:t>
            </a:r>
            <a:endParaRPr lang="en-US" sz="1400" dirty="0"/>
          </a:p>
          <a:p>
            <a:pPr marL="152400" indent="-152400">
              <a:spcAft>
                <a:spcPts val="600"/>
              </a:spcAft>
              <a:buSzPct val="100000"/>
              <a:buChar char="•"/>
            </a:pPr>
            <a:r>
              <a:rPr lang="en-US" sz="1400" dirty="0">
                <a:solidFill>
                  <a:schemeClr val="tx1"/>
                </a:solidFill>
              </a:rPr>
              <a:t>Outcomes verified with KPIs, not assumed</a:t>
            </a:r>
            <a:endParaRPr lang="en-US" sz="1400" dirty="0"/>
          </a:p>
        </p:txBody>
      </p:sp>
      <p:sp>
        <p:nvSpPr>
          <p:cNvPr id="28" name="Shape 26"/>
          <p:cNvSpPr/>
          <p:nvPr/>
        </p:nvSpPr>
        <p:spPr>
          <a:xfrm>
            <a:off x="7589520" y="3657600"/>
            <a:ext cx="4050792" cy="1920240"/>
          </a:xfrm>
          <a:prstGeom prst="roundRect">
            <a:avLst>
              <a:gd name="adj" fmla="val 3810"/>
            </a:avLst>
          </a:prstGeom>
          <a:solidFill>
            <a:schemeClr val="bg1"/>
          </a:solidFill>
          <a:ln w="15875">
            <a:solidFill>
              <a:srgbClr val="D97706"/>
            </a:solidFill>
            <a:prstDash val="solid"/>
          </a:ln>
        </p:spPr>
      </p:sp>
      <p:sp>
        <p:nvSpPr>
          <p:cNvPr id="29" name="Text 27"/>
          <p:cNvSpPr txBox="1"/>
          <p:nvPr/>
        </p:nvSpPr>
        <p:spPr>
          <a:xfrm>
            <a:off x="7772400" y="3767328"/>
            <a:ext cx="2743200" cy="228600"/>
          </a:xfrm>
          <a:prstGeom prst="rect">
            <a:avLst/>
          </a:prstGeom>
          <a:noFill/>
          <a:ln/>
        </p:spPr>
        <p:txBody>
          <a:bodyPr wrap="square" lIns="0" tIns="0" rIns="0" bIns="0" rtlCol="0" anchor="t"/>
          <a:lstStyle/>
          <a:p>
            <a:pPr algn="l" indent="0" marL="0">
              <a:buNone/>
            </a:pPr>
            <a:r>
              <a:rPr lang="en-US" sz="1100" b="1" spc="100" kern="0" dirty="0">
                <a:solidFill>
                  <a:schemeClr val="accent4"/>
                </a:solidFill>
              </a:rPr>
              <a:t>LIMITS AND NEXT STEPS</a:t>
            </a:r>
            <a:endParaRPr lang="en-US" sz="1100" dirty="0"/>
          </a:p>
        </p:txBody>
      </p:sp>
      <p:sp>
        <p:nvSpPr>
          <p:cNvPr id="30" name="Text 28"/>
          <p:cNvSpPr txBox="1"/>
          <p:nvPr/>
        </p:nvSpPr>
        <p:spPr>
          <a:xfrm>
            <a:off x="7772400" y="4069080"/>
            <a:ext cx="3749040" cy="146304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Prototype and synthetic results only</a:t>
            </a:r>
            <a:endParaRPr lang="en-US" sz="1300" dirty="0"/>
          </a:p>
          <a:p>
            <a:pPr marL="152400" indent="-152400">
              <a:spcAft>
                <a:spcPts val="500"/>
              </a:spcAft>
              <a:buSzPct val="100000"/>
              <a:buChar char="•"/>
            </a:pPr>
            <a:r>
              <a:rPr lang="en-US" sz="1300" dirty="0">
                <a:solidFill>
                  <a:schemeClr val="tx1"/>
                </a:solidFill>
              </a:rPr>
              <a:t>TiDB validation and full frontend integration pending</a:t>
            </a:r>
            <a:endParaRPr lang="en-US" sz="1300" dirty="0"/>
          </a:p>
          <a:p>
            <a:pPr marL="152400" indent="-152400">
              <a:spcAft>
                <a:spcPts val="500"/>
              </a:spcAft>
              <a:buSzPct val="100000"/>
              <a:buChar char="•"/>
            </a:pPr>
            <a:r>
              <a:rPr lang="en-US" sz="1300" dirty="0">
                <a:solidFill>
                  <a:schemeClr val="tx1"/>
                </a:solidFill>
              </a:rPr>
              <a:t>LLM choice provisional; recovery actions simulated</a:t>
            </a:r>
            <a:endParaRPr lang="en-US" sz="1300" dirty="0"/>
          </a:p>
          <a:p>
            <a:pPr marL="152400" indent="-152400">
              <a:spcAft>
                <a:spcPts val="500"/>
              </a:spcAft>
              <a:buSzPct val="100000"/>
              <a:buChar char="•"/>
            </a:pPr>
            <a:r>
              <a:rPr lang="en-US" sz="1300" dirty="0">
                <a:solidFill>
                  <a:schemeClr val="tx1"/>
                </a:solidFill>
              </a:rPr>
              <a:t>Next: real-data pilot with human-verified labels</a:t>
            </a:r>
            <a:endParaRPr lang="en-US" sz="1300" dirty="0"/>
          </a:p>
        </p:txBody>
      </p:sp>
      <p:sp>
        <p:nvSpPr>
          <p:cNvPr id="31" name="Shape 29"/>
          <p:cNvSpPr/>
          <p:nvPr/>
        </p:nvSpPr>
        <p:spPr>
          <a:xfrm>
            <a:off x="548640" y="5760720"/>
            <a:ext cx="11091672" cy="548640"/>
          </a:xfrm>
          <a:prstGeom prst="roundRect">
            <a:avLst>
              <a:gd name="adj" fmla="val 13333"/>
            </a:avLst>
          </a:prstGeom>
          <a:solidFill>
            <a:schemeClr val="tx1"/>
          </a:solidFill>
          <a:ln w="6350">
            <a:solidFill>
              <a:schemeClr val="tx1"/>
            </a:solidFill>
            <a:prstDash val="solid"/>
          </a:ln>
        </p:spPr>
      </p:sp>
      <p:sp>
        <p:nvSpPr>
          <p:cNvPr id="32" name="Text 30"/>
          <p:cNvSpPr txBox="1"/>
          <p:nvPr/>
        </p:nvSpPr>
        <p:spPr>
          <a:xfrm>
            <a:off x="731520" y="5760720"/>
            <a:ext cx="10698480" cy="548640"/>
          </a:xfrm>
          <a:prstGeom prst="rect">
            <a:avLst/>
          </a:prstGeom>
          <a:noFill/>
          <a:ln/>
        </p:spPr>
        <p:txBody>
          <a:bodyPr wrap="square" lIns="0" tIns="0" rIns="0" bIns="0" rtlCol="0" anchor="ctr"/>
          <a:lstStyle/>
          <a:p>
            <a:pPr algn="l" indent="0" marL="0">
              <a:buNone/>
            </a:pPr>
            <a:r>
              <a:rPr lang="en-US" sz="1700" b="1" dirty="0">
                <a:solidFill>
                  <a:schemeClr val="bg1"/>
                </a:solidFill>
              </a:rPr>
              <a:t>RecoverIQ: from customer signals to verified recovery, measured by KPIs.</a:t>
            </a:r>
            <a:endParaRPr lang="en-US" sz="17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RecoverIQ Light">
  <a:themeElements>
    <a:clrScheme name="RecoverIQ Light">
      <a:dk1>
        <a:srgbClr val="0F172A"/>
      </a:dk1>
      <a:lt1>
        <a:srgbClr val="FFFFFF"/>
      </a:lt1>
      <a:dk2>
        <a:srgbClr val="475569"/>
      </a:dk2>
      <a:lt2>
        <a:srgbClr val="F1F5F9"/>
      </a:lt2>
      <a:accent1>
        <a:srgbClr val="0D9488"/>
      </a:accent1>
      <a:accent2>
        <a:srgbClr val="7C6BD6"/>
      </a:accent2>
      <a:accent3>
        <a:srgbClr val="3B6FD8"/>
      </a:accent3>
      <a:accent4>
        <a:srgbClr val="D97706"/>
      </a:accent4>
      <a:accent5>
        <a:srgbClr val="C2410C"/>
      </a:accent5>
      <a:accent6>
        <a:srgbClr val="16A34A"/>
      </a:accent6>
      <a:hlink>
        <a:srgbClr val="3B6FD8"/>
      </a:hlink>
      <a:folHlink>
        <a:srgbClr val="7C6BD6"/>
      </a:folHlink>
    </a:clrScheme>
    <a:fontScheme name="RecoverIQ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RecoverIQ - From Customer Signals to Verified Recovery</dc:title>
  <dc:subject>PptxGenJS Presentation</dc:subject>
  <dc:creator>RecoverIQ</dc:creator>
  <cp:lastModifiedBy>RecoverIQ</cp:lastModifiedBy>
  <cp:revision>1</cp:revision>
  <dcterms:created xsi:type="dcterms:W3CDTF">2026-10-31T10:07:54Z</dcterms:created>
  <dcterms:modified xsi:type="dcterms:W3CDTF">2026-10-31T10:07:54Z</dcterms:modified>
</cp:coreProperties>
</file>